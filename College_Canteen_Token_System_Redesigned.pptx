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402" y="3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A2838984-5F0C-4327-B396-95811EEFD48A}" type="datetimeFigureOut">
              <a:rPr lang="en-US" smtClean="0"/>
              <a:t>6/20/2026</a:t>
            </a:fld>
            <a:endParaRPr lang="en-US"/>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1D3FE796-019E-4CAF-B085-1D812936510C}" type="slidenum">
              <a:rPr lang="en-US" smtClean="0"/>
              <a:t>‹#›</a:t>
            </a:fld>
            <a:endParaRPr lang="en-US"/>
          </a:p>
        </p:txBody>
      </p:sp>
    </p:spTree>
    <p:extLst>
      <p:ext uri="{BB962C8B-B14F-4D97-AF65-F5344CB8AC3E}">
        <p14:creationId xmlns:p14="http://schemas.microsoft.com/office/powerpoint/2010/main" val="400445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2.png"/><Relationship Id="rId7" Type="http://schemas.openxmlformats.org/officeDocument/2006/relationships/image" Target="../media/image5.png"/><Relationship Id="rId12"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24.png"/><Relationship Id="rId5" Type="http://schemas.openxmlformats.org/officeDocument/2006/relationships/image" Target="../media/image3.png"/><Relationship Id="rId10" Type="http://schemas.openxmlformats.org/officeDocument/2006/relationships/image" Target="../media/image21.png"/><Relationship Id="rId4" Type="http://schemas.openxmlformats.org/officeDocument/2006/relationships/image" Target="../media/image23.png"/><Relationship Id="rId9"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7.png"/><Relationship Id="rId7"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5.png"/><Relationship Id="rId10" Type="http://schemas.openxmlformats.org/officeDocument/2006/relationships/image" Target="../media/image25.png"/><Relationship Id="rId4" Type="http://schemas.openxmlformats.org/officeDocument/2006/relationships/image" Target="../media/image13.png"/><Relationship Id="rId9"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36"/>
        </a:solidFill>
        <a:effectLst/>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E2823D">
              <a:alpha val="12000"/>
            </a:srgbClr>
          </a:solidFill>
          <a:ln/>
        </p:spPr>
      </p:sp>
      <p:sp>
        <p:nvSpPr>
          <p:cNvPr id="3" name="Shape 1"/>
          <p:cNvSpPr/>
          <p:nvPr/>
        </p:nvSpPr>
        <p:spPr>
          <a:xfrm>
            <a:off x="10332720" y="3657600"/>
            <a:ext cx="3657600" cy="3657600"/>
          </a:xfrm>
          <a:prstGeom prst="ellipse">
            <a:avLst/>
          </a:prstGeom>
          <a:solidFill>
            <a:srgbClr val="F2B441">
              <a:alpha val="12000"/>
            </a:srgbClr>
          </a:solidFill>
          <a:ln/>
        </p:spPr>
      </p:sp>
      <p:sp>
        <p:nvSpPr>
          <p:cNvPr id="4" name="Shape 2"/>
          <p:cNvSpPr/>
          <p:nvPr/>
        </p:nvSpPr>
        <p:spPr>
          <a:xfrm>
            <a:off x="9692640" y="1737360"/>
            <a:ext cx="1188720" cy="1188720"/>
          </a:xfrm>
          <a:prstGeom prst="ellipse">
            <a:avLst/>
          </a:prstGeom>
          <a:solidFill>
            <a:srgbClr val="FFFFFF">
              <a:alpha val="8000"/>
            </a:srgbClr>
          </a:solidFill>
          <a:ln/>
        </p:spPr>
      </p:sp>
      <p:sp>
        <p:nvSpPr>
          <p:cNvPr id="5" name="Shape 3"/>
          <p:cNvSpPr/>
          <p:nvPr/>
        </p:nvSpPr>
        <p:spPr>
          <a:xfrm>
            <a:off x="822960" y="731520"/>
            <a:ext cx="640080" cy="640080"/>
          </a:xfrm>
          <a:prstGeom prst="ellipse">
            <a:avLst/>
          </a:prstGeom>
          <a:solidFill>
            <a:srgbClr val="E2823D"/>
          </a:solidFill>
          <a:ln/>
        </p:spPr>
      </p:sp>
      <p:pic>
        <p:nvPicPr>
          <p:cNvPr id="6" name="Image 0" descr="/home/claude/canteen/icons/ticket.png"/>
          <p:cNvPicPr>
            <a:picLocks noChangeAspect="1"/>
          </p:cNvPicPr>
          <p:nvPr/>
        </p:nvPicPr>
        <p:blipFill>
          <a:blip r:embed="rId3"/>
          <a:stretch>
            <a:fillRect/>
          </a:stretch>
        </p:blipFill>
        <p:spPr>
          <a:xfrm>
            <a:off x="925373" y="833933"/>
            <a:ext cx="435254" cy="435254"/>
          </a:xfrm>
          <a:prstGeom prst="rect">
            <a:avLst/>
          </a:prstGeom>
        </p:spPr>
      </p:pic>
      <p:sp>
        <p:nvSpPr>
          <p:cNvPr id="7" name="Text 4"/>
          <p:cNvSpPr/>
          <p:nvPr/>
        </p:nvSpPr>
        <p:spPr>
          <a:xfrm>
            <a:off x="822960" y="1965960"/>
            <a:ext cx="7315200" cy="320040"/>
          </a:xfrm>
          <a:prstGeom prst="rect">
            <a:avLst/>
          </a:prstGeom>
          <a:noFill/>
          <a:ln/>
        </p:spPr>
        <p:txBody>
          <a:bodyPr wrap="square" lIns="0" tIns="0" rIns="0" bIns="0" rtlCol="0" anchor="ctr"/>
          <a:lstStyle/>
          <a:p>
            <a:pPr marL="0" indent="0">
              <a:buNone/>
            </a:pPr>
            <a:endParaRPr lang="en-US" sz="1400" dirty="0"/>
          </a:p>
        </p:txBody>
      </p:sp>
      <p:sp>
        <p:nvSpPr>
          <p:cNvPr id="8" name="Text 5"/>
          <p:cNvSpPr/>
          <p:nvPr/>
        </p:nvSpPr>
        <p:spPr>
          <a:xfrm>
            <a:off x="777240" y="2331720"/>
            <a:ext cx="8686800" cy="1737360"/>
          </a:xfrm>
          <a:prstGeom prst="rect">
            <a:avLst/>
          </a:prstGeom>
          <a:noFill/>
          <a:ln/>
        </p:spPr>
        <p:txBody>
          <a:bodyPr wrap="square" lIns="0" tIns="0" rIns="0" bIns="0" rtlCol="0" anchor="ctr"/>
          <a:lstStyle/>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College Canteen</a:t>
            </a:r>
            <a:endParaRPr lang="en-US" sz="4600" dirty="0"/>
          </a:p>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Token System</a:t>
            </a:r>
            <a:endParaRPr lang="en-US" sz="4600" dirty="0"/>
          </a:p>
        </p:txBody>
      </p:sp>
      <p:sp>
        <p:nvSpPr>
          <p:cNvPr id="9" name="Text 6"/>
          <p:cNvSpPr/>
          <p:nvPr/>
        </p:nvSpPr>
        <p:spPr>
          <a:xfrm>
            <a:off x="822960" y="4114800"/>
            <a:ext cx="7680960" cy="548640"/>
          </a:xfrm>
          <a:prstGeom prst="rect">
            <a:avLst/>
          </a:prstGeom>
          <a:noFill/>
          <a:ln/>
        </p:spPr>
        <p:txBody>
          <a:bodyPr wrap="square" lIns="0" tIns="0" rIns="0" bIns="0" rtlCol="0" anchor="ctr"/>
          <a:lstStyle/>
          <a:p>
            <a:pPr marL="0" indent="0">
              <a:buNone/>
            </a:pPr>
            <a:r>
              <a:rPr lang="en-US" sz="1400" i="1" dirty="0">
                <a:solidFill>
                  <a:srgbClr val="C9D6DC"/>
                </a:solidFill>
                <a:latin typeface="Calibri" pitchFamily="34" charset="0"/>
                <a:ea typeface="Calibri" pitchFamily="34" charset="-122"/>
                <a:cs typeface="Calibri" pitchFamily="34" charset="-120"/>
              </a:rPr>
              <a:t>A smart, digital token-based platform for faster and more organized food ordering in college canteens.</a:t>
            </a:r>
            <a:endParaRPr lang="en-US" sz="1400" dirty="0"/>
          </a:p>
        </p:txBody>
      </p:sp>
      <p:sp>
        <p:nvSpPr>
          <p:cNvPr id="10" name="Shape 7"/>
          <p:cNvSpPr/>
          <p:nvPr/>
        </p:nvSpPr>
        <p:spPr>
          <a:xfrm>
            <a:off x="822960" y="4983480"/>
            <a:ext cx="10515600" cy="1463040"/>
          </a:xfrm>
          <a:prstGeom prst="roundRect">
            <a:avLst>
              <a:gd name="adj" fmla="val 5000"/>
            </a:avLst>
          </a:prstGeom>
          <a:solidFill>
            <a:srgbClr val="FFFFFF">
              <a:alpha val="8000"/>
            </a:srgbClr>
          </a:solidFill>
          <a:ln w="12700">
            <a:solidFill>
              <a:srgbClr val="FFFFFF">
                <a:alpha val="25000"/>
              </a:srgbClr>
            </a:solidFill>
            <a:prstDash val="solid"/>
          </a:ln>
        </p:spPr>
      </p:sp>
      <p:sp>
        <p:nvSpPr>
          <p:cNvPr id="11" name="Text 8"/>
          <p:cNvSpPr/>
          <p:nvPr/>
        </p:nvSpPr>
        <p:spPr>
          <a:xfrm>
            <a:off x="1143000" y="5166360"/>
            <a:ext cx="4937760" cy="1143000"/>
          </a:xfrm>
          <a:prstGeom prst="rect">
            <a:avLst/>
          </a:prstGeom>
          <a:noFill/>
          <a:ln/>
        </p:spPr>
        <p:txBody>
          <a:bodyPr wrap="square" lIns="0" tIns="0" rIns="0" bIns="0" rtlCol="0" anchor="t"/>
          <a:lstStyle/>
          <a:p>
            <a:pPr marL="0" indent="0">
              <a:lnSpc>
                <a:spcPct val="125000"/>
              </a:lnSpc>
              <a:buNone/>
            </a:pPr>
            <a:r>
              <a:rPr lang="en-US" sz="1100" b="1" kern="0" spc="120" dirty="0">
                <a:solidFill>
                  <a:srgbClr val="F2B441"/>
                </a:solidFill>
                <a:latin typeface="Calibri" pitchFamily="34" charset="0"/>
                <a:ea typeface="Calibri" pitchFamily="34" charset="-122"/>
                <a:cs typeface="Calibri" pitchFamily="34" charset="-120"/>
              </a:rPr>
              <a:t>PROJECT TEAM</a:t>
            </a:r>
            <a:endParaRPr lang="en-US" sz="1100" dirty="0"/>
          </a:p>
          <a:p>
            <a:pPr marL="0" indent="0">
              <a:lnSpc>
                <a:spcPct val="125000"/>
              </a:lnSpc>
              <a:buNone/>
            </a:pPr>
            <a:r>
              <a:rPr lang="en-US" sz="1300" dirty="0">
                <a:solidFill>
                  <a:srgbClr val="FFFFFF"/>
                </a:solidFill>
                <a:latin typeface="Calibri" pitchFamily="34" charset="0"/>
                <a:ea typeface="Calibri" pitchFamily="34" charset="-122"/>
                <a:cs typeface="Calibri" pitchFamily="34" charset="-120"/>
              </a:rPr>
              <a:t>Dikshita Siripireddy   </a:t>
            </a:r>
            <a:r>
              <a:rPr lang="en-US" sz="1200" dirty="0">
                <a:solidFill>
                  <a:srgbClr val="9FB3BB"/>
                </a:solidFill>
                <a:latin typeface="Calibri" pitchFamily="34" charset="0"/>
                <a:ea typeface="Calibri" pitchFamily="34" charset="-122"/>
                <a:cs typeface="Calibri" pitchFamily="34" charset="-120"/>
              </a:rPr>
              <a:t>2520090007</a:t>
            </a:r>
            <a:endParaRPr lang="en-US" sz="1100" dirty="0"/>
          </a:p>
          <a:p>
            <a:pPr marL="0" indent="0">
              <a:lnSpc>
                <a:spcPct val="125000"/>
              </a:lnSpc>
              <a:buNone/>
            </a:pPr>
            <a:r>
              <a:rPr lang="en-US" sz="1300" dirty="0">
                <a:solidFill>
                  <a:srgbClr val="FFFFFF"/>
                </a:solidFill>
                <a:latin typeface="Calibri" pitchFamily="34" charset="0"/>
                <a:ea typeface="Calibri" pitchFamily="34" charset="-122"/>
                <a:cs typeface="Calibri" pitchFamily="34" charset="-120"/>
              </a:rPr>
              <a:t>Harshitha Bollineni   </a:t>
            </a:r>
            <a:r>
              <a:rPr lang="en-US" sz="1200" dirty="0">
                <a:solidFill>
                  <a:srgbClr val="9FB3BB"/>
                </a:solidFill>
                <a:latin typeface="Calibri" pitchFamily="34" charset="0"/>
                <a:ea typeface="Calibri" pitchFamily="34" charset="-122"/>
                <a:cs typeface="Calibri" pitchFamily="34" charset="-120"/>
              </a:rPr>
              <a:t>2520080007</a:t>
            </a:r>
            <a:endParaRPr lang="en-US" sz="1100" dirty="0"/>
          </a:p>
        </p:txBody>
      </p:sp>
      <p:sp>
        <p:nvSpPr>
          <p:cNvPr id="12" name="Text 9"/>
          <p:cNvSpPr/>
          <p:nvPr/>
        </p:nvSpPr>
        <p:spPr>
          <a:xfrm>
            <a:off x="6400800" y="5166360"/>
            <a:ext cx="4754880" cy="1143000"/>
          </a:xfrm>
          <a:prstGeom prst="rect">
            <a:avLst/>
          </a:prstGeom>
          <a:noFill/>
          <a:ln/>
        </p:spPr>
        <p:txBody>
          <a:bodyPr wrap="square" lIns="0" tIns="0" rIns="0" bIns="0" rtlCol="0" anchor="t"/>
          <a:lstStyle/>
          <a:p>
            <a:pPr marL="0" indent="0">
              <a:lnSpc>
                <a:spcPct val="125000"/>
              </a:lnSpc>
              <a:buNone/>
            </a:pPr>
            <a:r>
              <a:rPr lang="en-US" sz="1100" b="1" kern="0" spc="120" dirty="0">
                <a:solidFill>
                  <a:srgbClr val="F2B441"/>
                </a:solidFill>
                <a:latin typeface="Calibri" pitchFamily="34" charset="0"/>
                <a:ea typeface="Calibri" pitchFamily="34" charset="-122"/>
                <a:cs typeface="Calibri" pitchFamily="34" charset="-120"/>
              </a:rPr>
              <a:t>UNDER THE GUIDANCE OF</a:t>
            </a:r>
            <a:endParaRPr lang="en-US" sz="1100" dirty="0"/>
          </a:p>
          <a:p>
            <a:pPr marL="0" indent="0">
              <a:lnSpc>
                <a:spcPct val="125000"/>
              </a:lnSpc>
              <a:buNone/>
            </a:pPr>
            <a:r>
              <a:rPr lang="en-US" sz="1300" b="1" dirty="0">
                <a:solidFill>
                  <a:srgbClr val="FFFFFF"/>
                </a:solidFill>
                <a:latin typeface="Calibri" pitchFamily="34" charset="0"/>
                <a:ea typeface="Calibri" pitchFamily="34" charset="-122"/>
                <a:cs typeface="Calibri" pitchFamily="34" charset="-120"/>
              </a:rPr>
              <a:t>Dr. Ashok Yemineni</a:t>
            </a:r>
            <a:endParaRPr lang="en-US" sz="1100" dirty="0"/>
          </a:p>
          <a:p>
            <a:pPr marL="0" indent="0">
              <a:lnSpc>
                <a:spcPct val="125000"/>
              </a:lnSpc>
              <a:buNone/>
            </a:pPr>
            <a:r>
              <a:rPr lang="en-US" sz="1200" dirty="0">
                <a:solidFill>
                  <a:srgbClr val="9FB3BB"/>
                </a:solidFill>
                <a:latin typeface="Calibri" pitchFamily="34" charset="0"/>
                <a:ea typeface="Calibri" pitchFamily="34" charset="-122"/>
                <a:cs typeface="Calibri" pitchFamily="34" charset="-120"/>
              </a:rPr>
              <a:t>Associate Professor</a:t>
            </a:r>
            <a:endParaRPr lang="en-US" sz="1100" dirty="0"/>
          </a:p>
          <a:p>
            <a:pPr marL="0" indent="0">
              <a:lnSpc>
                <a:spcPct val="125000"/>
              </a:lnSpc>
              <a:buNone/>
            </a:pPr>
            <a:r>
              <a:rPr lang="en-US" sz="1200" dirty="0">
                <a:solidFill>
                  <a:srgbClr val="9FB3BB"/>
                </a:solidFill>
                <a:latin typeface="Calibri" pitchFamily="34" charset="0"/>
                <a:ea typeface="Calibri" pitchFamily="34" charset="-122"/>
                <a:cs typeface="Calibri" pitchFamily="34" charset="-120"/>
              </a:rPr>
              <a:t>Dept. of Computer Science &amp; Engineering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lightbulb.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502920"/>
            <a:ext cx="10058400" cy="54864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Abstract</a:t>
            </a:r>
            <a:endParaRPr lang="en-US" sz="3000" dirty="0"/>
          </a:p>
        </p:txBody>
      </p:sp>
      <p:sp>
        <p:nvSpPr>
          <p:cNvPr id="5" name="Text 2"/>
          <p:cNvSpPr/>
          <p:nvPr/>
        </p:nvSpPr>
        <p:spPr>
          <a:xfrm>
            <a:off x="548640" y="1463040"/>
            <a:ext cx="6858000" cy="3566160"/>
          </a:xfrm>
          <a:prstGeom prst="rect">
            <a:avLst/>
          </a:prstGeom>
          <a:noFill/>
          <a:ln/>
        </p:spPr>
        <p:txBody>
          <a:bodyPr wrap="square" lIns="0" tIns="0" rIns="0" bIns="0" rtlCol="0" anchor="t"/>
          <a:lstStyle/>
          <a:p>
            <a:pPr marL="0" indent="0">
              <a:lnSpc>
                <a:spcPct val="130000"/>
              </a:lnSpc>
              <a:spcAft>
                <a:spcPts val="1600"/>
              </a:spcAft>
              <a:buNone/>
            </a:pPr>
            <a:r>
              <a:rPr lang="en-US" sz="1500" dirty="0">
                <a:solidFill>
                  <a:srgbClr val="20303A"/>
                </a:solidFill>
                <a:latin typeface="Calibri" pitchFamily="34" charset="0"/>
                <a:ea typeface="Calibri" pitchFamily="34" charset="-122"/>
                <a:cs typeface="Calibri" pitchFamily="34" charset="-120"/>
              </a:rPr>
              <a:t>The College Canteen Token System is a web-based application built to improve the efficiency and convenience of food ordering in college canteens, replacing manual processes that cause long queues, delays, and token mismanagement.</a:t>
            </a:r>
            <a:endParaRPr lang="en-US" sz="1500" dirty="0"/>
          </a:p>
          <a:p>
            <a:pPr marL="0" indent="0">
              <a:lnSpc>
                <a:spcPct val="130000"/>
              </a:lnSpc>
              <a:spcAft>
                <a:spcPts val="1600"/>
              </a:spcAft>
              <a:buNone/>
            </a:pPr>
            <a:r>
              <a:rPr lang="en-US" sz="1500" dirty="0">
                <a:solidFill>
                  <a:srgbClr val="20303A"/>
                </a:solidFill>
                <a:latin typeface="Calibri" pitchFamily="34" charset="0"/>
                <a:ea typeface="Calibri" pitchFamily="34" charset="-122"/>
                <a:cs typeface="Calibri" pitchFamily="34" charset="-120"/>
              </a:rPr>
              <a:t>Built with React.js and Node.js the platform lets students browse the menu, apply dietary filters, place orders online, and receive a unique digital token for organized food collection.</a:t>
            </a:r>
            <a:endParaRPr lang="en-US" sz="1500" dirty="0"/>
          </a:p>
          <a:p>
            <a:pPr marL="0" indent="0">
              <a:lnSpc>
                <a:spcPct val="130000"/>
              </a:lnSpc>
              <a:spcAft>
                <a:spcPts val="1600"/>
              </a:spcAft>
              <a:buNone/>
            </a:pPr>
            <a:r>
              <a:rPr lang="en-US" sz="1500" dirty="0">
                <a:solidFill>
                  <a:srgbClr val="20303A"/>
                </a:solidFill>
                <a:latin typeface="Calibri" pitchFamily="34" charset="0"/>
                <a:ea typeface="Calibri" pitchFamily="34" charset="-122"/>
                <a:cs typeface="Calibri" pitchFamily="34" charset="-120"/>
              </a:rPr>
              <a:t>Billing management, order history, notifications, QR-based token verification, and an admin dashboard further enhance usability — reducing waiting time, minimizing manual errors, and improving the overall canteen experience.</a:t>
            </a:r>
            <a:endParaRPr lang="en-US" sz="1500" dirty="0"/>
          </a:p>
        </p:txBody>
      </p:sp>
      <p:sp>
        <p:nvSpPr>
          <p:cNvPr id="6" name="Shape 3"/>
          <p:cNvSpPr/>
          <p:nvPr/>
        </p:nvSpPr>
        <p:spPr>
          <a:xfrm>
            <a:off x="548640" y="5257800"/>
            <a:ext cx="6858000" cy="777240"/>
          </a:xfrm>
          <a:prstGeom prst="roundRect">
            <a:avLst>
              <a:gd name="adj" fmla="val 9412"/>
            </a:avLst>
          </a:prstGeom>
          <a:solidFill>
            <a:srgbClr val="1B3A4B"/>
          </a:solidFill>
          <a:ln/>
        </p:spPr>
      </p:sp>
      <p:sp>
        <p:nvSpPr>
          <p:cNvPr id="7" name="Text 4"/>
          <p:cNvSpPr/>
          <p:nvPr/>
        </p:nvSpPr>
        <p:spPr>
          <a:xfrm>
            <a:off x="868680" y="5257800"/>
            <a:ext cx="6309360" cy="777240"/>
          </a:xfrm>
          <a:prstGeom prst="rect">
            <a:avLst/>
          </a:prstGeom>
          <a:noFill/>
          <a:ln/>
        </p:spPr>
        <p:txBody>
          <a:bodyPr wrap="square" lIns="0" tIns="0" rIns="0" bIns="0" rtlCol="0" anchor="ctr"/>
          <a:lstStyle/>
          <a:p>
            <a:pPr marL="0" indent="0">
              <a:lnSpc>
                <a:spcPct val="120000"/>
              </a:lnSpc>
              <a:buNone/>
            </a:pPr>
            <a:r>
              <a:rPr lang="en-US" sz="1300" b="1" dirty="0">
                <a:solidFill>
                  <a:srgbClr val="F2B441"/>
                </a:solidFill>
                <a:latin typeface="Calibri" pitchFamily="34" charset="0"/>
                <a:ea typeface="Calibri" pitchFamily="34" charset="-122"/>
                <a:cs typeface="Calibri" pitchFamily="34" charset="-120"/>
              </a:rPr>
              <a:t>Outcome: </a:t>
            </a:r>
            <a:r>
              <a:rPr lang="en-US" sz="1300" dirty="0">
                <a:solidFill>
                  <a:srgbClr val="FFFFFF"/>
                </a:solidFill>
                <a:latin typeface="Calibri" pitchFamily="34" charset="0"/>
                <a:ea typeface="Calibri" pitchFamily="34" charset="-122"/>
                <a:cs typeface="Calibri" pitchFamily="34" charset="-120"/>
              </a:rPr>
              <a:t>Faster, more organized, and technology-driven canteen management for students and staff alike.</a:t>
            </a:r>
            <a:endParaRPr lang="en-US" sz="1300" dirty="0"/>
          </a:p>
        </p:txBody>
      </p:sp>
      <p:sp>
        <p:nvSpPr>
          <p:cNvPr id="8" name="Shape 5"/>
          <p:cNvSpPr/>
          <p:nvPr/>
        </p:nvSpPr>
        <p:spPr>
          <a:xfrm>
            <a:off x="7726680" y="1417320"/>
            <a:ext cx="3931920" cy="4617720"/>
          </a:xfrm>
          <a:prstGeom prst="roundRect">
            <a:avLst>
              <a:gd name="adj" fmla="val 1860"/>
            </a:avLst>
          </a:prstGeom>
          <a:solidFill>
            <a:srgbClr val="F5F7F8"/>
          </a:solidFill>
          <a:ln/>
          <a:effectLst>
            <a:outerShdw blurRad="88900" dist="25400" dir="5400000" algn="bl" rotWithShape="0">
              <a:srgbClr val="1B3A4B">
                <a:alpha val="14000"/>
              </a:srgbClr>
            </a:outerShdw>
          </a:effectLst>
        </p:spPr>
      </p:sp>
      <p:sp>
        <p:nvSpPr>
          <p:cNvPr id="9" name="Text 6"/>
          <p:cNvSpPr/>
          <p:nvPr/>
        </p:nvSpPr>
        <p:spPr>
          <a:xfrm>
            <a:off x="8001000" y="1645920"/>
            <a:ext cx="3474720" cy="320040"/>
          </a:xfrm>
          <a:prstGeom prst="rect">
            <a:avLst/>
          </a:prstGeom>
          <a:noFill/>
          <a:ln/>
        </p:spPr>
        <p:txBody>
          <a:bodyPr wrap="square" lIns="0" tIns="0" rIns="0" bIns="0" rtlCol="0" anchor="ctr"/>
          <a:lstStyle/>
          <a:p>
            <a:pPr marL="0" indent="0">
              <a:buNone/>
            </a:pPr>
            <a:r>
              <a:rPr lang="en-US" sz="1200" b="1" kern="0" spc="120" dirty="0">
                <a:solidFill>
                  <a:srgbClr val="1B3A4B"/>
                </a:solidFill>
                <a:latin typeface="Calibri" pitchFamily="34" charset="0"/>
                <a:ea typeface="Calibri" pitchFamily="34" charset="-122"/>
                <a:cs typeface="Calibri" pitchFamily="34" charset="-120"/>
              </a:rPr>
              <a:t>KEY CAPABILITIES</a:t>
            </a:r>
            <a:endParaRPr lang="en-US" sz="1200" dirty="0"/>
          </a:p>
        </p:txBody>
      </p:sp>
      <p:sp>
        <p:nvSpPr>
          <p:cNvPr id="10" name="Shape 7"/>
          <p:cNvSpPr/>
          <p:nvPr/>
        </p:nvSpPr>
        <p:spPr>
          <a:xfrm>
            <a:off x="8001000" y="2148840"/>
            <a:ext cx="420624" cy="420624"/>
          </a:xfrm>
          <a:prstGeom prst="ellipse">
            <a:avLst/>
          </a:prstGeom>
          <a:solidFill>
            <a:srgbClr val="E2823D"/>
          </a:solidFill>
          <a:ln/>
        </p:spPr>
      </p:sp>
      <p:pic>
        <p:nvPicPr>
          <p:cNvPr id="11" name="Image 1" descr="/home/claude/canteen/icons/filter.png"/>
          <p:cNvPicPr>
            <a:picLocks noChangeAspect="1"/>
          </p:cNvPicPr>
          <p:nvPr/>
        </p:nvPicPr>
        <p:blipFill>
          <a:blip r:embed="rId4"/>
          <a:stretch>
            <a:fillRect/>
          </a:stretch>
        </p:blipFill>
        <p:spPr>
          <a:xfrm>
            <a:off x="8068300" y="2216140"/>
            <a:ext cx="286024" cy="286024"/>
          </a:xfrm>
          <a:prstGeom prst="rect">
            <a:avLst/>
          </a:prstGeom>
        </p:spPr>
      </p:pic>
      <p:sp>
        <p:nvSpPr>
          <p:cNvPr id="12" name="Text 8"/>
          <p:cNvSpPr/>
          <p:nvPr/>
        </p:nvSpPr>
        <p:spPr>
          <a:xfrm>
            <a:off x="8595360" y="2130552"/>
            <a:ext cx="2926080" cy="457200"/>
          </a:xfrm>
          <a:prstGeom prst="rect">
            <a:avLst/>
          </a:prstGeom>
          <a:noFill/>
          <a:ln/>
        </p:spPr>
        <p:txBody>
          <a:bodyPr wrap="square" lIns="0" tIns="0" rIns="0" bIns="0" rtlCol="0" anchor="ctr"/>
          <a:lstStyle/>
          <a:p>
            <a:pPr marL="0" indent="0">
              <a:buNone/>
            </a:pPr>
            <a:r>
              <a:rPr lang="en-US" sz="1250" dirty="0">
                <a:solidFill>
                  <a:srgbClr val="20303A"/>
                </a:solidFill>
                <a:latin typeface="Calibri" pitchFamily="34" charset="0"/>
                <a:ea typeface="Calibri" pitchFamily="34" charset="-122"/>
                <a:cs typeface="Calibri" pitchFamily="34" charset="-120"/>
              </a:rPr>
              <a:t>Menu Browsing &amp; Dietary Filters</a:t>
            </a:r>
            <a:endParaRPr lang="en-US" sz="1250" dirty="0"/>
          </a:p>
        </p:txBody>
      </p:sp>
      <p:sp>
        <p:nvSpPr>
          <p:cNvPr id="13" name="Shape 9"/>
          <p:cNvSpPr/>
          <p:nvPr/>
        </p:nvSpPr>
        <p:spPr>
          <a:xfrm>
            <a:off x="8001000" y="2935224"/>
            <a:ext cx="420624" cy="420624"/>
          </a:xfrm>
          <a:prstGeom prst="ellipse">
            <a:avLst/>
          </a:prstGeom>
          <a:solidFill>
            <a:srgbClr val="E2823D"/>
          </a:solidFill>
          <a:ln/>
        </p:spPr>
      </p:sp>
      <p:pic>
        <p:nvPicPr>
          <p:cNvPr id="14" name="Image 2" descr="/home/claude/canteen/icons/ticket.png"/>
          <p:cNvPicPr>
            <a:picLocks noChangeAspect="1"/>
          </p:cNvPicPr>
          <p:nvPr/>
        </p:nvPicPr>
        <p:blipFill>
          <a:blip r:embed="rId5"/>
          <a:stretch>
            <a:fillRect/>
          </a:stretch>
        </p:blipFill>
        <p:spPr>
          <a:xfrm>
            <a:off x="8068300" y="3002524"/>
            <a:ext cx="286024" cy="286024"/>
          </a:xfrm>
          <a:prstGeom prst="rect">
            <a:avLst/>
          </a:prstGeom>
        </p:spPr>
      </p:pic>
      <p:sp>
        <p:nvSpPr>
          <p:cNvPr id="15" name="Text 10"/>
          <p:cNvSpPr/>
          <p:nvPr/>
        </p:nvSpPr>
        <p:spPr>
          <a:xfrm>
            <a:off x="8595360" y="2916936"/>
            <a:ext cx="2926080" cy="457200"/>
          </a:xfrm>
          <a:prstGeom prst="rect">
            <a:avLst/>
          </a:prstGeom>
          <a:noFill/>
          <a:ln/>
        </p:spPr>
        <p:txBody>
          <a:bodyPr wrap="square" lIns="0" tIns="0" rIns="0" bIns="0" rtlCol="0" anchor="ctr"/>
          <a:lstStyle/>
          <a:p>
            <a:pPr marL="0" indent="0">
              <a:buNone/>
            </a:pPr>
            <a:r>
              <a:rPr lang="en-US" sz="1250" dirty="0">
                <a:solidFill>
                  <a:srgbClr val="20303A"/>
                </a:solidFill>
                <a:latin typeface="Calibri" pitchFamily="34" charset="0"/>
                <a:ea typeface="Calibri" pitchFamily="34" charset="-122"/>
                <a:cs typeface="Calibri" pitchFamily="34" charset="-120"/>
              </a:rPr>
              <a:t>Unique Digital Token Generation</a:t>
            </a:r>
            <a:endParaRPr lang="en-US" sz="1250" dirty="0"/>
          </a:p>
        </p:txBody>
      </p:sp>
      <p:sp>
        <p:nvSpPr>
          <p:cNvPr id="16" name="Shape 11"/>
          <p:cNvSpPr/>
          <p:nvPr/>
        </p:nvSpPr>
        <p:spPr>
          <a:xfrm>
            <a:off x="8001000" y="3721608"/>
            <a:ext cx="420624" cy="420624"/>
          </a:xfrm>
          <a:prstGeom prst="ellipse">
            <a:avLst/>
          </a:prstGeom>
          <a:solidFill>
            <a:srgbClr val="E2823D"/>
          </a:solidFill>
          <a:ln/>
        </p:spPr>
      </p:sp>
      <p:pic>
        <p:nvPicPr>
          <p:cNvPr id="17" name="Image 3" descr="/home/claude/canteen/icons/qr.png"/>
          <p:cNvPicPr>
            <a:picLocks noChangeAspect="1"/>
          </p:cNvPicPr>
          <p:nvPr/>
        </p:nvPicPr>
        <p:blipFill>
          <a:blip r:embed="rId6"/>
          <a:stretch>
            <a:fillRect/>
          </a:stretch>
        </p:blipFill>
        <p:spPr>
          <a:xfrm>
            <a:off x="8068300" y="3788908"/>
            <a:ext cx="286024" cy="286024"/>
          </a:xfrm>
          <a:prstGeom prst="rect">
            <a:avLst/>
          </a:prstGeom>
        </p:spPr>
      </p:pic>
      <p:sp>
        <p:nvSpPr>
          <p:cNvPr id="18" name="Text 12"/>
          <p:cNvSpPr/>
          <p:nvPr/>
        </p:nvSpPr>
        <p:spPr>
          <a:xfrm>
            <a:off x="8595360" y="3703320"/>
            <a:ext cx="2926080" cy="457200"/>
          </a:xfrm>
          <a:prstGeom prst="rect">
            <a:avLst/>
          </a:prstGeom>
          <a:noFill/>
          <a:ln/>
        </p:spPr>
        <p:txBody>
          <a:bodyPr wrap="square" lIns="0" tIns="0" rIns="0" bIns="0" rtlCol="0" anchor="ctr"/>
          <a:lstStyle/>
          <a:p>
            <a:pPr marL="0" indent="0">
              <a:buNone/>
            </a:pPr>
            <a:r>
              <a:rPr lang="en-US" sz="1250" dirty="0">
                <a:solidFill>
                  <a:srgbClr val="20303A"/>
                </a:solidFill>
                <a:latin typeface="Calibri" pitchFamily="34" charset="0"/>
                <a:ea typeface="Calibri" pitchFamily="34" charset="-122"/>
                <a:cs typeface="Calibri" pitchFamily="34" charset="-120"/>
              </a:rPr>
              <a:t>QR-Based Token Verification</a:t>
            </a:r>
            <a:endParaRPr lang="en-US" sz="1250" dirty="0"/>
          </a:p>
        </p:txBody>
      </p:sp>
      <p:sp>
        <p:nvSpPr>
          <p:cNvPr id="19" name="Shape 13"/>
          <p:cNvSpPr/>
          <p:nvPr/>
        </p:nvSpPr>
        <p:spPr>
          <a:xfrm>
            <a:off x="8001000" y="4507992"/>
            <a:ext cx="420624" cy="420624"/>
          </a:xfrm>
          <a:prstGeom prst="ellipse">
            <a:avLst/>
          </a:prstGeom>
          <a:solidFill>
            <a:srgbClr val="E2823D"/>
          </a:solidFill>
          <a:ln/>
        </p:spPr>
      </p:sp>
      <p:pic>
        <p:nvPicPr>
          <p:cNvPr id="20" name="Image 4" descr="/home/claude/canteen/icons/receipt.png"/>
          <p:cNvPicPr>
            <a:picLocks noChangeAspect="1"/>
          </p:cNvPicPr>
          <p:nvPr/>
        </p:nvPicPr>
        <p:blipFill>
          <a:blip r:embed="rId7"/>
          <a:stretch>
            <a:fillRect/>
          </a:stretch>
        </p:blipFill>
        <p:spPr>
          <a:xfrm>
            <a:off x="8068300" y="4575292"/>
            <a:ext cx="286024" cy="286024"/>
          </a:xfrm>
          <a:prstGeom prst="rect">
            <a:avLst/>
          </a:prstGeom>
        </p:spPr>
      </p:pic>
      <p:sp>
        <p:nvSpPr>
          <p:cNvPr id="21" name="Text 14"/>
          <p:cNvSpPr/>
          <p:nvPr/>
        </p:nvSpPr>
        <p:spPr>
          <a:xfrm>
            <a:off x="8595360" y="4489704"/>
            <a:ext cx="2926080" cy="457200"/>
          </a:xfrm>
          <a:prstGeom prst="rect">
            <a:avLst/>
          </a:prstGeom>
          <a:noFill/>
          <a:ln/>
        </p:spPr>
        <p:txBody>
          <a:bodyPr wrap="square" lIns="0" tIns="0" rIns="0" bIns="0" rtlCol="0" anchor="ctr"/>
          <a:lstStyle/>
          <a:p>
            <a:pPr marL="0" indent="0">
              <a:buNone/>
            </a:pPr>
            <a:r>
              <a:rPr lang="en-US" sz="1250" dirty="0">
                <a:solidFill>
                  <a:srgbClr val="20303A"/>
                </a:solidFill>
                <a:latin typeface="Calibri" pitchFamily="34" charset="0"/>
                <a:ea typeface="Calibri" pitchFamily="34" charset="-122"/>
                <a:cs typeface="Calibri" pitchFamily="34" charset="-120"/>
              </a:rPr>
              <a:t>Billing &amp; Order History</a:t>
            </a:r>
            <a:endParaRPr lang="en-US" sz="1250" dirty="0"/>
          </a:p>
        </p:txBody>
      </p:sp>
      <p:sp>
        <p:nvSpPr>
          <p:cNvPr id="22" name="Shape 15"/>
          <p:cNvSpPr/>
          <p:nvPr/>
        </p:nvSpPr>
        <p:spPr>
          <a:xfrm>
            <a:off x="8001000" y="5294376"/>
            <a:ext cx="420624" cy="420624"/>
          </a:xfrm>
          <a:prstGeom prst="ellipse">
            <a:avLst/>
          </a:prstGeom>
          <a:solidFill>
            <a:srgbClr val="E2823D"/>
          </a:solidFill>
          <a:ln/>
        </p:spPr>
      </p:sp>
      <p:pic>
        <p:nvPicPr>
          <p:cNvPr id="23" name="Image 5" descr="/home/claude/canteen/icons/dashboard.png"/>
          <p:cNvPicPr>
            <a:picLocks noChangeAspect="1"/>
          </p:cNvPicPr>
          <p:nvPr/>
        </p:nvPicPr>
        <p:blipFill>
          <a:blip r:embed="rId8"/>
          <a:stretch>
            <a:fillRect/>
          </a:stretch>
        </p:blipFill>
        <p:spPr>
          <a:xfrm>
            <a:off x="8068300" y="5361676"/>
            <a:ext cx="286024" cy="286024"/>
          </a:xfrm>
          <a:prstGeom prst="rect">
            <a:avLst/>
          </a:prstGeom>
        </p:spPr>
      </p:pic>
      <p:sp>
        <p:nvSpPr>
          <p:cNvPr id="24" name="Text 16"/>
          <p:cNvSpPr/>
          <p:nvPr/>
        </p:nvSpPr>
        <p:spPr>
          <a:xfrm>
            <a:off x="8595360" y="5276088"/>
            <a:ext cx="2926080" cy="457200"/>
          </a:xfrm>
          <a:prstGeom prst="rect">
            <a:avLst/>
          </a:prstGeom>
          <a:noFill/>
          <a:ln/>
        </p:spPr>
        <p:txBody>
          <a:bodyPr wrap="square" lIns="0" tIns="0" rIns="0" bIns="0" rtlCol="0" anchor="ctr"/>
          <a:lstStyle/>
          <a:p>
            <a:pPr marL="0" indent="0">
              <a:buNone/>
            </a:pPr>
            <a:r>
              <a:rPr lang="en-US" sz="1250" dirty="0">
                <a:solidFill>
                  <a:srgbClr val="20303A"/>
                </a:solidFill>
                <a:latin typeface="Calibri" pitchFamily="34" charset="0"/>
                <a:ea typeface="Calibri" pitchFamily="34" charset="-122"/>
                <a:cs typeface="Calibri" pitchFamily="34" charset="-120"/>
              </a:rPr>
              <a:t>Admin Management Dashboard</a:t>
            </a:r>
            <a:endParaRPr lang="en-US" sz="1250" dirty="0"/>
          </a:p>
        </p:txBody>
      </p:sp>
      <p:sp>
        <p:nvSpPr>
          <p:cNvPr id="25" name="Text 17"/>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26" name="Text 18"/>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book.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502920"/>
            <a:ext cx="10058400" cy="54864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Introduction</a:t>
            </a:r>
            <a:endParaRPr lang="en-US" sz="3000" dirty="0"/>
          </a:p>
        </p:txBody>
      </p:sp>
      <p:sp>
        <p:nvSpPr>
          <p:cNvPr id="5" name="Shape 2"/>
          <p:cNvSpPr/>
          <p:nvPr/>
        </p:nvSpPr>
        <p:spPr>
          <a:xfrm>
            <a:off x="548640" y="1463040"/>
            <a:ext cx="5349240" cy="3657600"/>
          </a:xfrm>
          <a:prstGeom prst="roundRect">
            <a:avLst>
              <a:gd name="adj" fmla="val 2000"/>
            </a:avLst>
          </a:prstGeom>
          <a:solidFill>
            <a:srgbClr val="F5F7F8"/>
          </a:solidFill>
          <a:ln/>
          <a:effectLst>
            <a:outerShdw blurRad="88900" dist="25400" dir="5400000" algn="bl" rotWithShape="0">
              <a:srgbClr val="1B3A4B">
                <a:alpha val="14000"/>
              </a:srgbClr>
            </a:outerShdw>
          </a:effectLst>
        </p:spPr>
      </p:sp>
      <p:sp>
        <p:nvSpPr>
          <p:cNvPr id="6" name="Shape 3"/>
          <p:cNvSpPr/>
          <p:nvPr/>
        </p:nvSpPr>
        <p:spPr>
          <a:xfrm>
            <a:off x="868680" y="1783080"/>
            <a:ext cx="548640" cy="548640"/>
          </a:xfrm>
          <a:prstGeom prst="ellipse">
            <a:avLst/>
          </a:prstGeom>
          <a:solidFill>
            <a:srgbClr val="1B3A4B"/>
          </a:solidFill>
          <a:ln/>
        </p:spPr>
      </p:sp>
      <p:pic>
        <p:nvPicPr>
          <p:cNvPr id="7" name="Image 1" descr="/home/claude/canteen/icons/clock.png"/>
          <p:cNvPicPr>
            <a:picLocks noChangeAspect="1"/>
          </p:cNvPicPr>
          <p:nvPr/>
        </p:nvPicPr>
        <p:blipFill>
          <a:blip r:embed="rId4"/>
          <a:stretch>
            <a:fillRect/>
          </a:stretch>
        </p:blipFill>
        <p:spPr>
          <a:xfrm>
            <a:off x="956462" y="1870862"/>
            <a:ext cx="373075" cy="373075"/>
          </a:xfrm>
          <a:prstGeom prst="rect">
            <a:avLst/>
          </a:prstGeom>
        </p:spPr>
      </p:pic>
      <p:sp>
        <p:nvSpPr>
          <p:cNvPr id="8" name="Text 4"/>
          <p:cNvSpPr/>
          <p:nvPr/>
        </p:nvSpPr>
        <p:spPr>
          <a:xfrm>
            <a:off x="1554480" y="1783080"/>
            <a:ext cx="4023360" cy="548640"/>
          </a:xfrm>
          <a:prstGeom prst="rect">
            <a:avLst/>
          </a:prstGeom>
          <a:noFill/>
          <a:ln/>
        </p:spPr>
        <p:txBody>
          <a:bodyPr wrap="square" lIns="0" tIns="0" rIns="0" bIns="0" rtlCol="0" anchor="ctr"/>
          <a:lstStyle/>
          <a:p>
            <a:pPr marL="0" indent="0">
              <a:buNone/>
            </a:pPr>
            <a:r>
              <a:rPr lang="en-US" sz="1800" b="1" dirty="0">
                <a:solidFill>
                  <a:srgbClr val="1B3A4B"/>
                </a:solidFill>
                <a:latin typeface="Cambria" pitchFamily="34" charset="0"/>
                <a:ea typeface="Cambria" pitchFamily="34" charset="-122"/>
                <a:cs typeface="Cambria" pitchFamily="34" charset="-120"/>
              </a:rPr>
              <a:t>The Challenge</a:t>
            </a:r>
            <a:endParaRPr lang="en-US" sz="1800" dirty="0"/>
          </a:p>
        </p:txBody>
      </p:sp>
      <p:sp>
        <p:nvSpPr>
          <p:cNvPr id="9" name="Text 5"/>
          <p:cNvSpPr/>
          <p:nvPr/>
        </p:nvSpPr>
        <p:spPr>
          <a:xfrm>
            <a:off x="868680" y="2514600"/>
            <a:ext cx="4709160" cy="2468880"/>
          </a:xfrm>
          <a:prstGeom prst="rect">
            <a:avLst/>
          </a:prstGeom>
          <a:noFill/>
          <a:ln/>
        </p:spPr>
        <p:txBody>
          <a:bodyPr wrap="square" lIns="0" tIns="0" rIns="0" bIns="0" rtlCol="0" anchor="t"/>
          <a:lstStyle/>
          <a:p>
            <a:pPr marL="0" indent="0">
              <a:lnSpc>
                <a:spcPct val="125000"/>
              </a:lnSpc>
              <a:buNone/>
            </a:pPr>
            <a:r>
              <a:rPr lang="en-US" sz="1300" dirty="0">
                <a:solidFill>
                  <a:srgbClr val="20303A"/>
                </a:solidFill>
                <a:latin typeface="Calibri" pitchFamily="34" charset="0"/>
                <a:ea typeface="Calibri" pitchFamily="34" charset="-122"/>
                <a:cs typeface="Calibri" pitchFamily="34" charset="-120"/>
              </a:rPr>
              <a:t>Traditional manual ordering in college canteens leads to long queues, delays in service, token mismanagement, and difficulty handling large numbers of students during peak hours — reducing efficiency for both students and staff.</a:t>
            </a:r>
            <a:endParaRPr lang="en-US" sz="1300" dirty="0"/>
          </a:p>
        </p:txBody>
      </p:sp>
      <p:sp>
        <p:nvSpPr>
          <p:cNvPr id="10" name="Shape 6"/>
          <p:cNvSpPr/>
          <p:nvPr/>
        </p:nvSpPr>
        <p:spPr>
          <a:xfrm>
            <a:off x="6263640" y="1463040"/>
            <a:ext cx="5349240" cy="3657600"/>
          </a:xfrm>
          <a:prstGeom prst="roundRect">
            <a:avLst>
              <a:gd name="adj" fmla="val 2000"/>
            </a:avLst>
          </a:prstGeom>
          <a:solidFill>
            <a:srgbClr val="E8EEF1"/>
          </a:solidFill>
          <a:ln/>
          <a:effectLst>
            <a:outerShdw blurRad="88900" dist="25400" dir="5400000" algn="bl" rotWithShape="0">
              <a:srgbClr val="1B3A4B">
                <a:alpha val="14000"/>
              </a:srgbClr>
            </a:outerShdw>
          </a:effectLst>
        </p:spPr>
      </p:sp>
      <p:sp>
        <p:nvSpPr>
          <p:cNvPr id="11" name="Shape 7"/>
          <p:cNvSpPr/>
          <p:nvPr/>
        </p:nvSpPr>
        <p:spPr>
          <a:xfrm>
            <a:off x="6583680" y="1783080"/>
            <a:ext cx="548640" cy="548640"/>
          </a:xfrm>
          <a:prstGeom prst="ellipse">
            <a:avLst/>
          </a:prstGeom>
          <a:solidFill>
            <a:srgbClr val="1B3A4B"/>
          </a:solidFill>
          <a:ln/>
        </p:spPr>
      </p:sp>
      <p:pic>
        <p:nvPicPr>
          <p:cNvPr id="12" name="Image 2" descr="/home/claude/canteen/icons/ticket.png"/>
          <p:cNvPicPr>
            <a:picLocks noChangeAspect="1"/>
          </p:cNvPicPr>
          <p:nvPr/>
        </p:nvPicPr>
        <p:blipFill>
          <a:blip r:embed="rId5"/>
          <a:stretch>
            <a:fillRect/>
          </a:stretch>
        </p:blipFill>
        <p:spPr>
          <a:xfrm>
            <a:off x="6671462" y="1870862"/>
            <a:ext cx="373075" cy="373075"/>
          </a:xfrm>
          <a:prstGeom prst="rect">
            <a:avLst/>
          </a:prstGeom>
        </p:spPr>
      </p:pic>
      <p:sp>
        <p:nvSpPr>
          <p:cNvPr id="13" name="Text 8"/>
          <p:cNvSpPr/>
          <p:nvPr/>
        </p:nvSpPr>
        <p:spPr>
          <a:xfrm>
            <a:off x="7269480" y="1783080"/>
            <a:ext cx="4023360" cy="548640"/>
          </a:xfrm>
          <a:prstGeom prst="rect">
            <a:avLst/>
          </a:prstGeom>
          <a:noFill/>
          <a:ln/>
        </p:spPr>
        <p:txBody>
          <a:bodyPr wrap="square" lIns="0" tIns="0" rIns="0" bIns="0" rtlCol="0" anchor="ctr"/>
          <a:lstStyle/>
          <a:p>
            <a:pPr marL="0" indent="0">
              <a:buNone/>
            </a:pPr>
            <a:r>
              <a:rPr lang="en-US" sz="1800" b="1" dirty="0">
                <a:solidFill>
                  <a:srgbClr val="1B3A4B"/>
                </a:solidFill>
                <a:latin typeface="Cambria" pitchFamily="34" charset="0"/>
                <a:ea typeface="Cambria" pitchFamily="34" charset="-122"/>
                <a:cs typeface="Cambria" pitchFamily="34" charset="-120"/>
              </a:rPr>
              <a:t>Our Solution</a:t>
            </a:r>
            <a:endParaRPr lang="en-US" sz="1800" dirty="0"/>
          </a:p>
        </p:txBody>
      </p:sp>
      <p:sp>
        <p:nvSpPr>
          <p:cNvPr id="14" name="Text 9"/>
          <p:cNvSpPr/>
          <p:nvPr/>
        </p:nvSpPr>
        <p:spPr>
          <a:xfrm>
            <a:off x="6583680" y="2514600"/>
            <a:ext cx="4709160" cy="2468880"/>
          </a:xfrm>
          <a:prstGeom prst="rect">
            <a:avLst/>
          </a:prstGeom>
          <a:noFill/>
          <a:ln/>
        </p:spPr>
        <p:txBody>
          <a:bodyPr wrap="square" lIns="0" tIns="0" rIns="0" bIns="0" rtlCol="0" anchor="t"/>
          <a:lstStyle/>
          <a:p>
            <a:pPr marL="0" indent="0">
              <a:lnSpc>
                <a:spcPct val="125000"/>
              </a:lnSpc>
              <a:buNone/>
            </a:pPr>
            <a:r>
              <a:rPr lang="en-US" sz="1300" dirty="0">
                <a:solidFill>
                  <a:srgbClr val="20303A"/>
                </a:solidFill>
                <a:latin typeface="Calibri" pitchFamily="34" charset="0"/>
                <a:ea typeface="Calibri" pitchFamily="34" charset="-122"/>
                <a:cs typeface="Calibri" pitchFamily="34" charset="-120"/>
              </a:rPr>
              <a:t>A digital platform where students view the menu, apply dietary preferences, place orders online, and receive a unique token for food collection — with QR-based verification, billing, notifications, and an admin dashboard.</a:t>
            </a:r>
            <a:endParaRPr lang="en-US" sz="1300" dirty="0"/>
          </a:p>
        </p:txBody>
      </p:sp>
      <p:sp>
        <p:nvSpPr>
          <p:cNvPr id="15" name="Text 10"/>
          <p:cNvSpPr/>
          <p:nvPr/>
        </p:nvSpPr>
        <p:spPr>
          <a:xfrm>
            <a:off x="548640" y="5349240"/>
            <a:ext cx="11064240" cy="731520"/>
          </a:xfrm>
          <a:prstGeom prst="rect">
            <a:avLst/>
          </a:prstGeom>
          <a:noFill/>
          <a:ln/>
        </p:spPr>
        <p:txBody>
          <a:bodyPr wrap="square" lIns="0" tIns="0" rIns="0" bIns="0" rtlCol="0" anchor="t"/>
          <a:lstStyle/>
          <a:p>
            <a:pPr marL="0" indent="0">
              <a:lnSpc>
                <a:spcPct val="120000"/>
              </a:lnSpc>
              <a:buNone/>
            </a:pPr>
            <a:r>
              <a:rPr lang="en-US" sz="1300" b="1" dirty="0">
                <a:solidFill>
                  <a:srgbClr val="1B3A4B"/>
                </a:solidFill>
                <a:latin typeface="Calibri" pitchFamily="34" charset="0"/>
                <a:ea typeface="Calibri" pitchFamily="34" charset="-122"/>
                <a:cs typeface="Calibri" pitchFamily="34" charset="-120"/>
              </a:rPr>
              <a:t>Built with: </a:t>
            </a:r>
            <a:r>
              <a:rPr lang="en-US" sz="1300" dirty="0">
                <a:solidFill>
                  <a:srgbClr val="20303A"/>
                </a:solidFill>
                <a:latin typeface="Calibri" pitchFamily="34" charset="0"/>
                <a:ea typeface="Calibri" pitchFamily="34" charset="-122"/>
                <a:cs typeface="Calibri" pitchFamily="34" charset="-120"/>
              </a:rPr>
              <a:t>React.js and Node.js related web frameworks — reducing waiting time, minimizing manual errors, and promoting a faster, more organized, technology-driven approach to canteen management.</a:t>
            </a:r>
            <a:endParaRPr lang="en-US" sz="1300" dirty="0"/>
          </a:p>
        </p:txBody>
      </p:sp>
      <p:sp>
        <p:nvSpPr>
          <p:cNvPr id="16" name="Text 11"/>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17" name="Text 12"/>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bug.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502920"/>
            <a:ext cx="10058400" cy="54864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Problem Statement</a:t>
            </a:r>
            <a:endParaRPr lang="en-US" sz="3000" dirty="0"/>
          </a:p>
        </p:txBody>
      </p:sp>
      <p:sp>
        <p:nvSpPr>
          <p:cNvPr id="5" name="Shape 2"/>
          <p:cNvSpPr/>
          <p:nvPr/>
        </p:nvSpPr>
        <p:spPr>
          <a:xfrm>
            <a:off x="548640" y="1508760"/>
            <a:ext cx="2697480" cy="2788920"/>
          </a:xfrm>
          <a:prstGeom prst="roundRect">
            <a:avLst>
              <a:gd name="adj" fmla="val 2712"/>
            </a:avLst>
          </a:prstGeom>
          <a:solidFill>
            <a:srgbClr val="F5F7F8"/>
          </a:solidFill>
          <a:ln/>
          <a:effectLst>
            <a:outerShdw blurRad="88900" dist="25400" dir="5400000" algn="bl" rotWithShape="0">
              <a:srgbClr val="1B3A4B">
                <a:alpha val="14000"/>
              </a:srgbClr>
            </a:outerShdw>
          </a:effectLst>
        </p:spPr>
      </p:sp>
      <p:sp>
        <p:nvSpPr>
          <p:cNvPr id="6" name="Shape 3"/>
          <p:cNvSpPr/>
          <p:nvPr/>
        </p:nvSpPr>
        <p:spPr>
          <a:xfrm>
            <a:off x="777240" y="1783080"/>
            <a:ext cx="566928" cy="566928"/>
          </a:xfrm>
          <a:prstGeom prst="ellipse">
            <a:avLst/>
          </a:prstGeom>
          <a:solidFill>
            <a:srgbClr val="E2823D"/>
          </a:solidFill>
          <a:ln/>
        </p:spPr>
      </p:sp>
      <p:pic>
        <p:nvPicPr>
          <p:cNvPr id="7" name="Image 1" descr="/home/claude/canteen/icons/clock.png"/>
          <p:cNvPicPr>
            <a:picLocks noChangeAspect="1"/>
          </p:cNvPicPr>
          <p:nvPr/>
        </p:nvPicPr>
        <p:blipFill>
          <a:blip r:embed="rId4"/>
          <a:stretch>
            <a:fillRect/>
          </a:stretch>
        </p:blipFill>
        <p:spPr>
          <a:xfrm>
            <a:off x="867948" y="1873788"/>
            <a:ext cx="385511" cy="385511"/>
          </a:xfrm>
          <a:prstGeom prst="rect">
            <a:avLst/>
          </a:prstGeom>
        </p:spPr>
      </p:pic>
      <p:sp>
        <p:nvSpPr>
          <p:cNvPr id="8" name="Text 4"/>
          <p:cNvSpPr/>
          <p:nvPr/>
        </p:nvSpPr>
        <p:spPr>
          <a:xfrm>
            <a:off x="777240" y="2514600"/>
            <a:ext cx="2240280" cy="548640"/>
          </a:xfrm>
          <a:prstGeom prst="rect">
            <a:avLst/>
          </a:prstGeom>
          <a:noFill/>
          <a:ln/>
        </p:spPr>
        <p:txBody>
          <a:bodyPr wrap="square" lIns="0" tIns="0" rIns="0" bIns="0" rtlCol="0" anchor="ctr"/>
          <a:lstStyle/>
          <a:p>
            <a:pPr marL="0" indent="0">
              <a:lnSpc>
                <a:spcPct val="105000"/>
              </a:lnSpc>
              <a:buNone/>
            </a:pPr>
            <a:r>
              <a:rPr lang="en-US" sz="1500" b="1" dirty="0">
                <a:solidFill>
                  <a:srgbClr val="1B3A4B"/>
                </a:solidFill>
                <a:latin typeface="Cambria" pitchFamily="34" charset="0"/>
                <a:ea typeface="Cambria" pitchFamily="34" charset="-122"/>
                <a:cs typeface="Cambria" pitchFamily="34" charset="-120"/>
              </a:rPr>
              <a:t>Long Waiting Lines</a:t>
            </a:r>
            <a:endParaRPr lang="en-US" sz="1500" dirty="0"/>
          </a:p>
        </p:txBody>
      </p:sp>
      <p:sp>
        <p:nvSpPr>
          <p:cNvPr id="9" name="Text 5"/>
          <p:cNvSpPr/>
          <p:nvPr/>
        </p:nvSpPr>
        <p:spPr>
          <a:xfrm>
            <a:off x="777240" y="3063240"/>
            <a:ext cx="2240280" cy="1143000"/>
          </a:xfrm>
          <a:prstGeom prst="rect">
            <a:avLst/>
          </a:prstGeom>
          <a:noFill/>
          <a:ln/>
        </p:spPr>
        <p:txBody>
          <a:bodyPr wrap="square" lIns="0" tIns="0" rIns="0" bIns="0" rtlCol="0" anchor="t"/>
          <a:lstStyle/>
          <a:p>
            <a:pPr marL="0" indent="0">
              <a:lnSpc>
                <a:spcPct val="120000"/>
              </a:lnSpc>
              <a:buNone/>
            </a:pPr>
            <a:r>
              <a:rPr lang="en-US" sz="1150" dirty="0">
                <a:solidFill>
                  <a:srgbClr val="20303A"/>
                </a:solidFill>
                <a:latin typeface="Calibri" pitchFamily="34" charset="0"/>
                <a:ea typeface="Calibri" pitchFamily="34" charset="-122"/>
                <a:cs typeface="Calibri" pitchFamily="34" charset="-120"/>
              </a:rPr>
              <a:t>Manual ordering and token distribution cause delays and long queues, wasting students' valuable time.</a:t>
            </a:r>
            <a:endParaRPr lang="en-US" sz="1150" dirty="0"/>
          </a:p>
        </p:txBody>
      </p:sp>
      <p:sp>
        <p:nvSpPr>
          <p:cNvPr id="10" name="Shape 6"/>
          <p:cNvSpPr/>
          <p:nvPr/>
        </p:nvSpPr>
        <p:spPr>
          <a:xfrm>
            <a:off x="3447288" y="1508760"/>
            <a:ext cx="2697480" cy="2788920"/>
          </a:xfrm>
          <a:prstGeom prst="roundRect">
            <a:avLst>
              <a:gd name="adj" fmla="val 2712"/>
            </a:avLst>
          </a:prstGeom>
          <a:solidFill>
            <a:srgbClr val="F5F7F8"/>
          </a:solidFill>
          <a:ln/>
          <a:effectLst>
            <a:outerShdw blurRad="88900" dist="25400" dir="5400000" algn="bl" rotWithShape="0">
              <a:srgbClr val="1B3A4B">
                <a:alpha val="14000"/>
              </a:srgbClr>
            </a:outerShdw>
          </a:effectLst>
        </p:spPr>
      </p:sp>
      <p:sp>
        <p:nvSpPr>
          <p:cNvPr id="11" name="Shape 7"/>
          <p:cNvSpPr/>
          <p:nvPr/>
        </p:nvSpPr>
        <p:spPr>
          <a:xfrm>
            <a:off x="3675888" y="1783080"/>
            <a:ext cx="566928" cy="566928"/>
          </a:xfrm>
          <a:prstGeom prst="ellipse">
            <a:avLst/>
          </a:prstGeom>
          <a:solidFill>
            <a:srgbClr val="E2823D"/>
          </a:solidFill>
          <a:ln/>
        </p:spPr>
      </p:sp>
      <p:pic>
        <p:nvPicPr>
          <p:cNvPr id="12" name="Image 2" descr="/home/claude/canteen/icons/ticket.png"/>
          <p:cNvPicPr>
            <a:picLocks noChangeAspect="1"/>
          </p:cNvPicPr>
          <p:nvPr/>
        </p:nvPicPr>
        <p:blipFill>
          <a:blip r:embed="rId5"/>
          <a:stretch>
            <a:fillRect/>
          </a:stretch>
        </p:blipFill>
        <p:spPr>
          <a:xfrm>
            <a:off x="3766596" y="1873788"/>
            <a:ext cx="385511" cy="385511"/>
          </a:xfrm>
          <a:prstGeom prst="rect">
            <a:avLst/>
          </a:prstGeom>
        </p:spPr>
      </p:pic>
      <p:sp>
        <p:nvSpPr>
          <p:cNvPr id="13" name="Text 8"/>
          <p:cNvSpPr/>
          <p:nvPr/>
        </p:nvSpPr>
        <p:spPr>
          <a:xfrm>
            <a:off x="3675888" y="2514600"/>
            <a:ext cx="2240280" cy="548640"/>
          </a:xfrm>
          <a:prstGeom prst="rect">
            <a:avLst/>
          </a:prstGeom>
          <a:noFill/>
          <a:ln/>
        </p:spPr>
        <p:txBody>
          <a:bodyPr wrap="square" lIns="0" tIns="0" rIns="0" bIns="0" rtlCol="0" anchor="ctr"/>
          <a:lstStyle/>
          <a:p>
            <a:pPr marL="0" indent="0">
              <a:lnSpc>
                <a:spcPct val="105000"/>
              </a:lnSpc>
              <a:buNone/>
            </a:pPr>
            <a:r>
              <a:rPr lang="en-US" sz="1500" b="1" dirty="0">
                <a:solidFill>
                  <a:srgbClr val="1B3A4B"/>
                </a:solidFill>
                <a:latin typeface="Cambria" pitchFamily="34" charset="0"/>
                <a:ea typeface="Cambria" pitchFamily="34" charset="-122"/>
                <a:cs typeface="Cambria" pitchFamily="34" charset="-120"/>
              </a:rPr>
              <a:t>Token Mismanagement</a:t>
            </a:r>
            <a:endParaRPr lang="en-US" sz="1500" dirty="0"/>
          </a:p>
        </p:txBody>
      </p:sp>
      <p:sp>
        <p:nvSpPr>
          <p:cNvPr id="14" name="Text 9"/>
          <p:cNvSpPr/>
          <p:nvPr/>
        </p:nvSpPr>
        <p:spPr>
          <a:xfrm>
            <a:off x="3675888" y="3063240"/>
            <a:ext cx="2240280" cy="1143000"/>
          </a:xfrm>
          <a:prstGeom prst="rect">
            <a:avLst/>
          </a:prstGeom>
          <a:noFill/>
          <a:ln/>
        </p:spPr>
        <p:txBody>
          <a:bodyPr wrap="square" lIns="0" tIns="0" rIns="0" bIns="0" rtlCol="0" anchor="t"/>
          <a:lstStyle/>
          <a:p>
            <a:pPr marL="0" indent="0">
              <a:lnSpc>
                <a:spcPct val="120000"/>
              </a:lnSpc>
              <a:buNone/>
            </a:pPr>
            <a:r>
              <a:rPr lang="en-US" sz="1150" dirty="0">
                <a:solidFill>
                  <a:srgbClr val="20303A"/>
                </a:solidFill>
                <a:latin typeface="Calibri" pitchFamily="34" charset="0"/>
                <a:ea typeface="Calibri" pitchFamily="34" charset="-122"/>
                <a:cs typeface="Calibri" pitchFamily="34" charset="-120"/>
              </a:rPr>
              <a:t>Without digitization, tracking and verifying tokens accurately becomes difficult and error-prone.</a:t>
            </a:r>
            <a:endParaRPr lang="en-US" sz="1150" dirty="0"/>
          </a:p>
        </p:txBody>
      </p:sp>
      <p:sp>
        <p:nvSpPr>
          <p:cNvPr id="15" name="Shape 10"/>
          <p:cNvSpPr/>
          <p:nvPr/>
        </p:nvSpPr>
        <p:spPr>
          <a:xfrm>
            <a:off x="6345936" y="1508760"/>
            <a:ext cx="2697480" cy="2788920"/>
          </a:xfrm>
          <a:prstGeom prst="roundRect">
            <a:avLst>
              <a:gd name="adj" fmla="val 2712"/>
            </a:avLst>
          </a:prstGeom>
          <a:solidFill>
            <a:srgbClr val="F5F7F8"/>
          </a:solidFill>
          <a:ln/>
          <a:effectLst>
            <a:outerShdw blurRad="88900" dist="25400" dir="5400000" algn="bl" rotWithShape="0">
              <a:srgbClr val="1B3A4B">
                <a:alpha val="14000"/>
              </a:srgbClr>
            </a:outerShdw>
          </a:effectLst>
        </p:spPr>
      </p:sp>
      <p:sp>
        <p:nvSpPr>
          <p:cNvPr id="16" name="Shape 11"/>
          <p:cNvSpPr/>
          <p:nvPr/>
        </p:nvSpPr>
        <p:spPr>
          <a:xfrm>
            <a:off x="6574536" y="1783080"/>
            <a:ext cx="566928" cy="566928"/>
          </a:xfrm>
          <a:prstGeom prst="ellipse">
            <a:avLst/>
          </a:prstGeom>
          <a:solidFill>
            <a:srgbClr val="E2823D"/>
          </a:solidFill>
          <a:ln/>
        </p:spPr>
      </p:sp>
      <p:pic>
        <p:nvPicPr>
          <p:cNvPr id="17" name="Image 3" descr="/home/claude/canteen/icons/database.png"/>
          <p:cNvPicPr>
            <a:picLocks noChangeAspect="1"/>
          </p:cNvPicPr>
          <p:nvPr/>
        </p:nvPicPr>
        <p:blipFill>
          <a:blip r:embed="rId6"/>
          <a:stretch>
            <a:fillRect/>
          </a:stretch>
        </p:blipFill>
        <p:spPr>
          <a:xfrm>
            <a:off x="6665244" y="1873788"/>
            <a:ext cx="385511" cy="385511"/>
          </a:xfrm>
          <a:prstGeom prst="rect">
            <a:avLst/>
          </a:prstGeom>
        </p:spPr>
      </p:pic>
      <p:sp>
        <p:nvSpPr>
          <p:cNvPr id="18" name="Text 12"/>
          <p:cNvSpPr/>
          <p:nvPr/>
        </p:nvSpPr>
        <p:spPr>
          <a:xfrm>
            <a:off x="6574536" y="2514600"/>
            <a:ext cx="2240280" cy="548640"/>
          </a:xfrm>
          <a:prstGeom prst="rect">
            <a:avLst/>
          </a:prstGeom>
          <a:noFill/>
          <a:ln/>
        </p:spPr>
        <p:txBody>
          <a:bodyPr wrap="square" lIns="0" tIns="0" rIns="0" bIns="0" rtlCol="0" anchor="ctr"/>
          <a:lstStyle/>
          <a:p>
            <a:pPr marL="0" indent="0">
              <a:lnSpc>
                <a:spcPct val="105000"/>
              </a:lnSpc>
              <a:buNone/>
            </a:pPr>
            <a:r>
              <a:rPr lang="en-US" sz="1500" b="1" dirty="0">
                <a:solidFill>
                  <a:srgbClr val="1B3A4B"/>
                </a:solidFill>
                <a:latin typeface="Cambria" pitchFamily="34" charset="0"/>
                <a:ea typeface="Cambria" pitchFamily="34" charset="-122"/>
                <a:cs typeface="Cambria" pitchFamily="34" charset="-120"/>
              </a:rPr>
              <a:t>No Centralized Tracking</a:t>
            </a:r>
            <a:endParaRPr lang="en-US" sz="1500" dirty="0"/>
          </a:p>
        </p:txBody>
      </p:sp>
      <p:sp>
        <p:nvSpPr>
          <p:cNvPr id="19" name="Text 13"/>
          <p:cNvSpPr/>
          <p:nvPr/>
        </p:nvSpPr>
        <p:spPr>
          <a:xfrm>
            <a:off x="6574536" y="3063240"/>
            <a:ext cx="2240280" cy="1143000"/>
          </a:xfrm>
          <a:prstGeom prst="rect">
            <a:avLst/>
          </a:prstGeom>
          <a:noFill/>
          <a:ln/>
        </p:spPr>
        <p:txBody>
          <a:bodyPr wrap="square" lIns="0" tIns="0" rIns="0" bIns="0" rtlCol="0" anchor="t"/>
          <a:lstStyle/>
          <a:p>
            <a:pPr marL="0" indent="0">
              <a:lnSpc>
                <a:spcPct val="120000"/>
              </a:lnSpc>
              <a:buNone/>
            </a:pPr>
            <a:r>
              <a:rPr lang="en-US" sz="1150" dirty="0">
                <a:solidFill>
                  <a:srgbClr val="20303A"/>
                </a:solidFill>
                <a:latin typeface="Calibri" pitchFamily="34" charset="0"/>
                <a:ea typeface="Calibri" pitchFamily="34" charset="-122"/>
                <a:cs typeface="Calibri" pitchFamily="34" charset="-120"/>
              </a:rPr>
              <a:t>Orders, billing, and daily transactions are hard to monitor without a unified digital system.</a:t>
            </a:r>
            <a:endParaRPr lang="en-US" sz="1150" dirty="0"/>
          </a:p>
        </p:txBody>
      </p:sp>
      <p:sp>
        <p:nvSpPr>
          <p:cNvPr id="20" name="Shape 14"/>
          <p:cNvSpPr/>
          <p:nvPr/>
        </p:nvSpPr>
        <p:spPr>
          <a:xfrm>
            <a:off x="9244584" y="1508760"/>
            <a:ext cx="2697480" cy="2788920"/>
          </a:xfrm>
          <a:prstGeom prst="roundRect">
            <a:avLst>
              <a:gd name="adj" fmla="val 2712"/>
            </a:avLst>
          </a:prstGeom>
          <a:solidFill>
            <a:srgbClr val="F5F7F8"/>
          </a:solidFill>
          <a:ln/>
          <a:effectLst>
            <a:outerShdw blurRad="88900" dist="25400" dir="5400000" algn="bl" rotWithShape="0">
              <a:srgbClr val="1B3A4B">
                <a:alpha val="14000"/>
              </a:srgbClr>
            </a:outerShdw>
          </a:effectLst>
        </p:spPr>
      </p:sp>
      <p:sp>
        <p:nvSpPr>
          <p:cNvPr id="21" name="Shape 15"/>
          <p:cNvSpPr/>
          <p:nvPr/>
        </p:nvSpPr>
        <p:spPr>
          <a:xfrm>
            <a:off x="9473184" y="1783080"/>
            <a:ext cx="566928" cy="566928"/>
          </a:xfrm>
          <a:prstGeom prst="ellipse">
            <a:avLst/>
          </a:prstGeom>
          <a:solidFill>
            <a:srgbClr val="E2823D"/>
          </a:solidFill>
          <a:ln/>
        </p:spPr>
      </p:sp>
      <p:pic>
        <p:nvPicPr>
          <p:cNvPr id="22" name="Image 4" descr="/home/claude/canteen/icons/users.png"/>
          <p:cNvPicPr>
            <a:picLocks noChangeAspect="1"/>
          </p:cNvPicPr>
          <p:nvPr/>
        </p:nvPicPr>
        <p:blipFill>
          <a:blip r:embed="rId7"/>
          <a:stretch>
            <a:fillRect/>
          </a:stretch>
        </p:blipFill>
        <p:spPr>
          <a:xfrm>
            <a:off x="9563892" y="1873788"/>
            <a:ext cx="385511" cy="385511"/>
          </a:xfrm>
          <a:prstGeom prst="rect">
            <a:avLst/>
          </a:prstGeom>
        </p:spPr>
      </p:pic>
      <p:sp>
        <p:nvSpPr>
          <p:cNvPr id="23" name="Text 16"/>
          <p:cNvSpPr/>
          <p:nvPr/>
        </p:nvSpPr>
        <p:spPr>
          <a:xfrm>
            <a:off x="9473184" y="2514600"/>
            <a:ext cx="2240280" cy="548640"/>
          </a:xfrm>
          <a:prstGeom prst="rect">
            <a:avLst/>
          </a:prstGeom>
          <a:noFill/>
          <a:ln/>
        </p:spPr>
        <p:txBody>
          <a:bodyPr wrap="square" lIns="0" tIns="0" rIns="0" bIns="0" rtlCol="0" anchor="ctr"/>
          <a:lstStyle/>
          <a:p>
            <a:pPr marL="0" indent="0">
              <a:lnSpc>
                <a:spcPct val="105000"/>
              </a:lnSpc>
              <a:buNone/>
            </a:pPr>
            <a:r>
              <a:rPr lang="en-US" sz="1500" b="1" dirty="0">
                <a:solidFill>
                  <a:srgbClr val="1B3A4B"/>
                </a:solidFill>
                <a:latin typeface="Cambria" pitchFamily="34" charset="0"/>
                <a:ea typeface="Cambria" pitchFamily="34" charset="-122"/>
                <a:cs typeface="Cambria" pitchFamily="34" charset="-120"/>
              </a:rPr>
              <a:t>Staff Overload</a:t>
            </a:r>
            <a:endParaRPr lang="en-US" sz="1500" dirty="0"/>
          </a:p>
        </p:txBody>
      </p:sp>
      <p:sp>
        <p:nvSpPr>
          <p:cNvPr id="24" name="Text 17"/>
          <p:cNvSpPr/>
          <p:nvPr/>
        </p:nvSpPr>
        <p:spPr>
          <a:xfrm>
            <a:off x="9473184" y="3063240"/>
            <a:ext cx="2240280" cy="1143000"/>
          </a:xfrm>
          <a:prstGeom prst="rect">
            <a:avLst/>
          </a:prstGeom>
          <a:noFill/>
          <a:ln/>
        </p:spPr>
        <p:txBody>
          <a:bodyPr wrap="square" lIns="0" tIns="0" rIns="0" bIns="0" rtlCol="0" anchor="t"/>
          <a:lstStyle/>
          <a:p>
            <a:pPr marL="0" indent="0">
              <a:lnSpc>
                <a:spcPct val="120000"/>
              </a:lnSpc>
              <a:buNone/>
            </a:pPr>
            <a:r>
              <a:rPr lang="en-US" sz="1150" dirty="0">
                <a:solidFill>
                  <a:srgbClr val="20303A"/>
                </a:solidFill>
                <a:latin typeface="Calibri" pitchFamily="34" charset="0"/>
                <a:ea typeface="Calibri" pitchFamily="34" charset="-122"/>
                <a:cs typeface="Calibri" pitchFamily="34" charset="-120"/>
              </a:rPr>
              <a:t>Canteen staff struggle to manage orders efficiently and maintain accurate records during peak hours.</a:t>
            </a:r>
            <a:endParaRPr lang="en-US" sz="1150" dirty="0"/>
          </a:p>
        </p:txBody>
      </p:sp>
      <p:sp>
        <p:nvSpPr>
          <p:cNvPr id="25" name="Shape 18"/>
          <p:cNvSpPr/>
          <p:nvPr/>
        </p:nvSpPr>
        <p:spPr>
          <a:xfrm>
            <a:off x="548640" y="4663440"/>
            <a:ext cx="11393424" cy="1005840"/>
          </a:xfrm>
          <a:prstGeom prst="roundRect">
            <a:avLst>
              <a:gd name="adj" fmla="val 7273"/>
            </a:avLst>
          </a:prstGeom>
          <a:solidFill>
            <a:srgbClr val="1B3A4B"/>
          </a:solidFill>
          <a:ln/>
        </p:spPr>
      </p:sp>
      <p:sp>
        <p:nvSpPr>
          <p:cNvPr id="26" name="Text 19"/>
          <p:cNvSpPr/>
          <p:nvPr/>
        </p:nvSpPr>
        <p:spPr>
          <a:xfrm>
            <a:off x="868680" y="4663440"/>
            <a:ext cx="10753344" cy="1005840"/>
          </a:xfrm>
          <a:prstGeom prst="rect">
            <a:avLst/>
          </a:prstGeom>
          <a:noFill/>
          <a:ln/>
        </p:spPr>
        <p:txBody>
          <a:bodyPr wrap="square" lIns="0" tIns="0" rIns="0" bIns="0" rtlCol="0" anchor="ctr"/>
          <a:lstStyle/>
          <a:p>
            <a:pPr marL="0" indent="0">
              <a:lnSpc>
                <a:spcPct val="120000"/>
              </a:lnSpc>
              <a:buNone/>
            </a:pPr>
            <a:r>
              <a:rPr lang="en-US" sz="1300" b="1" dirty="0">
                <a:solidFill>
                  <a:srgbClr val="F2B441"/>
                </a:solidFill>
                <a:latin typeface="Calibri" pitchFamily="34" charset="0"/>
                <a:ea typeface="Calibri" pitchFamily="34" charset="-122"/>
                <a:cs typeface="Calibri" pitchFamily="34" charset="-120"/>
              </a:rPr>
              <a:t>The Need: </a:t>
            </a:r>
            <a:r>
              <a:rPr lang="en-US" sz="1300" dirty="0">
                <a:solidFill>
                  <a:srgbClr val="FFFFFF"/>
                </a:solidFill>
                <a:latin typeface="Calibri" pitchFamily="34" charset="0"/>
                <a:ea typeface="Calibri" pitchFamily="34" charset="-122"/>
                <a:cs typeface="Calibri" pitchFamily="34" charset="-120"/>
              </a:rPr>
              <a:t>An efficient, user-friendly, technology-driven solution to automate food ordering, token generation, and canteen management — helping administrators manage operations effectively.</a:t>
            </a:r>
            <a:endParaRPr lang="en-US" sz="1300" dirty="0"/>
          </a:p>
        </p:txBody>
      </p:sp>
      <p:sp>
        <p:nvSpPr>
          <p:cNvPr id="27" name="Text 20"/>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28" name="Text 21"/>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star.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502920"/>
            <a:ext cx="10058400" cy="54864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Objectives with Justification</a:t>
            </a:r>
            <a:endParaRPr lang="en-US" sz="3000" dirty="0"/>
          </a:p>
        </p:txBody>
      </p:sp>
      <p:sp>
        <p:nvSpPr>
          <p:cNvPr id="5" name="Text 2"/>
          <p:cNvSpPr/>
          <p:nvPr/>
        </p:nvSpPr>
        <p:spPr>
          <a:xfrm>
            <a:off x="548640" y="1417320"/>
            <a:ext cx="5486400" cy="274320"/>
          </a:xfrm>
          <a:prstGeom prst="rect">
            <a:avLst/>
          </a:prstGeom>
          <a:noFill/>
          <a:ln/>
        </p:spPr>
        <p:txBody>
          <a:bodyPr wrap="square" lIns="0" tIns="0" rIns="0" bIns="0" rtlCol="0" anchor="ctr"/>
          <a:lstStyle/>
          <a:p>
            <a:pPr marL="0" indent="0">
              <a:buNone/>
            </a:pPr>
            <a:r>
              <a:rPr lang="en-US" sz="1200" b="1" kern="0" spc="120" dirty="0">
                <a:solidFill>
                  <a:srgbClr val="1B3A4B"/>
                </a:solidFill>
                <a:latin typeface="Calibri" pitchFamily="34" charset="0"/>
                <a:ea typeface="Calibri" pitchFamily="34" charset="-122"/>
                <a:cs typeface="Calibri" pitchFamily="34" charset="-120"/>
              </a:rPr>
              <a:t>PRIMARY OBJECTIVES</a:t>
            </a:r>
            <a:endParaRPr lang="en-US" sz="1200" dirty="0"/>
          </a:p>
        </p:txBody>
      </p:sp>
      <p:sp>
        <p:nvSpPr>
          <p:cNvPr id="6" name="Shape 3"/>
          <p:cNvSpPr/>
          <p:nvPr/>
        </p:nvSpPr>
        <p:spPr>
          <a:xfrm>
            <a:off x="548640" y="1828800"/>
            <a:ext cx="384048" cy="384048"/>
          </a:xfrm>
          <a:prstGeom prst="ellipse">
            <a:avLst/>
          </a:prstGeom>
          <a:solidFill>
            <a:srgbClr val="E2823D"/>
          </a:solidFill>
          <a:ln/>
        </p:spPr>
      </p:sp>
      <p:pic>
        <p:nvPicPr>
          <p:cNvPr id="7" name="Image 1" descr="/home/claude/canteen/icons/check.png"/>
          <p:cNvPicPr>
            <a:picLocks noChangeAspect="1"/>
          </p:cNvPicPr>
          <p:nvPr/>
        </p:nvPicPr>
        <p:blipFill>
          <a:blip r:embed="rId4"/>
          <a:stretch>
            <a:fillRect/>
          </a:stretch>
        </p:blipFill>
        <p:spPr>
          <a:xfrm>
            <a:off x="610088" y="1890248"/>
            <a:ext cx="261153" cy="261153"/>
          </a:xfrm>
          <a:prstGeom prst="rect">
            <a:avLst/>
          </a:prstGeom>
        </p:spPr>
      </p:pic>
      <p:sp>
        <p:nvSpPr>
          <p:cNvPr id="8" name="Text 4"/>
          <p:cNvSpPr/>
          <p:nvPr/>
        </p:nvSpPr>
        <p:spPr>
          <a:xfrm>
            <a:off x="1051560" y="1773936"/>
            <a:ext cx="2834640" cy="594360"/>
          </a:xfrm>
          <a:prstGeom prst="rect">
            <a:avLst/>
          </a:prstGeom>
          <a:noFill/>
          <a:ln/>
        </p:spPr>
        <p:txBody>
          <a:bodyPr wrap="square" lIns="0" tIns="0" rIns="0" bIns="0" rtlCol="0" anchor="ctr"/>
          <a:lstStyle/>
          <a:p>
            <a:pPr marL="0" indent="0">
              <a:lnSpc>
                <a:spcPct val="110000"/>
              </a:lnSpc>
              <a:buNone/>
            </a:pPr>
            <a:r>
              <a:rPr lang="en-US" sz="1250" dirty="0">
                <a:solidFill>
                  <a:srgbClr val="20303A"/>
                </a:solidFill>
                <a:latin typeface="Calibri" pitchFamily="34" charset="0"/>
                <a:ea typeface="Calibri" pitchFamily="34" charset="-122"/>
                <a:cs typeface="Calibri" pitchFamily="34" charset="-120"/>
              </a:rPr>
              <a:t>Digital platform for online food ordering</a:t>
            </a:r>
            <a:endParaRPr lang="en-US" sz="1250" dirty="0"/>
          </a:p>
        </p:txBody>
      </p:sp>
      <p:sp>
        <p:nvSpPr>
          <p:cNvPr id="9" name="Shape 5"/>
          <p:cNvSpPr/>
          <p:nvPr/>
        </p:nvSpPr>
        <p:spPr>
          <a:xfrm>
            <a:off x="4114800" y="1828800"/>
            <a:ext cx="384048" cy="384048"/>
          </a:xfrm>
          <a:prstGeom prst="ellipse">
            <a:avLst/>
          </a:prstGeom>
          <a:solidFill>
            <a:srgbClr val="E2823D"/>
          </a:solidFill>
          <a:ln/>
        </p:spPr>
      </p:sp>
      <p:pic>
        <p:nvPicPr>
          <p:cNvPr id="10" name="Image 2" descr="/home/claude/canteen/icons/check.png"/>
          <p:cNvPicPr>
            <a:picLocks noChangeAspect="1"/>
          </p:cNvPicPr>
          <p:nvPr/>
        </p:nvPicPr>
        <p:blipFill>
          <a:blip r:embed="rId4"/>
          <a:stretch>
            <a:fillRect/>
          </a:stretch>
        </p:blipFill>
        <p:spPr>
          <a:xfrm>
            <a:off x="4176248" y="1890248"/>
            <a:ext cx="261153" cy="261153"/>
          </a:xfrm>
          <a:prstGeom prst="rect">
            <a:avLst/>
          </a:prstGeom>
        </p:spPr>
      </p:pic>
      <p:sp>
        <p:nvSpPr>
          <p:cNvPr id="11" name="Text 6"/>
          <p:cNvSpPr/>
          <p:nvPr/>
        </p:nvSpPr>
        <p:spPr>
          <a:xfrm>
            <a:off x="4617720" y="1773936"/>
            <a:ext cx="2834640" cy="594360"/>
          </a:xfrm>
          <a:prstGeom prst="rect">
            <a:avLst/>
          </a:prstGeom>
          <a:noFill/>
          <a:ln/>
        </p:spPr>
        <p:txBody>
          <a:bodyPr wrap="square" lIns="0" tIns="0" rIns="0" bIns="0" rtlCol="0" anchor="ctr"/>
          <a:lstStyle/>
          <a:p>
            <a:pPr marL="0" indent="0">
              <a:lnSpc>
                <a:spcPct val="110000"/>
              </a:lnSpc>
              <a:buNone/>
            </a:pPr>
            <a:r>
              <a:rPr lang="en-US" sz="1250" dirty="0">
                <a:solidFill>
                  <a:srgbClr val="20303A"/>
                </a:solidFill>
                <a:latin typeface="Calibri" pitchFamily="34" charset="0"/>
                <a:ea typeface="Calibri" pitchFamily="34" charset="-122"/>
                <a:cs typeface="Calibri" pitchFamily="34" charset="-120"/>
              </a:rPr>
              <a:t>Unique digital tokens for food collection</a:t>
            </a:r>
            <a:endParaRPr lang="en-US" sz="1250" dirty="0"/>
          </a:p>
        </p:txBody>
      </p:sp>
      <p:sp>
        <p:nvSpPr>
          <p:cNvPr id="12" name="Shape 7"/>
          <p:cNvSpPr/>
          <p:nvPr/>
        </p:nvSpPr>
        <p:spPr>
          <a:xfrm>
            <a:off x="548640" y="2670048"/>
            <a:ext cx="384048" cy="384048"/>
          </a:xfrm>
          <a:prstGeom prst="ellipse">
            <a:avLst/>
          </a:prstGeom>
          <a:solidFill>
            <a:srgbClr val="E2823D"/>
          </a:solidFill>
          <a:ln/>
        </p:spPr>
      </p:sp>
      <p:pic>
        <p:nvPicPr>
          <p:cNvPr id="13" name="Image 3" descr="/home/claude/canteen/icons/check.png"/>
          <p:cNvPicPr>
            <a:picLocks noChangeAspect="1"/>
          </p:cNvPicPr>
          <p:nvPr/>
        </p:nvPicPr>
        <p:blipFill>
          <a:blip r:embed="rId4"/>
          <a:stretch>
            <a:fillRect/>
          </a:stretch>
        </p:blipFill>
        <p:spPr>
          <a:xfrm>
            <a:off x="610088" y="2731496"/>
            <a:ext cx="261153" cy="261153"/>
          </a:xfrm>
          <a:prstGeom prst="rect">
            <a:avLst/>
          </a:prstGeom>
        </p:spPr>
      </p:pic>
      <p:sp>
        <p:nvSpPr>
          <p:cNvPr id="14" name="Text 8"/>
          <p:cNvSpPr/>
          <p:nvPr/>
        </p:nvSpPr>
        <p:spPr>
          <a:xfrm>
            <a:off x="1051560" y="2615184"/>
            <a:ext cx="2834640" cy="594360"/>
          </a:xfrm>
          <a:prstGeom prst="rect">
            <a:avLst/>
          </a:prstGeom>
          <a:noFill/>
          <a:ln/>
        </p:spPr>
        <p:txBody>
          <a:bodyPr wrap="square" lIns="0" tIns="0" rIns="0" bIns="0" rtlCol="0" anchor="ctr"/>
          <a:lstStyle/>
          <a:p>
            <a:pPr marL="0" indent="0">
              <a:lnSpc>
                <a:spcPct val="110000"/>
              </a:lnSpc>
              <a:buNone/>
            </a:pPr>
            <a:r>
              <a:rPr lang="en-US" sz="1250" dirty="0">
                <a:solidFill>
                  <a:srgbClr val="20303A"/>
                </a:solidFill>
                <a:latin typeface="Calibri" pitchFamily="34" charset="0"/>
                <a:ea typeface="Calibri" pitchFamily="34" charset="-122"/>
                <a:cs typeface="Calibri" pitchFamily="34" charset="-120"/>
              </a:rPr>
              <a:t>Menu browsing with dietary filters</a:t>
            </a:r>
            <a:endParaRPr lang="en-US" sz="1250" dirty="0"/>
          </a:p>
        </p:txBody>
      </p:sp>
      <p:sp>
        <p:nvSpPr>
          <p:cNvPr id="15" name="Shape 9"/>
          <p:cNvSpPr/>
          <p:nvPr/>
        </p:nvSpPr>
        <p:spPr>
          <a:xfrm>
            <a:off x="4114800" y="2670048"/>
            <a:ext cx="384048" cy="384048"/>
          </a:xfrm>
          <a:prstGeom prst="ellipse">
            <a:avLst/>
          </a:prstGeom>
          <a:solidFill>
            <a:srgbClr val="E2823D"/>
          </a:solidFill>
          <a:ln/>
        </p:spPr>
      </p:sp>
      <p:pic>
        <p:nvPicPr>
          <p:cNvPr id="16" name="Image 4" descr="/home/claude/canteen/icons/check.png"/>
          <p:cNvPicPr>
            <a:picLocks noChangeAspect="1"/>
          </p:cNvPicPr>
          <p:nvPr/>
        </p:nvPicPr>
        <p:blipFill>
          <a:blip r:embed="rId4"/>
          <a:stretch>
            <a:fillRect/>
          </a:stretch>
        </p:blipFill>
        <p:spPr>
          <a:xfrm>
            <a:off x="4176248" y="2731496"/>
            <a:ext cx="261153" cy="261153"/>
          </a:xfrm>
          <a:prstGeom prst="rect">
            <a:avLst/>
          </a:prstGeom>
        </p:spPr>
      </p:pic>
      <p:sp>
        <p:nvSpPr>
          <p:cNvPr id="17" name="Text 10"/>
          <p:cNvSpPr/>
          <p:nvPr/>
        </p:nvSpPr>
        <p:spPr>
          <a:xfrm>
            <a:off x="4617720" y="2615184"/>
            <a:ext cx="2834640" cy="594360"/>
          </a:xfrm>
          <a:prstGeom prst="rect">
            <a:avLst/>
          </a:prstGeom>
          <a:noFill/>
          <a:ln/>
        </p:spPr>
        <p:txBody>
          <a:bodyPr wrap="square" lIns="0" tIns="0" rIns="0" bIns="0" rtlCol="0" anchor="ctr"/>
          <a:lstStyle/>
          <a:p>
            <a:pPr marL="0" indent="0">
              <a:lnSpc>
                <a:spcPct val="110000"/>
              </a:lnSpc>
              <a:buNone/>
            </a:pPr>
            <a:r>
              <a:rPr lang="en-US" sz="1250" dirty="0">
                <a:solidFill>
                  <a:srgbClr val="20303A"/>
                </a:solidFill>
                <a:latin typeface="Calibri" pitchFamily="34" charset="0"/>
                <a:ea typeface="Calibri" pitchFamily="34" charset="-122"/>
                <a:cs typeface="Calibri" pitchFamily="34" charset="-120"/>
              </a:rPr>
              <a:t>QR-based token verification</a:t>
            </a:r>
            <a:endParaRPr lang="en-US" sz="1250" dirty="0"/>
          </a:p>
        </p:txBody>
      </p:sp>
      <p:sp>
        <p:nvSpPr>
          <p:cNvPr id="18" name="Shape 11"/>
          <p:cNvSpPr/>
          <p:nvPr/>
        </p:nvSpPr>
        <p:spPr>
          <a:xfrm>
            <a:off x="548640" y="3511296"/>
            <a:ext cx="384048" cy="384048"/>
          </a:xfrm>
          <a:prstGeom prst="ellipse">
            <a:avLst/>
          </a:prstGeom>
          <a:solidFill>
            <a:srgbClr val="E2823D"/>
          </a:solidFill>
          <a:ln/>
        </p:spPr>
      </p:sp>
      <p:pic>
        <p:nvPicPr>
          <p:cNvPr id="19" name="Image 5" descr="/home/claude/canteen/icons/check.png"/>
          <p:cNvPicPr>
            <a:picLocks noChangeAspect="1"/>
          </p:cNvPicPr>
          <p:nvPr/>
        </p:nvPicPr>
        <p:blipFill>
          <a:blip r:embed="rId4"/>
          <a:stretch>
            <a:fillRect/>
          </a:stretch>
        </p:blipFill>
        <p:spPr>
          <a:xfrm>
            <a:off x="610088" y="3572744"/>
            <a:ext cx="261153" cy="261153"/>
          </a:xfrm>
          <a:prstGeom prst="rect">
            <a:avLst/>
          </a:prstGeom>
        </p:spPr>
      </p:pic>
      <p:sp>
        <p:nvSpPr>
          <p:cNvPr id="20" name="Text 12"/>
          <p:cNvSpPr/>
          <p:nvPr/>
        </p:nvSpPr>
        <p:spPr>
          <a:xfrm>
            <a:off x="1051560" y="3456432"/>
            <a:ext cx="2834640" cy="594360"/>
          </a:xfrm>
          <a:prstGeom prst="rect">
            <a:avLst/>
          </a:prstGeom>
          <a:noFill/>
          <a:ln/>
        </p:spPr>
        <p:txBody>
          <a:bodyPr wrap="square" lIns="0" tIns="0" rIns="0" bIns="0" rtlCol="0" anchor="ctr"/>
          <a:lstStyle/>
          <a:p>
            <a:pPr marL="0" indent="0">
              <a:lnSpc>
                <a:spcPct val="110000"/>
              </a:lnSpc>
              <a:buNone/>
            </a:pPr>
            <a:r>
              <a:rPr lang="en-US" sz="1250" dirty="0">
                <a:solidFill>
                  <a:srgbClr val="20303A"/>
                </a:solidFill>
                <a:latin typeface="Calibri" pitchFamily="34" charset="0"/>
                <a:ea typeface="Calibri" pitchFamily="34" charset="-122"/>
                <a:cs typeface="Calibri" pitchFamily="34" charset="-120"/>
              </a:rPr>
              <a:t>Order history &amp; billing records</a:t>
            </a:r>
            <a:endParaRPr lang="en-US" sz="1250" dirty="0"/>
          </a:p>
        </p:txBody>
      </p:sp>
      <p:sp>
        <p:nvSpPr>
          <p:cNvPr id="21" name="Shape 13"/>
          <p:cNvSpPr/>
          <p:nvPr/>
        </p:nvSpPr>
        <p:spPr>
          <a:xfrm>
            <a:off x="4114800" y="3511296"/>
            <a:ext cx="384048" cy="384048"/>
          </a:xfrm>
          <a:prstGeom prst="ellipse">
            <a:avLst/>
          </a:prstGeom>
          <a:solidFill>
            <a:srgbClr val="E2823D"/>
          </a:solidFill>
          <a:ln/>
        </p:spPr>
      </p:sp>
      <p:pic>
        <p:nvPicPr>
          <p:cNvPr id="22" name="Image 6" descr="/home/claude/canteen/icons/check.png"/>
          <p:cNvPicPr>
            <a:picLocks noChangeAspect="1"/>
          </p:cNvPicPr>
          <p:nvPr/>
        </p:nvPicPr>
        <p:blipFill>
          <a:blip r:embed="rId4"/>
          <a:stretch>
            <a:fillRect/>
          </a:stretch>
        </p:blipFill>
        <p:spPr>
          <a:xfrm>
            <a:off x="4176248" y="3572744"/>
            <a:ext cx="261153" cy="261153"/>
          </a:xfrm>
          <a:prstGeom prst="rect">
            <a:avLst/>
          </a:prstGeom>
        </p:spPr>
      </p:pic>
      <p:sp>
        <p:nvSpPr>
          <p:cNvPr id="23" name="Text 14"/>
          <p:cNvSpPr/>
          <p:nvPr/>
        </p:nvSpPr>
        <p:spPr>
          <a:xfrm>
            <a:off x="4617720" y="3456432"/>
            <a:ext cx="2834640" cy="594360"/>
          </a:xfrm>
          <a:prstGeom prst="rect">
            <a:avLst/>
          </a:prstGeom>
          <a:noFill/>
          <a:ln/>
        </p:spPr>
        <p:txBody>
          <a:bodyPr wrap="square" lIns="0" tIns="0" rIns="0" bIns="0" rtlCol="0" anchor="ctr"/>
          <a:lstStyle/>
          <a:p>
            <a:pPr marL="0" indent="0">
              <a:lnSpc>
                <a:spcPct val="110000"/>
              </a:lnSpc>
              <a:buNone/>
            </a:pPr>
            <a:r>
              <a:rPr lang="en-US" sz="1250" dirty="0">
                <a:solidFill>
                  <a:srgbClr val="20303A"/>
                </a:solidFill>
                <a:latin typeface="Calibri" pitchFamily="34" charset="0"/>
                <a:ea typeface="Calibri" pitchFamily="34" charset="-122"/>
                <a:cs typeface="Calibri" pitchFamily="34" charset="-120"/>
              </a:rPr>
              <a:t>Notifications on order status</a:t>
            </a:r>
            <a:endParaRPr lang="en-US" sz="1250" dirty="0"/>
          </a:p>
        </p:txBody>
      </p:sp>
      <p:sp>
        <p:nvSpPr>
          <p:cNvPr id="24" name="Shape 15"/>
          <p:cNvSpPr/>
          <p:nvPr/>
        </p:nvSpPr>
        <p:spPr>
          <a:xfrm>
            <a:off x="548640" y="4352544"/>
            <a:ext cx="384048" cy="384048"/>
          </a:xfrm>
          <a:prstGeom prst="ellipse">
            <a:avLst/>
          </a:prstGeom>
          <a:solidFill>
            <a:srgbClr val="E2823D"/>
          </a:solidFill>
          <a:ln/>
        </p:spPr>
      </p:sp>
      <p:pic>
        <p:nvPicPr>
          <p:cNvPr id="25" name="Image 7" descr="/home/claude/canteen/icons/check.png"/>
          <p:cNvPicPr>
            <a:picLocks noChangeAspect="1"/>
          </p:cNvPicPr>
          <p:nvPr/>
        </p:nvPicPr>
        <p:blipFill>
          <a:blip r:embed="rId4"/>
          <a:stretch>
            <a:fillRect/>
          </a:stretch>
        </p:blipFill>
        <p:spPr>
          <a:xfrm>
            <a:off x="610088" y="4413992"/>
            <a:ext cx="261153" cy="261153"/>
          </a:xfrm>
          <a:prstGeom prst="rect">
            <a:avLst/>
          </a:prstGeom>
        </p:spPr>
      </p:pic>
      <p:sp>
        <p:nvSpPr>
          <p:cNvPr id="26" name="Text 16"/>
          <p:cNvSpPr/>
          <p:nvPr/>
        </p:nvSpPr>
        <p:spPr>
          <a:xfrm>
            <a:off x="1051560" y="4297680"/>
            <a:ext cx="2834640" cy="594360"/>
          </a:xfrm>
          <a:prstGeom prst="rect">
            <a:avLst/>
          </a:prstGeom>
          <a:noFill/>
          <a:ln/>
        </p:spPr>
        <p:txBody>
          <a:bodyPr wrap="square" lIns="0" tIns="0" rIns="0" bIns="0" rtlCol="0" anchor="ctr"/>
          <a:lstStyle/>
          <a:p>
            <a:pPr marL="0" indent="0">
              <a:lnSpc>
                <a:spcPct val="110000"/>
              </a:lnSpc>
              <a:buNone/>
            </a:pPr>
            <a:r>
              <a:rPr lang="en-US" sz="1250" dirty="0">
                <a:solidFill>
                  <a:srgbClr val="20303A"/>
                </a:solidFill>
                <a:latin typeface="Calibri" pitchFamily="34" charset="0"/>
                <a:ea typeface="Calibri" pitchFamily="34" charset="-122"/>
                <a:cs typeface="Calibri" pitchFamily="34" charset="-120"/>
              </a:rPr>
              <a:t>Admin dashboard for full system control</a:t>
            </a:r>
            <a:endParaRPr lang="en-US" sz="1250" dirty="0"/>
          </a:p>
        </p:txBody>
      </p:sp>
      <p:sp>
        <p:nvSpPr>
          <p:cNvPr id="27" name="Shape 17"/>
          <p:cNvSpPr/>
          <p:nvPr/>
        </p:nvSpPr>
        <p:spPr>
          <a:xfrm>
            <a:off x="7726680" y="1417320"/>
            <a:ext cx="3931920" cy="4617720"/>
          </a:xfrm>
          <a:prstGeom prst="roundRect">
            <a:avLst>
              <a:gd name="adj" fmla="val 1860"/>
            </a:avLst>
          </a:prstGeom>
          <a:solidFill>
            <a:srgbClr val="1B3A4B"/>
          </a:solidFill>
          <a:ln/>
          <a:effectLst>
            <a:outerShdw blurRad="88900" dist="25400" dir="5400000" algn="bl" rotWithShape="0">
              <a:srgbClr val="1B3A4B">
                <a:alpha val="14000"/>
              </a:srgbClr>
            </a:outerShdw>
          </a:effectLst>
        </p:spPr>
      </p:sp>
      <p:sp>
        <p:nvSpPr>
          <p:cNvPr id="28" name="Shape 18"/>
          <p:cNvSpPr/>
          <p:nvPr/>
        </p:nvSpPr>
        <p:spPr>
          <a:xfrm>
            <a:off x="8001000" y="1691640"/>
            <a:ext cx="502920" cy="502920"/>
          </a:xfrm>
          <a:prstGeom prst="ellipse">
            <a:avLst/>
          </a:prstGeom>
          <a:solidFill>
            <a:srgbClr val="E2823D"/>
          </a:solidFill>
          <a:ln/>
        </p:spPr>
      </p:sp>
      <p:pic>
        <p:nvPicPr>
          <p:cNvPr id="29" name="Image 8" descr="/home/claude/canteen/icons/lightbulb.png"/>
          <p:cNvPicPr>
            <a:picLocks noChangeAspect="1"/>
          </p:cNvPicPr>
          <p:nvPr/>
        </p:nvPicPr>
        <p:blipFill>
          <a:blip r:embed="rId5"/>
          <a:stretch>
            <a:fillRect/>
          </a:stretch>
        </p:blipFill>
        <p:spPr>
          <a:xfrm>
            <a:off x="8081467" y="1772107"/>
            <a:ext cx="341986" cy="341986"/>
          </a:xfrm>
          <a:prstGeom prst="rect">
            <a:avLst/>
          </a:prstGeom>
        </p:spPr>
      </p:pic>
      <p:sp>
        <p:nvSpPr>
          <p:cNvPr id="30" name="Text 19"/>
          <p:cNvSpPr/>
          <p:nvPr/>
        </p:nvSpPr>
        <p:spPr>
          <a:xfrm>
            <a:off x="8001000" y="2331720"/>
            <a:ext cx="347472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Justification</a:t>
            </a:r>
            <a:endParaRPr lang="en-US" sz="1800" dirty="0"/>
          </a:p>
        </p:txBody>
      </p:sp>
      <p:sp>
        <p:nvSpPr>
          <p:cNvPr id="31" name="Text 20"/>
          <p:cNvSpPr/>
          <p:nvPr/>
        </p:nvSpPr>
        <p:spPr>
          <a:xfrm>
            <a:off x="8001000" y="2834640"/>
            <a:ext cx="3474720" cy="3017520"/>
          </a:xfrm>
          <a:prstGeom prst="rect">
            <a:avLst/>
          </a:prstGeom>
          <a:noFill/>
          <a:ln/>
        </p:spPr>
        <p:txBody>
          <a:bodyPr wrap="square" lIns="0" tIns="0" rIns="0" bIns="0" rtlCol="0" anchor="t"/>
          <a:lstStyle/>
          <a:p>
            <a:pPr marL="0" indent="0">
              <a:lnSpc>
                <a:spcPct val="130000"/>
              </a:lnSpc>
              <a:buNone/>
            </a:pPr>
            <a:r>
              <a:rPr lang="en-US" sz="1300" dirty="0">
                <a:solidFill>
                  <a:srgbClr val="D7E2E6"/>
                </a:solidFill>
                <a:latin typeface="Calibri" pitchFamily="34" charset="0"/>
                <a:ea typeface="Calibri" pitchFamily="34" charset="-122"/>
                <a:cs typeface="Calibri" pitchFamily="34" charset="-120"/>
              </a:rPr>
              <a:t>These features help reduce waiting time, eliminate manual errors, and improve order management. Together they enhance user convenience, streamline canteen operations, and promote a more organized, technology-driven canteen experience for both students and staff.</a:t>
            </a:r>
            <a:endParaRPr lang="en-US" sz="1300" dirty="0"/>
          </a:p>
        </p:txBody>
      </p:sp>
      <p:sp>
        <p:nvSpPr>
          <p:cNvPr id="32" name="Text 21"/>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33" name="Text 22"/>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cogs.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502920"/>
            <a:ext cx="10058400" cy="54864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Technology Stack</a:t>
            </a:r>
            <a:endParaRPr lang="en-US" sz="3000" dirty="0"/>
          </a:p>
        </p:txBody>
      </p:sp>
      <p:sp>
        <p:nvSpPr>
          <p:cNvPr id="5" name="Shape 2"/>
          <p:cNvSpPr/>
          <p:nvPr/>
        </p:nvSpPr>
        <p:spPr>
          <a:xfrm>
            <a:off x="548640" y="1508760"/>
            <a:ext cx="3611880" cy="1965960"/>
          </a:xfrm>
          <a:prstGeom prst="roundRect">
            <a:avLst>
              <a:gd name="adj" fmla="val 3721"/>
            </a:avLst>
          </a:prstGeom>
          <a:solidFill>
            <a:srgbClr val="F5F7F8"/>
          </a:solidFill>
          <a:ln/>
          <a:effectLst>
            <a:outerShdw blurRad="88900" dist="25400" dir="5400000" algn="bl" rotWithShape="0">
              <a:srgbClr val="1B3A4B">
                <a:alpha val="14000"/>
              </a:srgbClr>
            </a:outerShdw>
          </a:effectLst>
        </p:spPr>
      </p:sp>
      <p:sp>
        <p:nvSpPr>
          <p:cNvPr id="6" name="Shape 3"/>
          <p:cNvSpPr/>
          <p:nvPr/>
        </p:nvSpPr>
        <p:spPr>
          <a:xfrm>
            <a:off x="804672" y="1737360"/>
            <a:ext cx="502920" cy="502920"/>
          </a:xfrm>
          <a:prstGeom prst="ellipse">
            <a:avLst/>
          </a:prstGeom>
          <a:solidFill>
            <a:srgbClr val="E2823D"/>
          </a:solidFill>
          <a:ln/>
        </p:spPr>
      </p:sp>
      <p:pic>
        <p:nvPicPr>
          <p:cNvPr id="7" name="Image 1" descr="/home/claude/canteen/icons/react.png"/>
          <p:cNvPicPr>
            <a:picLocks noChangeAspect="1"/>
          </p:cNvPicPr>
          <p:nvPr/>
        </p:nvPicPr>
        <p:blipFill>
          <a:blip r:embed="rId4"/>
          <a:stretch>
            <a:fillRect/>
          </a:stretch>
        </p:blipFill>
        <p:spPr>
          <a:xfrm>
            <a:off x="885139" y="1817827"/>
            <a:ext cx="341986" cy="341986"/>
          </a:xfrm>
          <a:prstGeom prst="rect">
            <a:avLst/>
          </a:prstGeom>
        </p:spPr>
      </p:pic>
      <p:sp>
        <p:nvSpPr>
          <p:cNvPr id="8" name="Text 4"/>
          <p:cNvSpPr/>
          <p:nvPr/>
        </p:nvSpPr>
        <p:spPr>
          <a:xfrm>
            <a:off x="1463040" y="1737360"/>
            <a:ext cx="2514600" cy="50292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Frontend</a:t>
            </a:r>
            <a:endParaRPr lang="en-US" sz="1500" dirty="0"/>
          </a:p>
        </p:txBody>
      </p:sp>
      <p:sp>
        <p:nvSpPr>
          <p:cNvPr id="9" name="Text 5"/>
          <p:cNvSpPr/>
          <p:nvPr/>
        </p:nvSpPr>
        <p:spPr>
          <a:xfrm>
            <a:off x="804672" y="2377440"/>
            <a:ext cx="3099816" cy="960120"/>
          </a:xfrm>
          <a:prstGeom prst="rect">
            <a:avLst/>
          </a:prstGeom>
          <a:noFill/>
          <a:ln/>
        </p:spPr>
        <p:txBody>
          <a:bodyPr wrap="square" lIns="0" tIns="0" rIns="0" bIns="0" rtlCol="0" anchor="t"/>
          <a:lstStyle/>
          <a:p>
            <a:pPr marL="0" indent="0">
              <a:lnSpc>
                <a:spcPct val="120000"/>
              </a:lnSpc>
              <a:buNone/>
            </a:pPr>
            <a:r>
              <a:rPr lang="en-US" sz="1150" dirty="0">
                <a:solidFill>
                  <a:srgbClr val="20303A"/>
                </a:solidFill>
                <a:latin typeface="Calibri" pitchFamily="34" charset="0"/>
                <a:ea typeface="Calibri" pitchFamily="34" charset="-122"/>
                <a:cs typeface="Calibri" pitchFamily="34" charset="-120"/>
              </a:rPr>
              <a:t>React.js, HTML5, CSS3, JavaScript ES6+, React Router DOM, Bootstrap / Tailwind CSS</a:t>
            </a:r>
            <a:endParaRPr lang="en-US" sz="1150" dirty="0"/>
          </a:p>
        </p:txBody>
      </p:sp>
      <p:sp>
        <p:nvSpPr>
          <p:cNvPr id="10" name="Shape 6"/>
          <p:cNvSpPr/>
          <p:nvPr/>
        </p:nvSpPr>
        <p:spPr>
          <a:xfrm>
            <a:off x="4343400" y="1508760"/>
            <a:ext cx="3611880" cy="1965960"/>
          </a:xfrm>
          <a:prstGeom prst="roundRect">
            <a:avLst>
              <a:gd name="adj" fmla="val 3721"/>
            </a:avLst>
          </a:prstGeom>
          <a:solidFill>
            <a:srgbClr val="F5F7F8"/>
          </a:solidFill>
          <a:ln/>
          <a:effectLst>
            <a:outerShdw blurRad="88900" dist="25400" dir="5400000" algn="bl" rotWithShape="0">
              <a:srgbClr val="1B3A4B">
                <a:alpha val="14000"/>
              </a:srgbClr>
            </a:outerShdw>
          </a:effectLst>
        </p:spPr>
      </p:sp>
      <p:sp>
        <p:nvSpPr>
          <p:cNvPr id="11" name="Shape 7"/>
          <p:cNvSpPr/>
          <p:nvPr/>
        </p:nvSpPr>
        <p:spPr>
          <a:xfrm>
            <a:off x="4599432" y="1737360"/>
            <a:ext cx="502920" cy="502920"/>
          </a:xfrm>
          <a:prstGeom prst="ellipse">
            <a:avLst/>
          </a:prstGeom>
          <a:solidFill>
            <a:srgbClr val="E2823D"/>
          </a:solidFill>
          <a:ln/>
        </p:spPr>
      </p:sp>
      <p:pic>
        <p:nvPicPr>
          <p:cNvPr id="12" name="Image 2" descr="/home/claude/canteen/icons/server.png"/>
          <p:cNvPicPr>
            <a:picLocks noChangeAspect="1"/>
          </p:cNvPicPr>
          <p:nvPr/>
        </p:nvPicPr>
        <p:blipFill>
          <a:blip r:embed="rId5"/>
          <a:stretch>
            <a:fillRect/>
          </a:stretch>
        </p:blipFill>
        <p:spPr>
          <a:xfrm>
            <a:off x="4679899" y="1817827"/>
            <a:ext cx="341986" cy="341986"/>
          </a:xfrm>
          <a:prstGeom prst="rect">
            <a:avLst/>
          </a:prstGeom>
        </p:spPr>
      </p:pic>
      <p:sp>
        <p:nvSpPr>
          <p:cNvPr id="13" name="Text 8"/>
          <p:cNvSpPr/>
          <p:nvPr/>
        </p:nvSpPr>
        <p:spPr>
          <a:xfrm>
            <a:off x="5257800" y="1737360"/>
            <a:ext cx="2514600" cy="50292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Backend</a:t>
            </a:r>
            <a:endParaRPr lang="en-US" sz="1500" dirty="0"/>
          </a:p>
        </p:txBody>
      </p:sp>
      <p:sp>
        <p:nvSpPr>
          <p:cNvPr id="14" name="Text 9"/>
          <p:cNvSpPr/>
          <p:nvPr/>
        </p:nvSpPr>
        <p:spPr>
          <a:xfrm>
            <a:off x="4599432" y="2377440"/>
            <a:ext cx="3099816" cy="960120"/>
          </a:xfrm>
          <a:prstGeom prst="rect">
            <a:avLst/>
          </a:prstGeom>
          <a:noFill/>
          <a:ln/>
        </p:spPr>
        <p:txBody>
          <a:bodyPr wrap="square" lIns="0" tIns="0" rIns="0" bIns="0" rtlCol="0" anchor="t"/>
          <a:lstStyle/>
          <a:p>
            <a:pPr marL="0" indent="0">
              <a:lnSpc>
                <a:spcPct val="120000"/>
              </a:lnSpc>
              <a:buNone/>
            </a:pPr>
            <a:r>
              <a:rPr lang="en-US" sz="1150" dirty="0">
                <a:solidFill>
                  <a:srgbClr val="20303A"/>
                </a:solidFill>
                <a:latin typeface="Calibri" pitchFamily="34" charset="0"/>
                <a:ea typeface="Calibri" pitchFamily="34" charset="-122"/>
                <a:cs typeface="Calibri" pitchFamily="34" charset="-120"/>
              </a:rPr>
              <a:t>Node.js</a:t>
            </a:r>
            <a:endParaRPr lang="en-US" sz="1150" dirty="0"/>
          </a:p>
        </p:txBody>
      </p:sp>
      <p:pic>
        <p:nvPicPr>
          <p:cNvPr id="17" name="Image 3" descr="/home/claude/canteen/icons/database.png"/>
          <p:cNvPicPr>
            <a:picLocks noChangeAspect="1"/>
          </p:cNvPicPr>
          <p:nvPr/>
        </p:nvPicPr>
        <p:blipFill>
          <a:blip r:embed="rId6"/>
          <a:stretch>
            <a:fillRect/>
          </a:stretch>
        </p:blipFill>
        <p:spPr>
          <a:xfrm>
            <a:off x="8474659" y="1817827"/>
            <a:ext cx="341986" cy="341986"/>
          </a:xfrm>
          <a:prstGeom prst="rect">
            <a:avLst/>
          </a:prstGeom>
        </p:spPr>
      </p:pic>
      <p:sp>
        <p:nvSpPr>
          <p:cNvPr id="18" name="Text 12"/>
          <p:cNvSpPr/>
          <p:nvPr/>
        </p:nvSpPr>
        <p:spPr>
          <a:xfrm>
            <a:off x="9052560" y="1737360"/>
            <a:ext cx="2514600" cy="502920"/>
          </a:xfrm>
          <a:prstGeom prst="rect">
            <a:avLst/>
          </a:prstGeom>
          <a:noFill/>
          <a:ln/>
        </p:spPr>
        <p:txBody>
          <a:bodyPr wrap="square" lIns="0" tIns="0" rIns="0" bIns="0" rtlCol="0" anchor="ctr"/>
          <a:lstStyle/>
          <a:p>
            <a:pPr marL="0" indent="0">
              <a:buNone/>
            </a:pPr>
            <a:endParaRPr lang="en-US" sz="1500" dirty="0"/>
          </a:p>
        </p:txBody>
      </p:sp>
      <p:sp>
        <p:nvSpPr>
          <p:cNvPr id="19" name="Text 13"/>
          <p:cNvSpPr/>
          <p:nvPr/>
        </p:nvSpPr>
        <p:spPr>
          <a:xfrm>
            <a:off x="8394192" y="2377440"/>
            <a:ext cx="3099816" cy="960120"/>
          </a:xfrm>
          <a:prstGeom prst="rect">
            <a:avLst/>
          </a:prstGeom>
          <a:noFill/>
          <a:ln/>
        </p:spPr>
        <p:txBody>
          <a:bodyPr wrap="square" lIns="0" tIns="0" rIns="0" bIns="0" rtlCol="0" anchor="t"/>
          <a:lstStyle/>
          <a:p>
            <a:pPr marL="0" indent="0">
              <a:lnSpc>
                <a:spcPct val="120000"/>
              </a:lnSpc>
              <a:buNone/>
            </a:pPr>
            <a:endParaRPr lang="en-US" sz="1150" dirty="0"/>
          </a:p>
        </p:txBody>
      </p:sp>
      <p:sp>
        <p:nvSpPr>
          <p:cNvPr id="20" name="Shape 14"/>
          <p:cNvSpPr/>
          <p:nvPr/>
        </p:nvSpPr>
        <p:spPr>
          <a:xfrm>
            <a:off x="548640" y="3703320"/>
            <a:ext cx="3611880" cy="1965960"/>
          </a:xfrm>
          <a:prstGeom prst="roundRect">
            <a:avLst>
              <a:gd name="adj" fmla="val 3721"/>
            </a:avLst>
          </a:prstGeom>
          <a:solidFill>
            <a:srgbClr val="E8EEF1"/>
          </a:solidFill>
          <a:ln/>
          <a:effectLst>
            <a:outerShdw blurRad="88900" dist="25400" dir="5400000" algn="bl" rotWithShape="0">
              <a:srgbClr val="1B3A4B">
                <a:alpha val="14000"/>
              </a:srgbClr>
            </a:outerShdw>
          </a:effectLst>
        </p:spPr>
      </p:sp>
      <p:sp>
        <p:nvSpPr>
          <p:cNvPr id="21" name="Shape 15"/>
          <p:cNvSpPr/>
          <p:nvPr/>
        </p:nvSpPr>
        <p:spPr>
          <a:xfrm>
            <a:off x="804672" y="3931920"/>
            <a:ext cx="502920" cy="502920"/>
          </a:xfrm>
          <a:prstGeom prst="ellipse">
            <a:avLst/>
          </a:prstGeom>
          <a:solidFill>
            <a:srgbClr val="E2823D"/>
          </a:solidFill>
          <a:ln/>
        </p:spPr>
      </p:sp>
      <p:pic>
        <p:nvPicPr>
          <p:cNvPr id="22" name="Image 4" descr="/home/claude/canteen/icons/layer.png"/>
          <p:cNvPicPr>
            <a:picLocks noChangeAspect="1"/>
          </p:cNvPicPr>
          <p:nvPr/>
        </p:nvPicPr>
        <p:blipFill>
          <a:blip r:embed="rId7"/>
          <a:stretch>
            <a:fillRect/>
          </a:stretch>
        </p:blipFill>
        <p:spPr>
          <a:xfrm>
            <a:off x="885139" y="4012387"/>
            <a:ext cx="341986" cy="341986"/>
          </a:xfrm>
          <a:prstGeom prst="rect">
            <a:avLst/>
          </a:prstGeom>
        </p:spPr>
      </p:pic>
      <p:sp>
        <p:nvSpPr>
          <p:cNvPr id="23" name="Text 16"/>
          <p:cNvSpPr/>
          <p:nvPr/>
        </p:nvSpPr>
        <p:spPr>
          <a:xfrm>
            <a:off x="1463040" y="3931920"/>
            <a:ext cx="2514600" cy="50292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State Management</a:t>
            </a:r>
            <a:endParaRPr lang="en-US" sz="1500" dirty="0"/>
          </a:p>
        </p:txBody>
      </p:sp>
      <p:sp>
        <p:nvSpPr>
          <p:cNvPr id="24" name="Text 17"/>
          <p:cNvSpPr/>
          <p:nvPr/>
        </p:nvSpPr>
        <p:spPr>
          <a:xfrm>
            <a:off x="804672" y="4572000"/>
            <a:ext cx="3099816" cy="960120"/>
          </a:xfrm>
          <a:prstGeom prst="rect">
            <a:avLst/>
          </a:prstGeom>
          <a:noFill/>
          <a:ln/>
        </p:spPr>
        <p:txBody>
          <a:bodyPr wrap="square" lIns="0" tIns="0" rIns="0" bIns="0" rtlCol="0" anchor="t"/>
          <a:lstStyle/>
          <a:p>
            <a:pPr marL="0" indent="0">
              <a:lnSpc>
                <a:spcPct val="120000"/>
              </a:lnSpc>
              <a:buNone/>
            </a:pPr>
            <a:r>
              <a:rPr lang="en-US" sz="1150" dirty="0">
                <a:solidFill>
                  <a:srgbClr val="20303A"/>
                </a:solidFill>
                <a:latin typeface="Calibri" pitchFamily="34" charset="0"/>
                <a:ea typeface="Calibri" pitchFamily="34" charset="-122"/>
                <a:cs typeface="Calibri" pitchFamily="34" charset="-120"/>
              </a:rPr>
              <a:t>React Context API </a:t>
            </a:r>
            <a:endParaRPr lang="en-US" sz="1150" dirty="0"/>
          </a:p>
        </p:txBody>
      </p:sp>
      <p:sp>
        <p:nvSpPr>
          <p:cNvPr id="28" name="Text 20"/>
          <p:cNvSpPr/>
          <p:nvPr/>
        </p:nvSpPr>
        <p:spPr>
          <a:xfrm>
            <a:off x="5257800" y="3931920"/>
            <a:ext cx="2514600" cy="502920"/>
          </a:xfrm>
          <a:prstGeom prst="rect">
            <a:avLst/>
          </a:prstGeom>
          <a:noFill/>
          <a:ln/>
        </p:spPr>
        <p:txBody>
          <a:bodyPr wrap="square" lIns="0" tIns="0" rIns="0" bIns="0" rtlCol="0" anchor="ctr"/>
          <a:lstStyle/>
          <a:p>
            <a:pPr marL="0" indent="0">
              <a:buNone/>
            </a:pPr>
            <a:endParaRPr lang="en-US" sz="1500" dirty="0"/>
          </a:p>
        </p:txBody>
      </p:sp>
      <p:sp>
        <p:nvSpPr>
          <p:cNvPr id="29" name="Text 21"/>
          <p:cNvSpPr/>
          <p:nvPr/>
        </p:nvSpPr>
        <p:spPr>
          <a:xfrm>
            <a:off x="4599432" y="4572000"/>
            <a:ext cx="3099816" cy="960120"/>
          </a:xfrm>
          <a:prstGeom prst="rect">
            <a:avLst/>
          </a:prstGeom>
          <a:noFill/>
          <a:ln/>
        </p:spPr>
        <p:txBody>
          <a:bodyPr wrap="square" lIns="0" tIns="0" rIns="0" bIns="0" rtlCol="0" anchor="t"/>
          <a:lstStyle/>
          <a:p>
            <a:pPr marL="0" indent="0">
              <a:lnSpc>
                <a:spcPct val="120000"/>
              </a:lnSpc>
              <a:buNone/>
            </a:pPr>
            <a:endParaRPr lang="en-US" sz="1150" dirty="0"/>
          </a:p>
        </p:txBody>
      </p:sp>
      <p:sp>
        <p:nvSpPr>
          <p:cNvPr id="30" name="Shape 22"/>
          <p:cNvSpPr/>
          <p:nvPr/>
        </p:nvSpPr>
        <p:spPr>
          <a:xfrm>
            <a:off x="4343400" y="3703320"/>
            <a:ext cx="3611880" cy="1965960"/>
          </a:xfrm>
          <a:prstGeom prst="roundRect">
            <a:avLst>
              <a:gd name="adj" fmla="val 3721"/>
            </a:avLst>
          </a:prstGeom>
          <a:solidFill>
            <a:srgbClr val="E8EEF1"/>
          </a:solidFill>
          <a:ln/>
          <a:effectLst>
            <a:outerShdw blurRad="88900" dist="25400" dir="5400000" algn="bl" rotWithShape="0">
              <a:srgbClr val="1B3A4B">
                <a:alpha val="14000"/>
              </a:srgbClr>
            </a:outerShdw>
          </a:effectLst>
        </p:spPr>
      </p:sp>
      <p:sp>
        <p:nvSpPr>
          <p:cNvPr id="31" name="Shape 23"/>
          <p:cNvSpPr/>
          <p:nvPr/>
        </p:nvSpPr>
        <p:spPr>
          <a:xfrm>
            <a:off x="4599432" y="3898517"/>
            <a:ext cx="502920" cy="502920"/>
          </a:xfrm>
          <a:prstGeom prst="ellipse">
            <a:avLst/>
          </a:prstGeom>
          <a:solidFill>
            <a:srgbClr val="E2823D"/>
          </a:solidFill>
          <a:ln/>
        </p:spPr>
      </p:sp>
      <p:pic>
        <p:nvPicPr>
          <p:cNvPr id="32" name="Image 6" descr="/home/claude/canteen/icons/code.png"/>
          <p:cNvPicPr>
            <a:picLocks noChangeAspect="1"/>
          </p:cNvPicPr>
          <p:nvPr/>
        </p:nvPicPr>
        <p:blipFill>
          <a:blip r:embed="rId8"/>
          <a:stretch>
            <a:fillRect/>
          </a:stretch>
        </p:blipFill>
        <p:spPr>
          <a:xfrm>
            <a:off x="4679899" y="3978984"/>
            <a:ext cx="341986" cy="341986"/>
          </a:xfrm>
          <a:prstGeom prst="rect">
            <a:avLst/>
          </a:prstGeom>
        </p:spPr>
      </p:pic>
      <p:sp>
        <p:nvSpPr>
          <p:cNvPr id="33" name="Text 24"/>
          <p:cNvSpPr/>
          <p:nvPr/>
        </p:nvSpPr>
        <p:spPr>
          <a:xfrm>
            <a:off x="5157385" y="3851453"/>
            <a:ext cx="2514600" cy="50292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Development &amp; Testing</a:t>
            </a:r>
            <a:endParaRPr lang="en-US" sz="1500" dirty="0"/>
          </a:p>
        </p:txBody>
      </p:sp>
      <p:sp>
        <p:nvSpPr>
          <p:cNvPr id="34" name="Text 25"/>
          <p:cNvSpPr/>
          <p:nvPr/>
        </p:nvSpPr>
        <p:spPr>
          <a:xfrm>
            <a:off x="4599432" y="4572000"/>
            <a:ext cx="3099816" cy="960120"/>
          </a:xfrm>
          <a:prstGeom prst="rect">
            <a:avLst/>
          </a:prstGeom>
          <a:noFill/>
          <a:ln/>
        </p:spPr>
        <p:txBody>
          <a:bodyPr wrap="square" lIns="0" tIns="0" rIns="0" bIns="0" rtlCol="0" anchor="t"/>
          <a:lstStyle/>
          <a:p>
            <a:pPr marL="0" indent="0">
              <a:lnSpc>
                <a:spcPct val="120000"/>
              </a:lnSpc>
              <a:buNone/>
            </a:pPr>
            <a:r>
              <a:rPr lang="en-US" sz="1150" dirty="0">
                <a:solidFill>
                  <a:srgbClr val="20303A"/>
                </a:solidFill>
                <a:latin typeface="Calibri" pitchFamily="34" charset="0"/>
                <a:ea typeface="Calibri" pitchFamily="34" charset="-122"/>
                <a:cs typeface="Calibri" pitchFamily="34" charset="-120"/>
              </a:rPr>
              <a:t>Visual Studio Code, npm, Postman</a:t>
            </a:r>
            <a:endParaRPr lang="en-US" sz="1150" dirty="0"/>
          </a:p>
        </p:txBody>
      </p:sp>
      <p:sp>
        <p:nvSpPr>
          <p:cNvPr id="35" name="Text 26"/>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36" name="Text 27"/>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layer.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502920"/>
            <a:ext cx="10058400" cy="54864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System Architecture</a:t>
            </a:r>
            <a:endParaRPr lang="en-US" sz="3000" dirty="0"/>
          </a:p>
        </p:txBody>
      </p:sp>
      <p:sp>
        <p:nvSpPr>
          <p:cNvPr id="5" name="Shape 2"/>
          <p:cNvSpPr/>
          <p:nvPr/>
        </p:nvSpPr>
        <p:spPr>
          <a:xfrm>
            <a:off x="1371600" y="1417320"/>
            <a:ext cx="9418320" cy="731520"/>
          </a:xfrm>
          <a:prstGeom prst="roundRect">
            <a:avLst>
              <a:gd name="adj" fmla="val 8750"/>
            </a:avLst>
          </a:prstGeom>
          <a:solidFill>
            <a:srgbClr val="F5F7F8"/>
          </a:solidFill>
          <a:ln/>
          <a:effectLst>
            <a:outerShdw blurRad="88900" dist="25400" dir="5400000" algn="bl" rotWithShape="0">
              <a:srgbClr val="1B3A4B">
                <a:alpha val="14000"/>
              </a:srgbClr>
            </a:outerShdw>
          </a:effectLst>
        </p:spPr>
      </p:sp>
      <p:sp>
        <p:nvSpPr>
          <p:cNvPr id="6" name="Shape 3"/>
          <p:cNvSpPr/>
          <p:nvPr/>
        </p:nvSpPr>
        <p:spPr>
          <a:xfrm>
            <a:off x="1536192" y="1527048"/>
            <a:ext cx="512064" cy="512064"/>
          </a:xfrm>
          <a:prstGeom prst="ellipse">
            <a:avLst/>
          </a:prstGeom>
          <a:solidFill>
            <a:srgbClr val="1B3A4B"/>
          </a:solidFill>
          <a:ln/>
        </p:spPr>
      </p:sp>
      <p:pic>
        <p:nvPicPr>
          <p:cNvPr id="7" name="Image 1" descr="/home/claude/canteen/icons/users.png"/>
          <p:cNvPicPr>
            <a:picLocks noChangeAspect="1"/>
          </p:cNvPicPr>
          <p:nvPr/>
        </p:nvPicPr>
        <p:blipFill>
          <a:blip r:embed="rId4"/>
          <a:stretch>
            <a:fillRect/>
          </a:stretch>
        </p:blipFill>
        <p:spPr>
          <a:xfrm>
            <a:off x="1618122" y="1608978"/>
            <a:ext cx="348204" cy="348204"/>
          </a:xfrm>
          <a:prstGeom prst="rect">
            <a:avLst/>
          </a:prstGeom>
        </p:spPr>
      </p:pic>
      <p:sp>
        <p:nvSpPr>
          <p:cNvPr id="8" name="Text 4"/>
          <p:cNvSpPr/>
          <p:nvPr/>
        </p:nvSpPr>
        <p:spPr>
          <a:xfrm>
            <a:off x="2286000" y="1490472"/>
            <a:ext cx="3383280" cy="585216"/>
          </a:xfrm>
          <a:prstGeom prst="rect">
            <a:avLst/>
          </a:prstGeom>
          <a:noFill/>
          <a:ln/>
        </p:spPr>
        <p:txBody>
          <a:bodyPr wrap="square" lIns="0" tIns="0" rIns="0" bIns="0" rtlCol="0" anchor="ctr"/>
          <a:lstStyle/>
          <a:p>
            <a:pPr marL="0" indent="0">
              <a:lnSpc>
                <a:spcPct val="100000"/>
              </a:lnSpc>
              <a:buNone/>
            </a:pPr>
            <a:r>
              <a:rPr lang="en-US" sz="1300" b="1" dirty="0">
                <a:solidFill>
                  <a:srgbClr val="1B3A4B"/>
                </a:solidFill>
                <a:latin typeface="Cambria" pitchFamily="34" charset="0"/>
                <a:ea typeface="Cambria" pitchFamily="34" charset="-122"/>
                <a:cs typeface="Cambria" pitchFamily="34" charset="-120"/>
              </a:rPr>
              <a:t>1.  User Layer</a:t>
            </a:r>
            <a:endParaRPr lang="en-US" sz="1300" dirty="0"/>
          </a:p>
        </p:txBody>
      </p:sp>
      <p:sp>
        <p:nvSpPr>
          <p:cNvPr id="9" name="Text 5"/>
          <p:cNvSpPr/>
          <p:nvPr/>
        </p:nvSpPr>
        <p:spPr>
          <a:xfrm>
            <a:off x="5806440" y="1490472"/>
            <a:ext cx="4846320" cy="585216"/>
          </a:xfrm>
          <a:prstGeom prst="rect">
            <a:avLst/>
          </a:prstGeom>
          <a:noFill/>
          <a:ln/>
        </p:spPr>
        <p:txBody>
          <a:bodyPr wrap="square" lIns="0" tIns="0" rIns="0" bIns="0" rtlCol="0" anchor="ctr"/>
          <a:lstStyle/>
          <a:p>
            <a:pPr marL="0" indent="0">
              <a:lnSpc>
                <a:spcPct val="105000"/>
              </a:lnSpc>
              <a:buNone/>
            </a:pPr>
            <a:r>
              <a:rPr lang="en-US" sz="1150" dirty="0">
                <a:solidFill>
                  <a:srgbClr val="20303A"/>
                </a:solidFill>
                <a:latin typeface="Calibri" pitchFamily="34" charset="0"/>
                <a:ea typeface="Calibri" pitchFamily="34" charset="-122"/>
                <a:cs typeface="Calibri" pitchFamily="34" charset="-120"/>
              </a:rPr>
              <a:t>Students and administrators access the system through the web application.</a:t>
            </a:r>
            <a:endParaRPr lang="en-US" sz="1150" dirty="0"/>
          </a:p>
        </p:txBody>
      </p:sp>
      <p:pic>
        <p:nvPicPr>
          <p:cNvPr id="10" name="Image 2" descr="/home/claude/canteen/icons/arrowdown.png"/>
          <p:cNvPicPr>
            <a:picLocks noChangeAspect="1"/>
          </p:cNvPicPr>
          <p:nvPr/>
        </p:nvPicPr>
        <p:blipFill>
          <a:blip r:embed="rId5"/>
          <a:stretch>
            <a:fillRect/>
          </a:stretch>
        </p:blipFill>
        <p:spPr>
          <a:xfrm>
            <a:off x="1682496" y="2167128"/>
            <a:ext cx="219456" cy="164592"/>
          </a:xfrm>
          <a:prstGeom prst="rect">
            <a:avLst/>
          </a:prstGeom>
        </p:spPr>
      </p:pic>
      <p:sp>
        <p:nvSpPr>
          <p:cNvPr id="11" name="Shape 6"/>
          <p:cNvSpPr/>
          <p:nvPr/>
        </p:nvSpPr>
        <p:spPr>
          <a:xfrm>
            <a:off x="1536192" y="2130552"/>
            <a:ext cx="512064" cy="237744"/>
          </a:xfrm>
          <a:prstGeom prst="ellipse">
            <a:avLst/>
          </a:prstGeom>
          <a:solidFill>
            <a:srgbClr val="E2823D"/>
          </a:solidFill>
          <a:ln/>
        </p:spPr>
      </p:sp>
      <p:pic>
        <p:nvPicPr>
          <p:cNvPr id="12" name="Image 3" descr="/home/claude/canteen/icons/arrowdown.png"/>
          <p:cNvPicPr>
            <a:picLocks noChangeAspect="1"/>
          </p:cNvPicPr>
          <p:nvPr/>
        </p:nvPicPr>
        <p:blipFill>
          <a:blip r:embed="rId5"/>
          <a:stretch>
            <a:fillRect/>
          </a:stretch>
        </p:blipFill>
        <p:spPr>
          <a:xfrm>
            <a:off x="1682496" y="2157984"/>
            <a:ext cx="219456" cy="182880"/>
          </a:xfrm>
          <a:prstGeom prst="rect">
            <a:avLst/>
          </a:prstGeom>
        </p:spPr>
      </p:pic>
      <p:sp>
        <p:nvSpPr>
          <p:cNvPr id="13" name="Shape 7"/>
          <p:cNvSpPr/>
          <p:nvPr/>
        </p:nvSpPr>
        <p:spPr>
          <a:xfrm>
            <a:off x="1371600" y="2304288"/>
            <a:ext cx="9418320" cy="731520"/>
          </a:xfrm>
          <a:prstGeom prst="roundRect">
            <a:avLst>
              <a:gd name="adj" fmla="val 8750"/>
            </a:avLst>
          </a:prstGeom>
          <a:solidFill>
            <a:srgbClr val="E8EEF1"/>
          </a:solidFill>
          <a:ln/>
          <a:effectLst>
            <a:outerShdw blurRad="88900" dist="25400" dir="5400000" algn="bl" rotWithShape="0">
              <a:srgbClr val="1B3A4B">
                <a:alpha val="14000"/>
              </a:srgbClr>
            </a:outerShdw>
          </a:effectLst>
        </p:spPr>
      </p:sp>
      <p:sp>
        <p:nvSpPr>
          <p:cNvPr id="14" name="Shape 8"/>
          <p:cNvSpPr/>
          <p:nvPr/>
        </p:nvSpPr>
        <p:spPr>
          <a:xfrm>
            <a:off x="1536192" y="2414016"/>
            <a:ext cx="512064" cy="512064"/>
          </a:xfrm>
          <a:prstGeom prst="ellipse">
            <a:avLst/>
          </a:prstGeom>
          <a:solidFill>
            <a:srgbClr val="1B3A4B"/>
          </a:solidFill>
          <a:ln/>
        </p:spPr>
      </p:sp>
      <p:pic>
        <p:nvPicPr>
          <p:cNvPr id="15" name="Image 4" descr="/home/claude/canteen/icons/desktop.png"/>
          <p:cNvPicPr>
            <a:picLocks noChangeAspect="1"/>
          </p:cNvPicPr>
          <p:nvPr/>
        </p:nvPicPr>
        <p:blipFill>
          <a:blip r:embed="rId6"/>
          <a:stretch>
            <a:fillRect/>
          </a:stretch>
        </p:blipFill>
        <p:spPr>
          <a:xfrm>
            <a:off x="1618122" y="2495946"/>
            <a:ext cx="348204" cy="348204"/>
          </a:xfrm>
          <a:prstGeom prst="rect">
            <a:avLst/>
          </a:prstGeom>
        </p:spPr>
      </p:pic>
      <p:sp>
        <p:nvSpPr>
          <p:cNvPr id="16" name="Text 9"/>
          <p:cNvSpPr/>
          <p:nvPr/>
        </p:nvSpPr>
        <p:spPr>
          <a:xfrm>
            <a:off x="2286000" y="2377440"/>
            <a:ext cx="3383280" cy="585216"/>
          </a:xfrm>
          <a:prstGeom prst="rect">
            <a:avLst/>
          </a:prstGeom>
          <a:noFill/>
          <a:ln/>
        </p:spPr>
        <p:txBody>
          <a:bodyPr wrap="square" lIns="0" tIns="0" rIns="0" bIns="0" rtlCol="0" anchor="ctr"/>
          <a:lstStyle/>
          <a:p>
            <a:pPr marL="0" indent="0">
              <a:lnSpc>
                <a:spcPct val="100000"/>
              </a:lnSpc>
              <a:buNone/>
            </a:pPr>
            <a:r>
              <a:rPr lang="en-US" sz="1300" b="1" dirty="0">
                <a:solidFill>
                  <a:srgbClr val="1B3A4B"/>
                </a:solidFill>
                <a:latin typeface="Cambria" pitchFamily="34" charset="0"/>
                <a:ea typeface="Cambria" pitchFamily="34" charset="-122"/>
                <a:cs typeface="Cambria" pitchFamily="34" charset="-120"/>
              </a:rPr>
              <a:t>2.  Frontend Layer — React.js</a:t>
            </a:r>
            <a:endParaRPr lang="en-US" sz="1300" dirty="0"/>
          </a:p>
        </p:txBody>
      </p:sp>
      <p:sp>
        <p:nvSpPr>
          <p:cNvPr id="17" name="Text 10"/>
          <p:cNvSpPr/>
          <p:nvPr/>
        </p:nvSpPr>
        <p:spPr>
          <a:xfrm>
            <a:off x="5806440" y="2377440"/>
            <a:ext cx="4846320" cy="585216"/>
          </a:xfrm>
          <a:prstGeom prst="rect">
            <a:avLst/>
          </a:prstGeom>
          <a:noFill/>
          <a:ln/>
        </p:spPr>
        <p:txBody>
          <a:bodyPr wrap="square" lIns="0" tIns="0" rIns="0" bIns="0" rtlCol="0" anchor="ctr"/>
          <a:lstStyle/>
          <a:p>
            <a:pPr marL="0" indent="0">
              <a:lnSpc>
                <a:spcPct val="105000"/>
              </a:lnSpc>
              <a:buNone/>
            </a:pPr>
            <a:r>
              <a:rPr lang="en-US" sz="1150" dirty="0">
                <a:solidFill>
                  <a:srgbClr val="20303A"/>
                </a:solidFill>
                <a:latin typeface="Calibri" pitchFamily="34" charset="0"/>
                <a:ea typeface="Calibri" pitchFamily="34" charset="-122"/>
                <a:cs typeface="Calibri" pitchFamily="34" charset="-120"/>
              </a:rPr>
              <a:t>Provides interfaces for menu browsing, food ordering, token generation, and admin management.</a:t>
            </a:r>
            <a:endParaRPr lang="en-US" sz="1150" dirty="0"/>
          </a:p>
        </p:txBody>
      </p:sp>
      <p:pic>
        <p:nvPicPr>
          <p:cNvPr id="18" name="Image 5" descr="/home/claude/canteen/icons/arrowdown.png"/>
          <p:cNvPicPr>
            <a:picLocks noChangeAspect="1"/>
          </p:cNvPicPr>
          <p:nvPr/>
        </p:nvPicPr>
        <p:blipFill>
          <a:blip r:embed="rId5"/>
          <a:stretch>
            <a:fillRect/>
          </a:stretch>
        </p:blipFill>
        <p:spPr>
          <a:xfrm>
            <a:off x="1682496" y="3054096"/>
            <a:ext cx="219456" cy="164592"/>
          </a:xfrm>
          <a:prstGeom prst="rect">
            <a:avLst/>
          </a:prstGeom>
        </p:spPr>
      </p:pic>
      <p:sp>
        <p:nvSpPr>
          <p:cNvPr id="19" name="Shape 11"/>
          <p:cNvSpPr/>
          <p:nvPr/>
        </p:nvSpPr>
        <p:spPr>
          <a:xfrm>
            <a:off x="1536192" y="3017520"/>
            <a:ext cx="512064" cy="237744"/>
          </a:xfrm>
          <a:prstGeom prst="ellipse">
            <a:avLst/>
          </a:prstGeom>
          <a:solidFill>
            <a:srgbClr val="E2823D"/>
          </a:solidFill>
          <a:ln/>
        </p:spPr>
      </p:sp>
      <p:pic>
        <p:nvPicPr>
          <p:cNvPr id="20" name="Image 6" descr="/home/claude/canteen/icons/arrowdown.png"/>
          <p:cNvPicPr>
            <a:picLocks noChangeAspect="1"/>
          </p:cNvPicPr>
          <p:nvPr/>
        </p:nvPicPr>
        <p:blipFill>
          <a:blip r:embed="rId5"/>
          <a:stretch>
            <a:fillRect/>
          </a:stretch>
        </p:blipFill>
        <p:spPr>
          <a:xfrm>
            <a:off x="1682496" y="3044952"/>
            <a:ext cx="219456" cy="182880"/>
          </a:xfrm>
          <a:prstGeom prst="rect">
            <a:avLst/>
          </a:prstGeom>
        </p:spPr>
      </p:pic>
      <p:sp>
        <p:nvSpPr>
          <p:cNvPr id="21" name="Shape 12"/>
          <p:cNvSpPr/>
          <p:nvPr/>
        </p:nvSpPr>
        <p:spPr>
          <a:xfrm>
            <a:off x="1371600" y="3191256"/>
            <a:ext cx="9418320" cy="731520"/>
          </a:xfrm>
          <a:prstGeom prst="roundRect">
            <a:avLst>
              <a:gd name="adj" fmla="val 8750"/>
            </a:avLst>
          </a:prstGeom>
          <a:solidFill>
            <a:srgbClr val="F5F7F8"/>
          </a:solidFill>
          <a:ln/>
          <a:effectLst>
            <a:outerShdw blurRad="88900" dist="25400" dir="5400000" algn="bl" rotWithShape="0">
              <a:srgbClr val="1B3A4B">
                <a:alpha val="14000"/>
              </a:srgbClr>
            </a:outerShdw>
          </a:effectLst>
        </p:spPr>
      </p:sp>
      <p:sp>
        <p:nvSpPr>
          <p:cNvPr id="22" name="Shape 13"/>
          <p:cNvSpPr/>
          <p:nvPr/>
        </p:nvSpPr>
        <p:spPr>
          <a:xfrm>
            <a:off x="1536192" y="3300984"/>
            <a:ext cx="512064" cy="512064"/>
          </a:xfrm>
          <a:prstGeom prst="ellipse">
            <a:avLst/>
          </a:prstGeom>
          <a:solidFill>
            <a:srgbClr val="1B3A4B"/>
          </a:solidFill>
          <a:ln/>
        </p:spPr>
      </p:sp>
      <p:pic>
        <p:nvPicPr>
          <p:cNvPr id="23" name="Image 7" descr="/home/claude/canteen/icons/server.png"/>
          <p:cNvPicPr>
            <a:picLocks noChangeAspect="1"/>
          </p:cNvPicPr>
          <p:nvPr/>
        </p:nvPicPr>
        <p:blipFill>
          <a:blip r:embed="rId7"/>
          <a:stretch>
            <a:fillRect/>
          </a:stretch>
        </p:blipFill>
        <p:spPr>
          <a:xfrm>
            <a:off x="1618122" y="3382914"/>
            <a:ext cx="348204" cy="348204"/>
          </a:xfrm>
          <a:prstGeom prst="rect">
            <a:avLst/>
          </a:prstGeom>
        </p:spPr>
      </p:pic>
      <p:sp>
        <p:nvSpPr>
          <p:cNvPr id="24" name="Text 14"/>
          <p:cNvSpPr/>
          <p:nvPr/>
        </p:nvSpPr>
        <p:spPr>
          <a:xfrm>
            <a:off x="2286000" y="3264408"/>
            <a:ext cx="3383280" cy="585216"/>
          </a:xfrm>
          <a:prstGeom prst="rect">
            <a:avLst/>
          </a:prstGeom>
          <a:noFill/>
          <a:ln/>
        </p:spPr>
        <p:txBody>
          <a:bodyPr wrap="square" lIns="0" tIns="0" rIns="0" bIns="0" rtlCol="0" anchor="ctr"/>
          <a:lstStyle/>
          <a:p>
            <a:pPr marL="0" indent="0">
              <a:lnSpc>
                <a:spcPct val="100000"/>
              </a:lnSpc>
              <a:buNone/>
            </a:pPr>
            <a:r>
              <a:rPr lang="en-US" sz="1300" b="1" dirty="0">
                <a:solidFill>
                  <a:srgbClr val="1B3A4B"/>
                </a:solidFill>
                <a:latin typeface="Cambria" pitchFamily="34" charset="0"/>
                <a:ea typeface="Cambria" pitchFamily="34" charset="-122"/>
                <a:cs typeface="Cambria" pitchFamily="34" charset="-120"/>
              </a:rPr>
              <a:t>3.  Backend Layer — Node.js </a:t>
            </a:r>
            <a:endParaRPr lang="en-US" sz="1300" dirty="0"/>
          </a:p>
        </p:txBody>
      </p:sp>
      <p:sp>
        <p:nvSpPr>
          <p:cNvPr id="25" name="Text 15"/>
          <p:cNvSpPr/>
          <p:nvPr/>
        </p:nvSpPr>
        <p:spPr>
          <a:xfrm>
            <a:off x="5806440" y="3264408"/>
            <a:ext cx="4846320" cy="585216"/>
          </a:xfrm>
          <a:prstGeom prst="rect">
            <a:avLst/>
          </a:prstGeom>
          <a:noFill/>
          <a:ln/>
        </p:spPr>
        <p:txBody>
          <a:bodyPr wrap="square" lIns="0" tIns="0" rIns="0" bIns="0" rtlCol="0" anchor="ctr"/>
          <a:lstStyle/>
          <a:p>
            <a:pPr marL="0" indent="0">
              <a:lnSpc>
                <a:spcPct val="105000"/>
              </a:lnSpc>
              <a:buNone/>
            </a:pPr>
            <a:r>
              <a:rPr lang="en-US" sz="1150" dirty="0">
                <a:solidFill>
                  <a:srgbClr val="20303A"/>
                </a:solidFill>
                <a:latin typeface="Calibri" pitchFamily="34" charset="0"/>
                <a:ea typeface="Calibri" pitchFamily="34" charset="-122"/>
                <a:cs typeface="Calibri" pitchFamily="34" charset="-120"/>
              </a:rPr>
              <a:t>Processes requests, manages orders, generates tokens, and handles business logic.</a:t>
            </a:r>
            <a:endParaRPr lang="en-US" sz="1150" dirty="0"/>
          </a:p>
        </p:txBody>
      </p:sp>
      <p:pic>
        <p:nvPicPr>
          <p:cNvPr id="26" name="Image 8" descr="/home/claude/canteen/icons/arrowdown.png"/>
          <p:cNvPicPr>
            <a:picLocks noChangeAspect="1"/>
          </p:cNvPicPr>
          <p:nvPr/>
        </p:nvPicPr>
        <p:blipFill>
          <a:blip r:embed="rId5"/>
          <a:stretch>
            <a:fillRect/>
          </a:stretch>
        </p:blipFill>
        <p:spPr>
          <a:xfrm>
            <a:off x="1682496" y="3941064"/>
            <a:ext cx="219456" cy="164592"/>
          </a:xfrm>
          <a:prstGeom prst="rect">
            <a:avLst/>
          </a:prstGeom>
        </p:spPr>
      </p:pic>
      <p:sp>
        <p:nvSpPr>
          <p:cNvPr id="27" name="Shape 16"/>
          <p:cNvSpPr/>
          <p:nvPr/>
        </p:nvSpPr>
        <p:spPr>
          <a:xfrm>
            <a:off x="1536192" y="3904488"/>
            <a:ext cx="512064" cy="237744"/>
          </a:xfrm>
          <a:prstGeom prst="ellipse">
            <a:avLst/>
          </a:prstGeom>
          <a:solidFill>
            <a:srgbClr val="E2823D"/>
          </a:solidFill>
          <a:ln/>
        </p:spPr>
      </p:sp>
      <p:pic>
        <p:nvPicPr>
          <p:cNvPr id="28" name="Image 9" descr="/home/claude/canteen/icons/arrowdown.png"/>
          <p:cNvPicPr>
            <a:picLocks noChangeAspect="1"/>
          </p:cNvPicPr>
          <p:nvPr/>
        </p:nvPicPr>
        <p:blipFill>
          <a:blip r:embed="rId5"/>
          <a:stretch>
            <a:fillRect/>
          </a:stretch>
        </p:blipFill>
        <p:spPr>
          <a:xfrm>
            <a:off x="1682496" y="3931920"/>
            <a:ext cx="219456" cy="182880"/>
          </a:xfrm>
          <a:prstGeom prst="rect">
            <a:avLst/>
          </a:prstGeom>
        </p:spPr>
      </p:pic>
      <p:sp>
        <p:nvSpPr>
          <p:cNvPr id="32" name="Text 19"/>
          <p:cNvSpPr/>
          <p:nvPr/>
        </p:nvSpPr>
        <p:spPr>
          <a:xfrm>
            <a:off x="2286000" y="4151376"/>
            <a:ext cx="3383280" cy="585216"/>
          </a:xfrm>
          <a:prstGeom prst="rect">
            <a:avLst/>
          </a:prstGeom>
          <a:noFill/>
          <a:ln/>
        </p:spPr>
        <p:txBody>
          <a:bodyPr wrap="square" lIns="0" tIns="0" rIns="0" bIns="0" rtlCol="0" anchor="ctr"/>
          <a:lstStyle/>
          <a:p>
            <a:pPr marL="0" indent="0">
              <a:lnSpc>
                <a:spcPct val="100000"/>
              </a:lnSpc>
              <a:buNone/>
            </a:pPr>
            <a:endParaRPr lang="en-US" sz="1300" dirty="0"/>
          </a:p>
        </p:txBody>
      </p:sp>
      <p:sp>
        <p:nvSpPr>
          <p:cNvPr id="33" name="Text 20"/>
          <p:cNvSpPr/>
          <p:nvPr/>
        </p:nvSpPr>
        <p:spPr>
          <a:xfrm>
            <a:off x="5806440" y="4151376"/>
            <a:ext cx="4846320" cy="585216"/>
          </a:xfrm>
          <a:prstGeom prst="rect">
            <a:avLst/>
          </a:prstGeom>
          <a:noFill/>
          <a:ln/>
        </p:spPr>
        <p:txBody>
          <a:bodyPr wrap="square" lIns="0" tIns="0" rIns="0" bIns="0" rtlCol="0" anchor="ctr"/>
          <a:lstStyle/>
          <a:p>
            <a:pPr marL="0" indent="0">
              <a:lnSpc>
                <a:spcPct val="105000"/>
              </a:lnSpc>
              <a:buNone/>
            </a:pPr>
            <a:endParaRPr lang="en-US" sz="1150" dirty="0"/>
          </a:p>
        </p:txBody>
      </p:sp>
      <p:pic>
        <p:nvPicPr>
          <p:cNvPr id="34" name="Image 11" descr="/home/claude/canteen/icons/arrowdown.png"/>
          <p:cNvPicPr>
            <a:picLocks noChangeAspect="1"/>
          </p:cNvPicPr>
          <p:nvPr/>
        </p:nvPicPr>
        <p:blipFill>
          <a:blip r:embed="rId5"/>
          <a:stretch>
            <a:fillRect/>
          </a:stretch>
        </p:blipFill>
        <p:spPr>
          <a:xfrm>
            <a:off x="1682496" y="4828032"/>
            <a:ext cx="219456" cy="164592"/>
          </a:xfrm>
          <a:prstGeom prst="rect">
            <a:avLst/>
          </a:prstGeom>
        </p:spPr>
      </p:pic>
      <p:sp>
        <p:nvSpPr>
          <p:cNvPr id="37" name="Shape 22"/>
          <p:cNvSpPr/>
          <p:nvPr/>
        </p:nvSpPr>
        <p:spPr>
          <a:xfrm>
            <a:off x="1371600" y="4125299"/>
            <a:ext cx="9418320" cy="731520"/>
          </a:xfrm>
          <a:prstGeom prst="roundRect">
            <a:avLst>
              <a:gd name="adj" fmla="val 8750"/>
            </a:avLst>
          </a:prstGeom>
          <a:solidFill>
            <a:srgbClr val="F5F7F8"/>
          </a:solidFill>
          <a:ln/>
          <a:effectLst>
            <a:outerShdw blurRad="88900" dist="25400" dir="5400000" algn="bl" rotWithShape="0">
              <a:srgbClr val="1B3A4B">
                <a:alpha val="14000"/>
              </a:srgbClr>
            </a:outerShdw>
          </a:effectLst>
        </p:spPr>
      </p:sp>
      <p:sp>
        <p:nvSpPr>
          <p:cNvPr id="38" name="Shape 23"/>
          <p:cNvSpPr/>
          <p:nvPr/>
        </p:nvSpPr>
        <p:spPr>
          <a:xfrm>
            <a:off x="1536192" y="4295987"/>
            <a:ext cx="512064" cy="512064"/>
          </a:xfrm>
          <a:prstGeom prst="ellipse">
            <a:avLst/>
          </a:prstGeom>
          <a:solidFill>
            <a:srgbClr val="1B3A4B"/>
          </a:solidFill>
          <a:ln/>
        </p:spPr>
      </p:sp>
      <p:pic>
        <p:nvPicPr>
          <p:cNvPr id="39" name="Image 13" descr="/home/claude/canteen/icons/bell.png"/>
          <p:cNvPicPr>
            <a:picLocks noChangeAspect="1"/>
          </p:cNvPicPr>
          <p:nvPr/>
        </p:nvPicPr>
        <p:blipFill>
          <a:blip r:embed="rId8"/>
          <a:stretch>
            <a:fillRect/>
          </a:stretch>
        </p:blipFill>
        <p:spPr>
          <a:xfrm>
            <a:off x="1618122" y="4377917"/>
            <a:ext cx="348204" cy="348204"/>
          </a:xfrm>
          <a:prstGeom prst="rect">
            <a:avLst/>
          </a:prstGeom>
        </p:spPr>
      </p:pic>
      <p:sp>
        <p:nvSpPr>
          <p:cNvPr id="40" name="Text 24"/>
          <p:cNvSpPr/>
          <p:nvPr/>
        </p:nvSpPr>
        <p:spPr>
          <a:xfrm>
            <a:off x="2286000" y="4114800"/>
            <a:ext cx="3383280" cy="585216"/>
          </a:xfrm>
          <a:prstGeom prst="rect">
            <a:avLst/>
          </a:prstGeom>
          <a:noFill/>
          <a:ln/>
        </p:spPr>
        <p:txBody>
          <a:bodyPr wrap="square" lIns="0" tIns="0" rIns="0" bIns="0" rtlCol="0" anchor="ctr"/>
          <a:lstStyle/>
          <a:p>
            <a:pPr marL="0" indent="0">
              <a:lnSpc>
                <a:spcPct val="100000"/>
              </a:lnSpc>
              <a:buNone/>
            </a:pPr>
            <a:r>
              <a:rPr lang="en-US" sz="1300" b="1" dirty="0">
                <a:solidFill>
                  <a:srgbClr val="1B3A4B"/>
                </a:solidFill>
                <a:latin typeface="Cambria" pitchFamily="34" charset="0"/>
                <a:ea typeface="Cambria" pitchFamily="34" charset="-122"/>
                <a:cs typeface="Cambria" pitchFamily="34" charset="-120"/>
              </a:rPr>
              <a:t>4.  Output Layer</a:t>
            </a:r>
            <a:endParaRPr lang="en-US" sz="1300" dirty="0"/>
          </a:p>
        </p:txBody>
      </p:sp>
      <p:sp>
        <p:nvSpPr>
          <p:cNvPr id="41" name="Text 25"/>
          <p:cNvSpPr/>
          <p:nvPr/>
        </p:nvSpPr>
        <p:spPr>
          <a:xfrm>
            <a:off x="5806440" y="4198451"/>
            <a:ext cx="4846320" cy="585216"/>
          </a:xfrm>
          <a:prstGeom prst="rect">
            <a:avLst/>
          </a:prstGeom>
          <a:noFill/>
          <a:ln/>
        </p:spPr>
        <p:txBody>
          <a:bodyPr wrap="square" lIns="0" tIns="0" rIns="0" bIns="0" rtlCol="0" anchor="ctr"/>
          <a:lstStyle/>
          <a:p>
            <a:pPr marL="0" indent="0">
              <a:lnSpc>
                <a:spcPct val="105000"/>
              </a:lnSpc>
              <a:buNone/>
            </a:pPr>
            <a:r>
              <a:rPr lang="en-US" sz="1150" dirty="0">
                <a:solidFill>
                  <a:srgbClr val="20303A"/>
                </a:solidFill>
                <a:latin typeface="Calibri" pitchFamily="34" charset="0"/>
                <a:ea typeface="Calibri" pitchFamily="34" charset="-122"/>
                <a:cs typeface="Calibri" pitchFamily="34" charset="-120"/>
              </a:rPr>
              <a:t>Displays order status, QR-based tokens, notifications, and billing information to users.</a:t>
            </a:r>
            <a:endParaRPr lang="en-US" sz="1150" dirty="0"/>
          </a:p>
        </p:txBody>
      </p:sp>
      <p:sp>
        <p:nvSpPr>
          <p:cNvPr id="42" name="Text 26"/>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43" name="Text 27"/>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route.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502920"/>
            <a:ext cx="10058400" cy="54864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Project Flow Diagram</a:t>
            </a:r>
            <a:endParaRPr lang="en-US" sz="3000" dirty="0"/>
          </a:p>
        </p:txBody>
      </p:sp>
      <p:sp>
        <p:nvSpPr>
          <p:cNvPr id="5" name="Text 2"/>
          <p:cNvSpPr/>
          <p:nvPr/>
        </p:nvSpPr>
        <p:spPr>
          <a:xfrm>
            <a:off x="548640" y="1371600"/>
            <a:ext cx="5486400" cy="274320"/>
          </a:xfrm>
          <a:prstGeom prst="rect">
            <a:avLst/>
          </a:prstGeom>
          <a:noFill/>
          <a:ln/>
        </p:spPr>
        <p:txBody>
          <a:bodyPr wrap="square" lIns="0" tIns="0" rIns="0" bIns="0" rtlCol="0" anchor="ctr"/>
          <a:lstStyle/>
          <a:p>
            <a:pPr marL="0" indent="0">
              <a:buNone/>
            </a:pPr>
            <a:r>
              <a:rPr lang="en-US" sz="1200" b="1" kern="0" spc="120" dirty="0">
                <a:solidFill>
                  <a:srgbClr val="1B3A4B"/>
                </a:solidFill>
                <a:latin typeface="Calibri" pitchFamily="34" charset="0"/>
                <a:ea typeface="Calibri" pitchFamily="34" charset="-122"/>
                <a:cs typeface="Calibri" pitchFamily="34" charset="-120"/>
              </a:rPr>
              <a:t>PROJECT FLOW</a:t>
            </a:r>
            <a:endParaRPr lang="en-US" sz="1200" dirty="0"/>
          </a:p>
        </p:txBody>
      </p:sp>
      <p:sp>
        <p:nvSpPr>
          <p:cNvPr id="6" name="Shape 3"/>
          <p:cNvSpPr/>
          <p:nvPr/>
        </p:nvSpPr>
        <p:spPr>
          <a:xfrm>
            <a:off x="548640" y="1737360"/>
            <a:ext cx="2011680" cy="1078992"/>
          </a:xfrm>
          <a:prstGeom prst="roundRect">
            <a:avLst>
              <a:gd name="adj" fmla="val 5932"/>
            </a:avLst>
          </a:prstGeom>
          <a:solidFill>
            <a:srgbClr val="F5F7F8"/>
          </a:solidFill>
          <a:ln/>
          <a:effectLst>
            <a:outerShdw blurRad="88900" dist="25400" dir="5400000" algn="bl" rotWithShape="0">
              <a:srgbClr val="1B3A4B">
                <a:alpha val="14000"/>
              </a:srgbClr>
            </a:outerShdw>
          </a:effectLst>
        </p:spPr>
      </p:sp>
      <p:sp>
        <p:nvSpPr>
          <p:cNvPr id="7" name="Shape 4"/>
          <p:cNvSpPr/>
          <p:nvPr/>
        </p:nvSpPr>
        <p:spPr>
          <a:xfrm>
            <a:off x="676656" y="1847088"/>
            <a:ext cx="365760" cy="365760"/>
          </a:xfrm>
          <a:prstGeom prst="ellipse">
            <a:avLst/>
          </a:prstGeom>
          <a:solidFill>
            <a:srgbClr val="1B3A4B"/>
          </a:solidFill>
          <a:ln/>
        </p:spPr>
      </p:sp>
      <p:sp>
        <p:nvSpPr>
          <p:cNvPr id="8" name="Text 5"/>
          <p:cNvSpPr/>
          <p:nvPr/>
        </p:nvSpPr>
        <p:spPr>
          <a:xfrm>
            <a:off x="676656" y="184708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676656" y="2249424"/>
            <a:ext cx="1755648" cy="530352"/>
          </a:xfrm>
          <a:prstGeom prst="rect">
            <a:avLst/>
          </a:prstGeom>
          <a:noFill/>
          <a:ln/>
        </p:spPr>
        <p:txBody>
          <a:bodyPr wrap="square" lIns="0" tIns="0" rIns="0" bIns="0" rtlCol="0" anchor="t"/>
          <a:lstStyle/>
          <a:p>
            <a:pPr marL="0" indent="0">
              <a:lnSpc>
                <a:spcPct val="110000"/>
              </a:lnSpc>
              <a:buNone/>
            </a:pPr>
            <a:r>
              <a:rPr lang="en-US" sz="1050" dirty="0">
                <a:solidFill>
                  <a:srgbClr val="20303A"/>
                </a:solidFill>
                <a:latin typeface="Calibri" pitchFamily="34" charset="0"/>
                <a:ea typeface="Calibri" pitchFamily="34" charset="-122"/>
                <a:cs typeface="Calibri" pitchFamily="34" charset="-120"/>
              </a:rPr>
              <a:t>Access the College Canteen Token System</a:t>
            </a:r>
            <a:endParaRPr lang="en-US" sz="1050" dirty="0"/>
          </a:p>
        </p:txBody>
      </p:sp>
      <p:sp>
        <p:nvSpPr>
          <p:cNvPr id="10" name="Shape 7"/>
          <p:cNvSpPr/>
          <p:nvPr/>
        </p:nvSpPr>
        <p:spPr>
          <a:xfrm>
            <a:off x="2697480" y="1737360"/>
            <a:ext cx="2011680" cy="1078992"/>
          </a:xfrm>
          <a:prstGeom prst="roundRect">
            <a:avLst>
              <a:gd name="adj" fmla="val 5932"/>
            </a:avLst>
          </a:prstGeom>
          <a:solidFill>
            <a:srgbClr val="F5F7F8"/>
          </a:solidFill>
          <a:ln/>
          <a:effectLst>
            <a:outerShdw blurRad="88900" dist="25400" dir="5400000" algn="bl" rotWithShape="0">
              <a:srgbClr val="1B3A4B">
                <a:alpha val="14000"/>
              </a:srgbClr>
            </a:outerShdw>
          </a:effectLst>
        </p:spPr>
      </p:sp>
      <p:sp>
        <p:nvSpPr>
          <p:cNvPr id="11" name="Shape 8"/>
          <p:cNvSpPr/>
          <p:nvPr/>
        </p:nvSpPr>
        <p:spPr>
          <a:xfrm>
            <a:off x="2825496" y="1847088"/>
            <a:ext cx="365760" cy="365760"/>
          </a:xfrm>
          <a:prstGeom prst="ellipse">
            <a:avLst/>
          </a:prstGeom>
          <a:solidFill>
            <a:srgbClr val="1B3A4B"/>
          </a:solidFill>
          <a:ln/>
        </p:spPr>
      </p:sp>
      <p:sp>
        <p:nvSpPr>
          <p:cNvPr id="12" name="Text 9"/>
          <p:cNvSpPr/>
          <p:nvPr/>
        </p:nvSpPr>
        <p:spPr>
          <a:xfrm>
            <a:off x="2825496" y="184708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2825496" y="2249424"/>
            <a:ext cx="1755648" cy="530352"/>
          </a:xfrm>
          <a:prstGeom prst="rect">
            <a:avLst/>
          </a:prstGeom>
          <a:noFill/>
          <a:ln/>
        </p:spPr>
        <p:txBody>
          <a:bodyPr wrap="square" lIns="0" tIns="0" rIns="0" bIns="0" rtlCol="0" anchor="t"/>
          <a:lstStyle/>
          <a:p>
            <a:pPr marL="0" indent="0">
              <a:lnSpc>
                <a:spcPct val="110000"/>
              </a:lnSpc>
              <a:buNone/>
            </a:pPr>
            <a:r>
              <a:rPr lang="en-US" sz="1050" dirty="0">
                <a:solidFill>
                  <a:srgbClr val="20303A"/>
                </a:solidFill>
                <a:latin typeface="Calibri" pitchFamily="34" charset="0"/>
                <a:ea typeface="Calibri" pitchFamily="34" charset="-122"/>
                <a:cs typeface="Calibri" pitchFamily="34" charset="-120"/>
              </a:rPr>
              <a:t>Browse the available food menu</a:t>
            </a:r>
            <a:endParaRPr lang="en-US" sz="1050" dirty="0"/>
          </a:p>
        </p:txBody>
      </p:sp>
      <p:sp>
        <p:nvSpPr>
          <p:cNvPr id="14" name="Shape 11"/>
          <p:cNvSpPr/>
          <p:nvPr/>
        </p:nvSpPr>
        <p:spPr>
          <a:xfrm>
            <a:off x="4846320" y="1737360"/>
            <a:ext cx="2011680" cy="1078992"/>
          </a:xfrm>
          <a:prstGeom prst="roundRect">
            <a:avLst>
              <a:gd name="adj" fmla="val 5932"/>
            </a:avLst>
          </a:prstGeom>
          <a:solidFill>
            <a:srgbClr val="F5F7F8"/>
          </a:solidFill>
          <a:ln/>
          <a:effectLst>
            <a:outerShdw blurRad="88900" dist="25400" dir="5400000" algn="bl" rotWithShape="0">
              <a:srgbClr val="1B3A4B">
                <a:alpha val="14000"/>
              </a:srgbClr>
            </a:outerShdw>
          </a:effectLst>
        </p:spPr>
      </p:sp>
      <p:sp>
        <p:nvSpPr>
          <p:cNvPr id="15" name="Shape 12"/>
          <p:cNvSpPr/>
          <p:nvPr/>
        </p:nvSpPr>
        <p:spPr>
          <a:xfrm>
            <a:off x="4974336" y="1847088"/>
            <a:ext cx="365760" cy="365760"/>
          </a:xfrm>
          <a:prstGeom prst="ellipse">
            <a:avLst/>
          </a:prstGeom>
          <a:solidFill>
            <a:srgbClr val="1B3A4B"/>
          </a:solidFill>
          <a:ln/>
        </p:spPr>
      </p:sp>
      <p:sp>
        <p:nvSpPr>
          <p:cNvPr id="16" name="Text 13"/>
          <p:cNvSpPr/>
          <p:nvPr/>
        </p:nvSpPr>
        <p:spPr>
          <a:xfrm>
            <a:off x="4974336" y="184708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4974336" y="2249424"/>
            <a:ext cx="1755648" cy="530352"/>
          </a:xfrm>
          <a:prstGeom prst="rect">
            <a:avLst/>
          </a:prstGeom>
          <a:noFill/>
          <a:ln/>
        </p:spPr>
        <p:txBody>
          <a:bodyPr wrap="square" lIns="0" tIns="0" rIns="0" bIns="0" rtlCol="0" anchor="t"/>
          <a:lstStyle/>
          <a:p>
            <a:pPr marL="0" indent="0">
              <a:lnSpc>
                <a:spcPct val="110000"/>
              </a:lnSpc>
              <a:buNone/>
            </a:pPr>
            <a:r>
              <a:rPr lang="en-US" sz="1050" dirty="0">
                <a:solidFill>
                  <a:srgbClr val="20303A"/>
                </a:solidFill>
                <a:latin typeface="Calibri" pitchFamily="34" charset="0"/>
                <a:ea typeface="Calibri" pitchFamily="34" charset="-122"/>
                <a:cs typeface="Calibri" pitchFamily="34" charset="-120"/>
              </a:rPr>
              <a:t>Select items &amp; apply dietary preferences</a:t>
            </a:r>
            <a:endParaRPr lang="en-US" sz="1050" dirty="0"/>
          </a:p>
        </p:txBody>
      </p:sp>
      <p:sp>
        <p:nvSpPr>
          <p:cNvPr id="18" name="Shape 15"/>
          <p:cNvSpPr/>
          <p:nvPr/>
        </p:nvSpPr>
        <p:spPr>
          <a:xfrm>
            <a:off x="548640" y="2962656"/>
            <a:ext cx="2011680" cy="1078992"/>
          </a:xfrm>
          <a:prstGeom prst="roundRect">
            <a:avLst>
              <a:gd name="adj" fmla="val 5932"/>
            </a:avLst>
          </a:prstGeom>
          <a:solidFill>
            <a:srgbClr val="F5F7F8"/>
          </a:solidFill>
          <a:ln/>
          <a:effectLst>
            <a:outerShdw blurRad="88900" dist="25400" dir="5400000" algn="bl" rotWithShape="0">
              <a:srgbClr val="1B3A4B">
                <a:alpha val="14000"/>
              </a:srgbClr>
            </a:outerShdw>
          </a:effectLst>
        </p:spPr>
      </p:sp>
      <p:sp>
        <p:nvSpPr>
          <p:cNvPr id="19" name="Shape 16"/>
          <p:cNvSpPr/>
          <p:nvPr/>
        </p:nvSpPr>
        <p:spPr>
          <a:xfrm>
            <a:off x="676656" y="3072384"/>
            <a:ext cx="365760" cy="365760"/>
          </a:xfrm>
          <a:prstGeom prst="ellipse">
            <a:avLst/>
          </a:prstGeom>
          <a:solidFill>
            <a:srgbClr val="1B3A4B"/>
          </a:solidFill>
          <a:ln/>
        </p:spPr>
      </p:sp>
      <p:sp>
        <p:nvSpPr>
          <p:cNvPr id="20" name="Text 17"/>
          <p:cNvSpPr/>
          <p:nvPr/>
        </p:nvSpPr>
        <p:spPr>
          <a:xfrm>
            <a:off x="676656" y="307238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676656" y="3474720"/>
            <a:ext cx="1755648" cy="530352"/>
          </a:xfrm>
          <a:prstGeom prst="rect">
            <a:avLst/>
          </a:prstGeom>
          <a:noFill/>
          <a:ln/>
        </p:spPr>
        <p:txBody>
          <a:bodyPr wrap="square" lIns="0" tIns="0" rIns="0" bIns="0" rtlCol="0" anchor="t"/>
          <a:lstStyle/>
          <a:p>
            <a:pPr marL="0" indent="0">
              <a:lnSpc>
                <a:spcPct val="110000"/>
              </a:lnSpc>
              <a:buNone/>
            </a:pPr>
            <a:r>
              <a:rPr lang="en-US" sz="1050" dirty="0">
                <a:solidFill>
                  <a:srgbClr val="20303A"/>
                </a:solidFill>
                <a:latin typeface="Calibri" pitchFamily="34" charset="0"/>
                <a:ea typeface="Calibri" pitchFamily="34" charset="-122"/>
                <a:cs typeface="Calibri" pitchFamily="34" charset="-120"/>
              </a:rPr>
              <a:t>Validate &amp; process order details</a:t>
            </a:r>
            <a:endParaRPr lang="en-US" sz="1050" dirty="0"/>
          </a:p>
        </p:txBody>
      </p:sp>
      <p:sp>
        <p:nvSpPr>
          <p:cNvPr id="22" name="Shape 19"/>
          <p:cNvSpPr/>
          <p:nvPr/>
        </p:nvSpPr>
        <p:spPr>
          <a:xfrm>
            <a:off x="2697480" y="2962656"/>
            <a:ext cx="2011680" cy="1078992"/>
          </a:xfrm>
          <a:prstGeom prst="roundRect">
            <a:avLst>
              <a:gd name="adj" fmla="val 5932"/>
            </a:avLst>
          </a:prstGeom>
          <a:solidFill>
            <a:srgbClr val="F5F7F8"/>
          </a:solidFill>
          <a:ln/>
          <a:effectLst>
            <a:outerShdw blurRad="88900" dist="25400" dir="5400000" algn="bl" rotWithShape="0">
              <a:srgbClr val="1B3A4B">
                <a:alpha val="14000"/>
              </a:srgbClr>
            </a:outerShdw>
          </a:effectLst>
        </p:spPr>
      </p:sp>
      <p:sp>
        <p:nvSpPr>
          <p:cNvPr id="23" name="Shape 20"/>
          <p:cNvSpPr/>
          <p:nvPr/>
        </p:nvSpPr>
        <p:spPr>
          <a:xfrm>
            <a:off x="2825496" y="3072384"/>
            <a:ext cx="365760" cy="365760"/>
          </a:xfrm>
          <a:prstGeom prst="ellipse">
            <a:avLst/>
          </a:prstGeom>
          <a:solidFill>
            <a:srgbClr val="1B3A4B"/>
          </a:solidFill>
          <a:ln/>
        </p:spPr>
      </p:sp>
      <p:sp>
        <p:nvSpPr>
          <p:cNvPr id="24" name="Text 21"/>
          <p:cNvSpPr/>
          <p:nvPr/>
        </p:nvSpPr>
        <p:spPr>
          <a:xfrm>
            <a:off x="2825496" y="307238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p:nvPr/>
        </p:nvSpPr>
        <p:spPr>
          <a:xfrm>
            <a:off x="2825496" y="3474720"/>
            <a:ext cx="1755648" cy="530352"/>
          </a:xfrm>
          <a:prstGeom prst="rect">
            <a:avLst/>
          </a:prstGeom>
          <a:noFill/>
          <a:ln/>
        </p:spPr>
        <p:txBody>
          <a:bodyPr wrap="square" lIns="0" tIns="0" rIns="0" bIns="0" rtlCol="0" anchor="t"/>
          <a:lstStyle/>
          <a:p>
            <a:pPr marL="0" indent="0">
              <a:lnSpc>
                <a:spcPct val="110000"/>
              </a:lnSpc>
              <a:buNone/>
            </a:pPr>
            <a:r>
              <a:rPr lang="en-US" sz="1050" dirty="0">
                <a:solidFill>
                  <a:srgbClr val="20303A"/>
                </a:solidFill>
                <a:latin typeface="Calibri" pitchFamily="34" charset="0"/>
                <a:ea typeface="Calibri" pitchFamily="34" charset="-122"/>
                <a:cs typeface="Calibri" pitchFamily="34" charset="-120"/>
              </a:rPr>
              <a:t>Billing and payment processing</a:t>
            </a:r>
            <a:endParaRPr lang="en-US" sz="1050" dirty="0"/>
          </a:p>
        </p:txBody>
      </p:sp>
      <p:sp>
        <p:nvSpPr>
          <p:cNvPr id="26" name="Shape 23"/>
          <p:cNvSpPr/>
          <p:nvPr/>
        </p:nvSpPr>
        <p:spPr>
          <a:xfrm>
            <a:off x="4846320" y="2962656"/>
            <a:ext cx="2011680" cy="1078992"/>
          </a:xfrm>
          <a:prstGeom prst="roundRect">
            <a:avLst>
              <a:gd name="adj" fmla="val 5932"/>
            </a:avLst>
          </a:prstGeom>
          <a:solidFill>
            <a:srgbClr val="F5F7F8"/>
          </a:solidFill>
          <a:ln/>
          <a:effectLst>
            <a:outerShdw blurRad="88900" dist="25400" dir="5400000" algn="bl" rotWithShape="0">
              <a:srgbClr val="1B3A4B">
                <a:alpha val="14000"/>
              </a:srgbClr>
            </a:outerShdw>
          </a:effectLst>
        </p:spPr>
      </p:sp>
      <p:sp>
        <p:nvSpPr>
          <p:cNvPr id="27" name="Shape 24"/>
          <p:cNvSpPr/>
          <p:nvPr/>
        </p:nvSpPr>
        <p:spPr>
          <a:xfrm>
            <a:off x="4974336" y="3072384"/>
            <a:ext cx="365760" cy="365760"/>
          </a:xfrm>
          <a:prstGeom prst="ellipse">
            <a:avLst/>
          </a:prstGeom>
          <a:solidFill>
            <a:srgbClr val="1B3A4B"/>
          </a:solidFill>
          <a:ln/>
        </p:spPr>
      </p:sp>
      <p:sp>
        <p:nvSpPr>
          <p:cNvPr id="28" name="Text 25"/>
          <p:cNvSpPr/>
          <p:nvPr/>
        </p:nvSpPr>
        <p:spPr>
          <a:xfrm>
            <a:off x="4974336" y="307238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26"/>
          <p:cNvSpPr/>
          <p:nvPr/>
        </p:nvSpPr>
        <p:spPr>
          <a:xfrm>
            <a:off x="4974336" y="3474720"/>
            <a:ext cx="1755648" cy="530352"/>
          </a:xfrm>
          <a:prstGeom prst="rect">
            <a:avLst/>
          </a:prstGeom>
          <a:noFill/>
          <a:ln/>
        </p:spPr>
        <p:txBody>
          <a:bodyPr wrap="square" lIns="0" tIns="0" rIns="0" bIns="0" rtlCol="0" anchor="t"/>
          <a:lstStyle/>
          <a:p>
            <a:pPr marL="0" indent="0">
              <a:lnSpc>
                <a:spcPct val="110000"/>
              </a:lnSpc>
              <a:buNone/>
            </a:pPr>
            <a:r>
              <a:rPr lang="en-US" sz="1050" dirty="0">
                <a:solidFill>
                  <a:srgbClr val="20303A"/>
                </a:solidFill>
                <a:latin typeface="Calibri" pitchFamily="34" charset="0"/>
                <a:ea typeface="Calibri" pitchFamily="34" charset="-122"/>
                <a:cs typeface="Calibri" pitchFamily="34" charset="-120"/>
              </a:rPr>
              <a:t>Generate a unique token &amp; QR code</a:t>
            </a:r>
            <a:endParaRPr lang="en-US" sz="1050" dirty="0"/>
          </a:p>
        </p:txBody>
      </p:sp>
      <p:sp>
        <p:nvSpPr>
          <p:cNvPr id="30" name="Shape 27"/>
          <p:cNvSpPr/>
          <p:nvPr/>
        </p:nvSpPr>
        <p:spPr>
          <a:xfrm>
            <a:off x="548640" y="4187952"/>
            <a:ext cx="2011680" cy="1078992"/>
          </a:xfrm>
          <a:prstGeom prst="roundRect">
            <a:avLst>
              <a:gd name="adj" fmla="val 5932"/>
            </a:avLst>
          </a:prstGeom>
          <a:solidFill>
            <a:srgbClr val="F5F7F8"/>
          </a:solidFill>
          <a:ln/>
          <a:effectLst>
            <a:outerShdw blurRad="88900" dist="25400" dir="5400000" algn="bl" rotWithShape="0">
              <a:srgbClr val="1B3A4B">
                <a:alpha val="14000"/>
              </a:srgbClr>
            </a:outerShdw>
          </a:effectLst>
        </p:spPr>
      </p:sp>
      <p:sp>
        <p:nvSpPr>
          <p:cNvPr id="31" name="Shape 28"/>
          <p:cNvSpPr/>
          <p:nvPr/>
        </p:nvSpPr>
        <p:spPr>
          <a:xfrm>
            <a:off x="676656" y="4297680"/>
            <a:ext cx="365760" cy="365760"/>
          </a:xfrm>
          <a:prstGeom prst="ellipse">
            <a:avLst/>
          </a:prstGeom>
          <a:solidFill>
            <a:srgbClr val="1B3A4B"/>
          </a:solidFill>
          <a:ln/>
        </p:spPr>
      </p:sp>
      <p:sp>
        <p:nvSpPr>
          <p:cNvPr id="32" name="Text 29"/>
          <p:cNvSpPr/>
          <p:nvPr/>
        </p:nvSpPr>
        <p:spPr>
          <a:xfrm>
            <a:off x="676656" y="42976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3" name="Text 30"/>
          <p:cNvSpPr/>
          <p:nvPr/>
        </p:nvSpPr>
        <p:spPr>
          <a:xfrm>
            <a:off x="676656" y="4700016"/>
            <a:ext cx="1755648" cy="530352"/>
          </a:xfrm>
          <a:prstGeom prst="rect">
            <a:avLst/>
          </a:prstGeom>
          <a:noFill/>
          <a:ln/>
        </p:spPr>
        <p:txBody>
          <a:bodyPr wrap="square" lIns="0" tIns="0" rIns="0" bIns="0" rtlCol="0" anchor="t"/>
          <a:lstStyle/>
          <a:p>
            <a:pPr marL="0" indent="0">
              <a:lnSpc>
                <a:spcPct val="110000"/>
              </a:lnSpc>
              <a:buNone/>
            </a:pPr>
            <a:r>
              <a:rPr lang="en-US" sz="1050" dirty="0">
                <a:solidFill>
                  <a:srgbClr val="20303A"/>
                </a:solidFill>
                <a:latin typeface="Calibri" pitchFamily="34" charset="0"/>
                <a:ea typeface="Calibri" pitchFamily="34" charset="-122"/>
                <a:cs typeface="Calibri" pitchFamily="34" charset="-120"/>
              </a:rPr>
              <a:t>Send order confirmation to user</a:t>
            </a:r>
            <a:endParaRPr lang="en-US" sz="1050" dirty="0"/>
          </a:p>
        </p:txBody>
      </p:sp>
      <p:sp>
        <p:nvSpPr>
          <p:cNvPr id="34" name="Shape 31"/>
          <p:cNvSpPr/>
          <p:nvPr/>
        </p:nvSpPr>
        <p:spPr>
          <a:xfrm>
            <a:off x="2697480" y="4187952"/>
            <a:ext cx="2011680" cy="1078992"/>
          </a:xfrm>
          <a:prstGeom prst="roundRect">
            <a:avLst>
              <a:gd name="adj" fmla="val 5932"/>
            </a:avLst>
          </a:prstGeom>
          <a:solidFill>
            <a:srgbClr val="F5F7F8"/>
          </a:solidFill>
          <a:ln/>
          <a:effectLst>
            <a:outerShdw blurRad="88900" dist="25400" dir="5400000" algn="bl" rotWithShape="0">
              <a:srgbClr val="1B3A4B">
                <a:alpha val="14000"/>
              </a:srgbClr>
            </a:outerShdw>
          </a:effectLst>
        </p:spPr>
      </p:sp>
      <p:sp>
        <p:nvSpPr>
          <p:cNvPr id="35" name="Shape 32"/>
          <p:cNvSpPr/>
          <p:nvPr/>
        </p:nvSpPr>
        <p:spPr>
          <a:xfrm>
            <a:off x="2825496" y="4297680"/>
            <a:ext cx="365760" cy="365760"/>
          </a:xfrm>
          <a:prstGeom prst="ellipse">
            <a:avLst/>
          </a:prstGeom>
          <a:solidFill>
            <a:srgbClr val="1B3A4B"/>
          </a:solidFill>
          <a:ln/>
        </p:spPr>
      </p:sp>
      <p:sp>
        <p:nvSpPr>
          <p:cNvPr id="36" name="Text 33"/>
          <p:cNvSpPr/>
          <p:nvPr/>
        </p:nvSpPr>
        <p:spPr>
          <a:xfrm>
            <a:off x="2825496" y="42976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7" name="Text 34"/>
          <p:cNvSpPr/>
          <p:nvPr/>
        </p:nvSpPr>
        <p:spPr>
          <a:xfrm>
            <a:off x="2825496" y="4700016"/>
            <a:ext cx="1755648" cy="530352"/>
          </a:xfrm>
          <a:prstGeom prst="rect">
            <a:avLst/>
          </a:prstGeom>
          <a:noFill/>
          <a:ln/>
        </p:spPr>
        <p:txBody>
          <a:bodyPr wrap="square" lIns="0" tIns="0" rIns="0" bIns="0" rtlCol="0" anchor="t"/>
          <a:lstStyle/>
          <a:p>
            <a:pPr marL="0" indent="0">
              <a:lnSpc>
                <a:spcPct val="110000"/>
              </a:lnSpc>
              <a:buNone/>
            </a:pPr>
            <a:r>
              <a:rPr lang="en-US" sz="1050" dirty="0">
                <a:solidFill>
                  <a:srgbClr val="20303A"/>
                </a:solidFill>
                <a:latin typeface="Calibri" pitchFamily="34" charset="0"/>
                <a:ea typeface="Calibri" pitchFamily="34" charset="-122"/>
                <a:cs typeface="Calibri" pitchFamily="34" charset="-120"/>
              </a:rPr>
              <a:t>Staff verify QR code &amp; deliver order</a:t>
            </a:r>
            <a:endParaRPr lang="en-US" sz="1050" dirty="0"/>
          </a:p>
        </p:txBody>
      </p:sp>
      <p:sp>
        <p:nvSpPr>
          <p:cNvPr id="38" name="Shape 35"/>
          <p:cNvSpPr/>
          <p:nvPr/>
        </p:nvSpPr>
        <p:spPr>
          <a:xfrm>
            <a:off x="4846320" y="4187952"/>
            <a:ext cx="2011680" cy="1078992"/>
          </a:xfrm>
          <a:prstGeom prst="roundRect">
            <a:avLst>
              <a:gd name="adj" fmla="val 5932"/>
            </a:avLst>
          </a:prstGeom>
          <a:solidFill>
            <a:srgbClr val="F5F7F8"/>
          </a:solidFill>
          <a:ln/>
          <a:effectLst>
            <a:outerShdw blurRad="88900" dist="25400" dir="5400000" algn="bl" rotWithShape="0">
              <a:srgbClr val="1B3A4B">
                <a:alpha val="14000"/>
              </a:srgbClr>
            </a:outerShdw>
          </a:effectLst>
        </p:spPr>
      </p:sp>
      <p:sp>
        <p:nvSpPr>
          <p:cNvPr id="39" name="Shape 36"/>
          <p:cNvSpPr/>
          <p:nvPr/>
        </p:nvSpPr>
        <p:spPr>
          <a:xfrm>
            <a:off x="4974336" y="4297680"/>
            <a:ext cx="365760" cy="365760"/>
          </a:xfrm>
          <a:prstGeom prst="ellipse">
            <a:avLst/>
          </a:prstGeom>
          <a:solidFill>
            <a:srgbClr val="1B3A4B"/>
          </a:solidFill>
          <a:ln/>
        </p:spPr>
      </p:sp>
      <p:sp>
        <p:nvSpPr>
          <p:cNvPr id="40" name="Text 37"/>
          <p:cNvSpPr/>
          <p:nvPr/>
        </p:nvSpPr>
        <p:spPr>
          <a:xfrm>
            <a:off x="4974336" y="42976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1" name="Text 38"/>
          <p:cNvSpPr/>
          <p:nvPr/>
        </p:nvSpPr>
        <p:spPr>
          <a:xfrm>
            <a:off x="4974336" y="4700016"/>
            <a:ext cx="1755648" cy="530352"/>
          </a:xfrm>
          <a:prstGeom prst="rect">
            <a:avLst/>
          </a:prstGeom>
          <a:noFill/>
          <a:ln/>
        </p:spPr>
        <p:txBody>
          <a:bodyPr wrap="square" lIns="0" tIns="0" rIns="0" bIns="0" rtlCol="0" anchor="t"/>
          <a:lstStyle/>
          <a:p>
            <a:pPr marL="0" indent="0">
              <a:lnSpc>
                <a:spcPct val="110000"/>
              </a:lnSpc>
              <a:buNone/>
            </a:pPr>
            <a:r>
              <a:rPr lang="en-US" sz="1050" dirty="0">
                <a:solidFill>
                  <a:srgbClr val="20303A"/>
                </a:solidFill>
                <a:latin typeface="Calibri" pitchFamily="34" charset="0"/>
                <a:ea typeface="Calibri" pitchFamily="34" charset="-122"/>
                <a:cs typeface="Calibri" pitchFamily="34" charset="-120"/>
              </a:rPr>
              <a:t>Update order history &amp; transaction records</a:t>
            </a:r>
            <a:endParaRPr lang="en-US" sz="1050" dirty="0"/>
          </a:p>
        </p:txBody>
      </p:sp>
      <p:sp>
        <p:nvSpPr>
          <p:cNvPr id="42" name="Shape 39"/>
          <p:cNvSpPr/>
          <p:nvPr/>
        </p:nvSpPr>
        <p:spPr>
          <a:xfrm>
            <a:off x="7360920" y="1371600"/>
            <a:ext cx="4279392" cy="4937760"/>
          </a:xfrm>
          <a:prstGeom prst="roundRect">
            <a:avLst>
              <a:gd name="adj" fmla="val 1709"/>
            </a:avLst>
          </a:prstGeom>
          <a:solidFill>
            <a:srgbClr val="1B3A4B"/>
          </a:solidFill>
          <a:ln/>
          <a:effectLst>
            <a:outerShdw blurRad="88900" dist="25400" dir="5400000" algn="bl" rotWithShape="0">
              <a:srgbClr val="1B3A4B">
                <a:alpha val="14000"/>
              </a:srgbClr>
            </a:outerShdw>
          </a:effectLst>
        </p:spPr>
      </p:sp>
      <p:sp>
        <p:nvSpPr>
          <p:cNvPr id="43" name="Text 40"/>
          <p:cNvSpPr/>
          <p:nvPr/>
        </p:nvSpPr>
        <p:spPr>
          <a:xfrm>
            <a:off x="7635240" y="1536192"/>
            <a:ext cx="3749040" cy="274320"/>
          </a:xfrm>
          <a:prstGeom prst="rect">
            <a:avLst/>
          </a:prstGeom>
          <a:noFill/>
          <a:ln/>
        </p:spPr>
        <p:txBody>
          <a:bodyPr wrap="square" lIns="0" tIns="0" rIns="0" bIns="0" rtlCol="0" anchor="ctr"/>
          <a:lstStyle/>
          <a:p>
            <a:pPr marL="0" indent="0">
              <a:buNone/>
            </a:pPr>
            <a:r>
              <a:rPr lang="en-US" sz="1150" b="1" kern="0" spc="120" dirty="0">
                <a:solidFill>
                  <a:srgbClr val="F2B441"/>
                </a:solidFill>
                <a:latin typeface="Calibri" pitchFamily="34" charset="0"/>
                <a:ea typeface="Calibri" pitchFamily="34" charset="-122"/>
                <a:cs typeface="Calibri" pitchFamily="34" charset="-120"/>
              </a:rPr>
              <a:t>SERVICES PROCESSED</a:t>
            </a:r>
            <a:endParaRPr lang="en-US" sz="1150" dirty="0"/>
          </a:p>
        </p:txBody>
      </p:sp>
      <p:sp>
        <p:nvSpPr>
          <p:cNvPr id="44" name="Shape 41"/>
          <p:cNvSpPr/>
          <p:nvPr/>
        </p:nvSpPr>
        <p:spPr>
          <a:xfrm>
            <a:off x="7635240" y="1901952"/>
            <a:ext cx="329184" cy="329184"/>
          </a:xfrm>
          <a:prstGeom prst="ellipse">
            <a:avLst/>
          </a:prstGeom>
          <a:solidFill>
            <a:srgbClr val="E2823D"/>
          </a:solidFill>
          <a:ln/>
        </p:spPr>
      </p:sp>
      <p:pic>
        <p:nvPicPr>
          <p:cNvPr id="45" name="Image 1" descr="/home/claude/canteen/icons/utensils.png"/>
          <p:cNvPicPr>
            <a:picLocks noChangeAspect="1"/>
          </p:cNvPicPr>
          <p:nvPr/>
        </p:nvPicPr>
        <p:blipFill>
          <a:blip r:embed="rId4"/>
          <a:stretch>
            <a:fillRect/>
          </a:stretch>
        </p:blipFill>
        <p:spPr>
          <a:xfrm>
            <a:off x="7687909" y="1954621"/>
            <a:ext cx="223845" cy="223845"/>
          </a:xfrm>
          <a:prstGeom prst="rect">
            <a:avLst/>
          </a:prstGeom>
        </p:spPr>
      </p:pic>
      <p:sp>
        <p:nvSpPr>
          <p:cNvPr id="46" name="Text 42"/>
          <p:cNvSpPr/>
          <p:nvPr/>
        </p:nvSpPr>
        <p:spPr>
          <a:xfrm>
            <a:off x="8092440" y="1865376"/>
            <a:ext cx="3246120" cy="402336"/>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Menu Display &amp; Food Selection</a:t>
            </a:r>
            <a:endParaRPr lang="en-US" sz="1100" dirty="0"/>
          </a:p>
        </p:txBody>
      </p:sp>
      <p:sp>
        <p:nvSpPr>
          <p:cNvPr id="47" name="Shape 43"/>
          <p:cNvSpPr/>
          <p:nvPr/>
        </p:nvSpPr>
        <p:spPr>
          <a:xfrm>
            <a:off x="7635240" y="2350008"/>
            <a:ext cx="329184" cy="329184"/>
          </a:xfrm>
          <a:prstGeom prst="ellipse">
            <a:avLst/>
          </a:prstGeom>
          <a:solidFill>
            <a:srgbClr val="E2823D"/>
          </a:solidFill>
          <a:ln/>
        </p:spPr>
      </p:sp>
      <p:pic>
        <p:nvPicPr>
          <p:cNvPr id="48" name="Image 2" descr="/home/claude/canteen/icons/filter.png"/>
          <p:cNvPicPr>
            <a:picLocks noChangeAspect="1"/>
          </p:cNvPicPr>
          <p:nvPr/>
        </p:nvPicPr>
        <p:blipFill>
          <a:blip r:embed="rId5"/>
          <a:stretch>
            <a:fillRect/>
          </a:stretch>
        </p:blipFill>
        <p:spPr>
          <a:xfrm>
            <a:off x="7687909" y="2402677"/>
            <a:ext cx="223845" cy="223845"/>
          </a:xfrm>
          <a:prstGeom prst="rect">
            <a:avLst/>
          </a:prstGeom>
        </p:spPr>
      </p:pic>
      <p:sp>
        <p:nvSpPr>
          <p:cNvPr id="49" name="Text 44"/>
          <p:cNvSpPr/>
          <p:nvPr/>
        </p:nvSpPr>
        <p:spPr>
          <a:xfrm>
            <a:off x="8092440" y="2313432"/>
            <a:ext cx="3246120" cy="402336"/>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Dietary Preference Filtering</a:t>
            </a:r>
            <a:endParaRPr lang="en-US" sz="1100" dirty="0"/>
          </a:p>
        </p:txBody>
      </p:sp>
      <p:sp>
        <p:nvSpPr>
          <p:cNvPr id="50" name="Shape 45"/>
          <p:cNvSpPr/>
          <p:nvPr/>
        </p:nvSpPr>
        <p:spPr>
          <a:xfrm>
            <a:off x="7635240" y="2798064"/>
            <a:ext cx="329184" cy="329184"/>
          </a:xfrm>
          <a:prstGeom prst="ellipse">
            <a:avLst/>
          </a:prstGeom>
          <a:solidFill>
            <a:srgbClr val="E2823D"/>
          </a:solidFill>
          <a:ln/>
        </p:spPr>
      </p:sp>
      <p:pic>
        <p:nvPicPr>
          <p:cNvPr id="51" name="Image 3" descr="/home/claude/canteen/icons/check.png"/>
          <p:cNvPicPr>
            <a:picLocks noChangeAspect="1"/>
          </p:cNvPicPr>
          <p:nvPr/>
        </p:nvPicPr>
        <p:blipFill>
          <a:blip r:embed="rId6"/>
          <a:stretch>
            <a:fillRect/>
          </a:stretch>
        </p:blipFill>
        <p:spPr>
          <a:xfrm>
            <a:off x="7687909" y="2850733"/>
            <a:ext cx="223845" cy="223845"/>
          </a:xfrm>
          <a:prstGeom prst="rect">
            <a:avLst/>
          </a:prstGeom>
        </p:spPr>
      </p:pic>
      <p:sp>
        <p:nvSpPr>
          <p:cNvPr id="52" name="Text 46"/>
          <p:cNvSpPr/>
          <p:nvPr/>
        </p:nvSpPr>
        <p:spPr>
          <a:xfrm>
            <a:off x="8092440" y="2761488"/>
            <a:ext cx="3246120" cy="402336"/>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Order Placement &amp; Validation</a:t>
            </a:r>
            <a:endParaRPr lang="en-US" sz="1100" dirty="0"/>
          </a:p>
        </p:txBody>
      </p:sp>
      <p:sp>
        <p:nvSpPr>
          <p:cNvPr id="53" name="Shape 47"/>
          <p:cNvSpPr/>
          <p:nvPr/>
        </p:nvSpPr>
        <p:spPr>
          <a:xfrm>
            <a:off x="7635240" y="3246120"/>
            <a:ext cx="329184" cy="329184"/>
          </a:xfrm>
          <a:prstGeom prst="ellipse">
            <a:avLst/>
          </a:prstGeom>
          <a:solidFill>
            <a:srgbClr val="E2823D"/>
          </a:solidFill>
          <a:ln/>
        </p:spPr>
      </p:sp>
      <p:pic>
        <p:nvPicPr>
          <p:cNvPr id="54" name="Image 4" descr="/home/claude/canteen/icons/receipt.png"/>
          <p:cNvPicPr>
            <a:picLocks noChangeAspect="1"/>
          </p:cNvPicPr>
          <p:nvPr/>
        </p:nvPicPr>
        <p:blipFill>
          <a:blip r:embed="rId7"/>
          <a:stretch>
            <a:fillRect/>
          </a:stretch>
        </p:blipFill>
        <p:spPr>
          <a:xfrm>
            <a:off x="7687909" y="3298789"/>
            <a:ext cx="223845" cy="223845"/>
          </a:xfrm>
          <a:prstGeom prst="rect">
            <a:avLst/>
          </a:prstGeom>
        </p:spPr>
      </p:pic>
      <p:sp>
        <p:nvSpPr>
          <p:cNvPr id="55" name="Text 48"/>
          <p:cNvSpPr/>
          <p:nvPr/>
        </p:nvSpPr>
        <p:spPr>
          <a:xfrm>
            <a:off x="8092440" y="3209544"/>
            <a:ext cx="3246120" cy="402336"/>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Billing &amp; Payment Processing</a:t>
            </a:r>
            <a:endParaRPr lang="en-US" sz="1100" dirty="0"/>
          </a:p>
        </p:txBody>
      </p:sp>
      <p:sp>
        <p:nvSpPr>
          <p:cNvPr id="56" name="Shape 49"/>
          <p:cNvSpPr/>
          <p:nvPr/>
        </p:nvSpPr>
        <p:spPr>
          <a:xfrm>
            <a:off x="7635240" y="3694176"/>
            <a:ext cx="329184" cy="329184"/>
          </a:xfrm>
          <a:prstGeom prst="ellipse">
            <a:avLst/>
          </a:prstGeom>
          <a:solidFill>
            <a:srgbClr val="E2823D"/>
          </a:solidFill>
          <a:ln/>
        </p:spPr>
      </p:sp>
      <p:pic>
        <p:nvPicPr>
          <p:cNvPr id="57" name="Image 5" descr="/home/claude/canteen/icons/ticket.png"/>
          <p:cNvPicPr>
            <a:picLocks noChangeAspect="1"/>
          </p:cNvPicPr>
          <p:nvPr/>
        </p:nvPicPr>
        <p:blipFill>
          <a:blip r:embed="rId8"/>
          <a:stretch>
            <a:fillRect/>
          </a:stretch>
        </p:blipFill>
        <p:spPr>
          <a:xfrm>
            <a:off x="7687909" y="3746845"/>
            <a:ext cx="223845" cy="223845"/>
          </a:xfrm>
          <a:prstGeom prst="rect">
            <a:avLst/>
          </a:prstGeom>
        </p:spPr>
      </p:pic>
      <p:sp>
        <p:nvSpPr>
          <p:cNvPr id="58" name="Text 50"/>
          <p:cNvSpPr/>
          <p:nvPr/>
        </p:nvSpPr>
        <p:spPr>
          <a:xfrm>
            <a:off x="8092440" y="3657600"/>
            <a:ext cx="3246120" cy="402336"/>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Token Generation</a:t>
            </a:r>
            <a:endParaRPr lang="en-US" sz="1100" dirty="0"/>
          </a:p>
        </p:txBody>
      </p:sp>
      <p:sp>
        <p:nvSpPr>
          <p:cNvPr id="59" name="Shape 51"/>
          <p:cNvSpPr/>
          <p:nvPr/>
        </p:nvSpPr>
        <p:spPr>
          <a:xfrm>
            <a:off x="7635240" y="4142232"/>
            <a:ext cx="329184" cy="329184"/>
          </a:xfrm>
          <a:prstGeom prst="ellipse">
            <a:avLst/>
          </a:prstGeom>
          <a:solidFill>
            <a:srgbClr val="E2823D"/>
          </a:solidFill>
          <a:ln/>
        </p:spPr>
      </p:sp>
      <p:pic>
        <p:nvPicPr>
          <p:cNvPr id="60" name="Image 6" descr="/home/claude/canteen/icons/qr.png"/>
          <p:cNvPicPr>
            <a:picLocks noChangeAspect="1"/>
          </p:cNvPicPr>
          <p:nvPr/>
        </p:nvPicPr>
        <p:blipFill>
          <a:blip r:embed="rId9"/>
          <a:stretch>
            <a:fillRect/>
          </a:stretch>
        </p:blipFill>
        <p:spPr>
          <a:xfrm>
            <a:off x="7687909" y="4194901"/>
            <a:ext cx="223845" cy="223845"/>
          </a:xfrm>
          <a:prstGeom prst="rect">
            <a:avLst/>
          </a:prstGeom>
        </p:spPr>
      </p:pic>
      <p:sp>
        <p:nvSpPr>
          <p:cNvPr id="61" name="Text 52"/>
          <p:cNvSpPr/>
          <p:nvPr/>
        </p:nvSpPr>
        <p:spPr>
          <a:xfrm>
            <a:off x="8092440" y="4105656"/>
            <a:ext cx="3246120" cy="402336"/>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QR Code Verification</a:t>
            </a:r>
            <a:endParaRPr lang="en-US" sz="1100" dirty="0"/>
          </a:p>
        </p:txBody>
      </p:sp>
      <p:sp>
        <p:nvSpPr>
          <p:cNvPr id="62" name="Shape 53"/>
          <p:cNvSpPr/>
          <p:nvPr/>
        </p:nvSpPr>
        <p:spPr>
          <a:xfrm>
            <a:off x="7635240" y="4590288"/>
            <a:ext cx="329184" cy="329184"/>
          </a:xfrm>
          <a:prstGeom prst="ellipse">
            <a:avLst/>
          </a:prstGeom>
          <a:solidFill>
            <a:srgbClr val="E2823D"/>
          </a:solidFill>
          <a:ln/>
        </p:spPr>
      </p:sp>
      <p:pic>
        <p:nvPicPr>
          <p:cNvPr id="63" name="Image 7" descr="/home/claude/canteen/icons/bell.png"/>
          <p:cNvPicPr>
            <a:picLocks noChangeAspect="1"/>
          </p:cNvPicPr>
          <p:nvPr/>
        </p:nvPicPr>
        <p:blipFill>
          <a:blip r:embed="rId10"/>
          <a:stretch>
            <a:fillRect/>
          </a:stretch>
        </p:blipFill>
        <p:spPr>
          <a:xfrm>
            <a:off x="7687909" y="4642957"/>
            <a:ext cx="223845" cy="223845"/>
          </a:xfrm>
          <a:prstGeom prst="rect">
            <a:avLst/>
          </a:prstGeom>
        </p:spPr>
      </p:pic>
      <p:sp>
        <p:nvSpPr>
          <p:cNvPr id="64" name="Text 54"/>
          <p:cNvSpPr/>
          <p:nvPr/>
        </p:nvSpPr>
        <p:spPr>
          <a:xfrm>
            <a:off x="8092440" y="4553712"/>
            <a:ext cx="3246120" cy="402336"/>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Notifications &amp; Alerts</a:t>
            </a:r>
            <a:endParaRPr lang="en-US" sz="1100" dirty="0"/>
          </a:p>
        </p:txBody>
      </p:sp>
      <p:sp>
        <p:nvSpPr>
          <p:cNvPr id="65" name="Shape 55"/>
          <p:cNvSpPr/>
          <p:nvPr/>
        </p:nvSpPr>
        <p:spPr>
          <a:xfrm>
            <a:off x="7635240" y="5038344"/>
            <a:ext cx="329184" cy="329184"/>
          </a:xfrm>
          <a:prstGeom prst="ellipse">
            <a:avLst/>
          </a:prstGeom>
          <a:solidFill>
            <a:srgbClr val="E2823D"/>
          </a:solidFill>
          <a:ln/>
        </p:spPr>
      </p:sp>
      <p:pic>
        <p:nvPicPr>
          <p:cNvPr id="66" name="Image 8" descr="/home/claude/canteen/icons/history.png"/>
          <p:cNvPicPr>
            <a:picLocks noChangeAspect="1"/>
          </p:cNvPicPr>
          <p:nvPr/>
        </p:nvPicPr>
        <p:blipFill>
          <a:blip r:embed="rId11"/>
          <a:stretch>
            <a:fillRect/>
          </a:stretch>
        </p:blipFill>
        <p:spPr>
          <a:xfrm>
            <a:off x="7687909" y="5091013"/>
            <a:ext cx="223845" cy="223845"/>
          </a:xfrm>
          <a:prstGeom prst="rect">
            <a:avLst/>
          </a:prstGeom>
        </p:spPr>
      </p:pic>
      <p:sp>
        <p:nvSpPr>
          <p:cNvPr id="67" name="Text 56"/>
          <p:cNvSpPr/>
          <p:nvPr/>
        </p:nvSpPr>
        <p:spPr>
          <a:xfrm>
            <a:off x="8092440" y="5001768"/>
            <a:ext cx="3246120" cy="402336"/>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Order History Management</a:t>
            </a:r>
            <a:endParaRPr lang="en-US" sz="1100" dirty="0"/>
          </a:p>
        </p:txBody>
      </p:sp>
      <p:sp>
        <p:nvSpPr>
          <p:cNvPr id="68" name="Shape 57"/>
          <p:cNvSpPr/>
          <p:nvPr/>
        </p:nvSpPr>
        <p:spPr>
          <a:xfrm>
            <a:off x="7635240" y="5486400"/>
            <a:ext cx="329184" cy="329184"/>
          </a:xfrm>
          <a:prstGeom prst="ellipse">
            <a:avLst/>
          </a:prstGeom>
          <a:solidFill>
            <a:srgbClr val="E2823D"/>
          </a:solidFill>
          <a:ln/>
        </p:spPr>
      </p:sp>
      <p:pic>
        <p:nvPicPr>
          <p:cNvPr id="69" name="Image 9" descr="/home/claude/canteen/icons/dashboard.png"/>
          <p:cNvPicPr>
            <a:picLocks noChangeAspect="1"/>
          </p:cNvPicPr>
          <p:nvPr/>
        </p:nvPicPr>
        <p:blipFill>
          <a:blip r:embed="rId12"/>
          <a:stretch>
            <a:fillRect/>
          </a:stretch>
        </p:blipFill>
        <p:spPr>
          <a:xfrm>
            <a:off x="7687909" y="5539069"/>
            <a:ext cx="223845" cy="223845"/>
          </a:xfrm>
          <a:prstGeom prst="rect">
            <a:avLst/>
          </a:prstGeom>
        </p:spPr>
      </p:pic>
      <p:sp>
        <p:nvSpPr>
          <p:cNvPr id="70" name="Text 58"/>
          <p:cNvSpPr/>
          <p:nvPr/>
        </p:nvSpPr>
        <p:spPr>
          <a:xfrm>
            <a:off x="8092440" y="5449824"/>
            <a:ext cx="3246120" cy="402336"/>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Admin Dashboard Management</a:t>
            </a:r>
            <a:endParaRPr lang="en-US" sz="1100" dirty="0"/>
          </a:p>
        </p:txBody>
      </p:sp>
      <p:sp>
        <p:nvSpPr>
          <p:cNvPr id="71" name="Text 59"/>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72" name="Text 60"/>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code.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420624"/>
            <a:ext cx="8229600" cy="274320"/>
          </a:xfrm>
          <a:prstGeom prst="rect">
            <a:avLst/>
          </a:prstGeom>
          <a:noFill/>
          <a:ln/>
        </p:spPr>
        <p:txBody>
          <a:bodyPr wrap="square" lIns="0" tIns="0" rIns="0" bIns="0" rtlCol="0" anchor="ctr"/>
          <a:lstStyle/>
          <a:p>
            <a:pPr marL="0" indent="0">
              <a:buNone/>
            </a:pPr>
            <a:r>
              <a:rPr lang="en-US" sz="1100" b="1" kern="0" spc="150" dirty="0">
                <a:solidFill>
                  <a:srgbClr val="E2823D"/>
                </a:solidFill>
                <a:latin typeface="Calibri" pitchFamily="34" charset="0"/>
                <a:ea typeface="Calibri" pitchFamily="34" charset="-122"/>
                <a:cs typeface="Calibri" pitchFamily="34" charset="-120"/>
              </a:rPr>
              <a:t>ENGINEERING FOUNDATIONS · PART 1</a:t>
            </a:r>
            <a:endParaRPr lang="en-US" sz="1100" dirty="0"/>
          </a:p>
        </p:txBody>
      </p:sp>
      <p:sp>
        <p:nvSpPr>
          <p:cNvPr id="5" name="Text 2"/>
          <p:cNvSpPr/>
          <p:nvPr/>
        </p:nvSpPr>
        <p:spPr>
          <a:xfrm>
            <a:off x="1280160" y="676656"/>
            <a:ext cx="10058400" cy="50292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Course Outcomes</a:t>
            </a:r>
            <a:endParaRPr lang="en-US" sz="3000" dirty="0"/>
          </a:p>
        </p:txBody>
      </p:sp>
      <p:sp>
        <p:nvSpPr>
          <p:cNvPr id="6" name="Shape 3"/>
          <p:cNvSpPr/>
          <p:nvPr/>
        </p:nvSpPr>
        <p:spPr>
          <a:xfrm>
            <a:off x="548640" y="1554480"/>
            <a:ext cx="11064240" cy="2194560"/>
          </a:xfrm>
          <a:prstGeom prst="roundRect">
            <a:avLst>
              <a:gd name="adj" fmla="val 3333"/>
            </a:avLst>
          </a:prstGeom>
          <a:solidFill>
            <a:srgbClr val="F5F7F8"/>
          </a:solidFill>
          <a:ln/>
          <a:effectLst>
            <a:outerShdw blurRad="88900" dist="25400" dir="5400000" algn="bl" rotWithShape="0">
              <a:srgbClr val="1B3A4B">
                <a:alpha val="14000"/>
              </a:srgbClr>
            </a:outerShdw>
          </a:effectLst>
        </p:spPr>
      </p:sp>
      <p:sp>
        <p:nvSpPr>
          <p:cNvPr id="7" name="Shape 4"/>
          <p:cNvSpPr/>
          <p:nvPr/>
        </p:nvSpPr>
        <p:spPr>
          <a:xfrm>
            <a:off x="777240" y="1783080"/>
            <a:ext cx="1051560" cy="384048"/>
          </a:xfrm>
          <a:prstGeom prst="roundRect">
            <a:avLst>
              <a:gd name="adj" fmla="val 50000"/>
            </a:avLst>
          </a:prstGeom>
          <a:solidFill>
            <a:srgbClr val="1B3A4B"/>
          </a:solidFill>
          <a:ln/>
        </p:spPr>
      </p:sp>
      <p:sp>
        <p:nvSpPr>
          <p:cNvPr id="8" name="Text 5"/>
          <p:cNvSpPr/>
          <p:nvPr/>
        </p:nvSpPr>
        <p:spPr>
          <a:xfrm>
            <a:off x="777240" y="1783080"/>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CO1</a:t>
            </a:r>
            <a:endParaRPr lang="en-US" sz="1300" dirty="0"/>
          </a:p>
        </p:txBody>
      </p:sp>
      <p:sp>
        <p:nvSpPr>
          <p:cNvPr id="9" name="Text 6"/>
          <p:cNvSpPr/>
          <p:nvPr/>
        </p:nvSpPr>
        <p:spPr>
          <a:xfrm>
            <a:off x="1965960" y="1755648"/>
            <a:ext cx="9418320" cy="438912"/>
          </a:xfrm>
          <a:prstGeom prst="rect">
            <a:avLst/>
          </a:prstGeom>
          <a:noFill/>
          <a:ln/>
        </p:spPr>
        <p:txBody>
          <a:bodyPr wrap="square" lIns="0" tIns="0" rIns="0" bIns="0" rtlCol="0" anchor="ctr"/>
          <a:lstStyle/>
          <a:p>
            <a:pPr marL="0" indent="0">
              <a:buNone/>
            </a:pPr>
            <a:r>
              <a:rPr lang="en-US" sz="1550" b="1" dirty="0">
                <a:solidFill>
                  <a:srgbClr val="1B3A4B"/>
                </a:solidFill>
                <a:latin typeface="Cambria" pitchFamily="34" charset="0"/>
                <a:ea typeface="Cambria" pitchFamily="34" charset="-122"/>
                <a:cs typeface="Cambria" pitchFamily="34" charset="-120"/>
              </a:rPr>
              <a:t>Foundations of Front-End Engineering &amp; Framework Design</a:t>
            </a:r>
            <a:endParaRPr lang="en-US" sz="1550" dirty="0"/>
          </a:p>
        </p:txBody>
      </p:sp>
      <p:sp>
        <p:nvSpPr>
          <p:cNvPr id="10" name="Text 7"/>
          <p:cNvSpPr/>
          <p:nvPr/>
        </p:nvSpPr>
        <p:spPr>
          <a:xfrm>
            <a:off x="868680" y="2286000"/>
            <a:ext cx="10424160" cy="1325880"/>
          </a:xfrm>
          <a:prstGeom prst="rect">
            <a:avLst/>
          </a:prstGeom>
          <a:noFill/>
          <a:ln/>
        </p:spPr>
        <p:txBody>
          <a:bodyPr wrap="square" lIns="0" tIns="0" rIns="0" bIns="0" rtlCol="0" anchor="t"/>
          <a:lstStyle/>
          <a:p>
            <a:pPr marL="0" indent="0">
              <a:lnSpc>
                <a:spcPct val="122000"/>
              </a:lnSpc>
              <a:buNone/>
            </a:pPr>
            <a:r>
              <a:rPr lang="en-US" sz="1250" dirty="0">
                <a:solidFill>
                  <a:srgbClr val="20303A"/>
                </a:solidFill>
                <a:latin typeface="Calibri" pitchFamily="34" charset="0"/>
                <a:ea typeface="Calibri" pitchFamily="34" charset="-122"/>
                <a:cs typeface="Calibri" pitchFamily="34" charset="-120"/>
              </a:rPr>
              <a:t>Uses a component-based architecture to simplify complex canteen operations such as menu display, token generation, and order management. React's declarative UI updates the interface efficiently whenever order details or menu items change, with unidirectional data flow improving maintainability, scalability, and overall user experience.</a:t>
            </a:r>
            <a:endParaRPr lang="en-US" sz="1250" dirty="0"/>
          </a:p>
        </p:txBody>
      </p:sp>
      <p:sp>
        <p:nvSpPr>
          <p:cNvPr id="11" name="Shape 8"/>
          <p:cNvSpPr/>
          <p:nvPr/>
        </p:nvSpPr>
        <p:spPr>
          <a:xfrm>
            <a:off x="548640" y="3943209"/>
            <a:ext cx="11064240" cy="2194560"/>
          </a:xfrm>
          <a:prstGeom prst="roundRect">
            <a:avLst>
              <a:gd name="adj" fmla="val 3333"/>
            </a:avLst>
          </a:prstGeom>
          <a:solidFill>
            <a:srgbClr val="F5F7F8"/>
          </a:solidFill>
          <a:ln/>
          <a:effectLst>
            <a:outerShdw blurRad="88900" dist="25400" dir="5400000" algn="bl" rotWithShape="0">
              <a:srgbClr val="1B3A4B">
                <a:alpha val="14000"/>
              </a:srgbClr>
            </a:outerShdw>
          </a:effectLst>
        </p:spPr>
      </p:sp>
      <p:sp>
        <p:nvSpPr>
          <p:cNvPr id="12" name="Shape 9"/>
          <p:cNvSpPr/>
          <p:nvPr/>
        </p:nvSpPr>
        <p:spPr>
          <a:xfrm>
            <a:off x="777240" y="4160520"/>
            <a:ext cx="1051560" cy="384048"/>
          </a:xfrm>
          <a:prstGeom prst="roundRect">
            <a:avLst>
              <a:gd name="adj" fmla="val 50000"/>
            </a:avLst>
          </a:prstGeom>
          <a:solidFill>
            <a:srgbClr val="1B3A4B"/>
          </a:solidFill>
          <a:ln/>
        </p:spPr>
      </p:sp>
      <p:sp>
        <p:nvSpPr>
          <p:cNvPr id="13" name="Text 10"/>
          <p:cNvSpPr/>
          <p:nvPr/>
        </p:nvSpPr>
        <p:spPr>
          <a:xfrm>
            <a:off x="777240" y="4160520"/>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CO2</a:t>
            </a:r>
            <a:endParaRPr lang="en-US" sz="1300" dirty="0"/>
          </a:p>
        </p:txBody>
      </p:sp>
      <p:sp>
        <p:nvSpPr>
          <p:cNvPr id="14" name="Text 11"/>
          <p:cNvSpPr/>
          <p:nvPr/>
        </p:nvSpPr>
        <p:spPr>
          <a:xfrm>
            <a:off x="1965960" y="4133088"/>
            <a:ext cx="9418320" cy="438912"/>
          </a:xfrm>
          <a:prstGeom prst="rect">
            <a:avLst/>
          </a:prstGeom>
          <a:noFill/>
          <a:ln/>
        </p:spPr>
        <p:txBody>
          <a:bodyPr wrap="square" lIns="0" tIns="0" rIns="0" bIns="0" rtlCol="0" anchor="ctr"/>
          <a:lstStyle/>
          <a:p>
            <a:pPr marL="0" indent="0">
              <a:buNone/>
            </a:pPr>
            <a:r>
              <a:rPr lang="en-US" sz="1550" b="1" dirty="0">
                <a:solidFill>
                  <a:srgbClr val="1B3A4B"/>
                </a:solidFill>
                <a:latin typeface="Cambria" pitchFamily="34" charset="0"/>
                <a:ea typeface="Cambria" pitchFamily="34" charset="-122"/>
                <a:cs typeface="Cambria" pitchFamily="34" charset="-120"/>
              </a:rPr>
              <a:t>JavaScript &amp; TypeScript Engineering for Frameworks</a:t>
            </a:r>
            <a:endParaRPr lang="en-US" sz="1550" dirty="0"/>
          </a:p>
        </p:txBody>
      </p:sp>
      <p:sp>
        <p:nvSpPr>
          <p:cNvPr id="15" name="Text 12"/>
          <p:cNvSpPr/>
          <p:nvPr/>
        </p:nvSpPr>
        <p:spPr>
          <a:xfrm>
            <a:off x="868680" y="4663440"/>
            <a:ext cx="10424160" cy="1325880"/>
          </a:xfrm>
          <a:prstGeom prst="rect">
            <a:avLst/>
          </a:prstGeom>
          <a:noFill/>
          <a:ln/>
        </p:spPr>
        <p:txBody>
          <a:bodyPr wrap="square" lIns="0" tIns="0" rIns="0" bIns="0" rtlCol="0" anchor="t"/>
          <a:lstStyle/>
          <a:p>
            <a:pPr marL="0" indent="0">
              <a:lnSpc>
                <a:spcPct val="122000"/>
              </a:lnSpc>
              <a:buNone/>
            </a:pPr>
            <a:r>
              <a:rPr lang="en-US" sz="1250" dirty="0">
                <a:solidFill>
                  <a:srgbClr val="20303A"/>
                </a:solidFill>
                <a:latin typeface="Calibri" pitchFamily="34" charset="0"/>
                <a:ea typeface="Calibri" pitchFamily="34" charset="-122"/>
                <a:cs typeface="Calibri" pitchFamily="34" charset="-120"/>
              </a:rPr>
              <a:t>JavaScript ES6+ features — arrow functions, modules, async/await, and promises — handle user interactions and asynchronous API requests throughout the project. The application is organized into reusable modules for menu management, token generation, notifications, and billing, improving readability and future enhancements.</a:t>
            </a:r>
            <a:endParaRPr lang="en-US" sz="1250" dirty="0"/>
          </a:p>
        </p:txBody>
      </p:sp>
      <p:sp>
        <p:nvSpPr>
          <p:cNvPr id="16" name="Text 13"/>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17" name="Text 14"/>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layer.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420624"/>
            <a:ext cx="8229600" cy="274320"/>
          </a:xfrm>
          <a:prstGeom prst="rect">
            <a:avLst/>
          </a:prstGeom>
          <a:noFill/>
          <a:ln/>
        </p:spPr>
        <p:txBody>
          <a:bodyPr wrap="square" lIns="0" tIns="0" rIns="0" bIns="0" rtlCol="0" anchor="ctr"/>
          <a:lstStyle/>
          <a:p>
            <a:pPr marL="0" indent="0">
              <a:buNone/>
            </a:pPr>
            <a:r>
              <a:rPr lang="en-US" sz="1100" b="1" kern="0" spc="150" dirty="0">
                <a:solidFill>
                  <a:srgbClr val="E2823D"/>
                </a:solidFill>
                <a:latin typeface="Calibri" pitchFamily="34" charset="0"/>
                <a:ea typeface="Calibri" pitchFamily="34" charset="-122"/>
                <a:cs typeface="Calibri" pitchFamily="34" charset="-120"/>
              </a:rPr>
              <a:t>ENGINEERING FOUNDATIONS · PART 2</a:t>
            </a:r>
            <a:endParaRPr lang="en-US" sz="1100" dirty="0"/>
          </a:p>
        </p:txBody>
      </p:sp>
      <p:sp>
        <p:nvSpPr>
          <p:cNvPr id="5" name="Text 2"/>
          <p:cNvSpPr/>
          <p:nvPr/>
        </p:nvSpPr>
        <p:spPr>
          <a:xfrm>
            <a:off x="1280160" y="676656"/>
            <a:ext cx="10058400" cy="50292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Course Outcomes</a:t>
            </a:r>
            <a:endParaRPr lang="en-US" sz="3000" dirty="0"/>
          </a:p>
        </p:txBody>
      </p:sp>
      <p:sp>
        <p:nvSpPr>
          <p:cNvPr id="6" name="Shape 3"/>
          <p:cNvSpPr/>
          <p:nvPr/>
        </p:nvSpPr>
        <p:spPr>
          <a:xfrm>
            <a:off x="548640" y="1554480"/>
            <a:ext cx="11064240" cy="2194560"/>
          </a:xfrm>
          <a:prstGeom prst="roundRect">
            <a:avLst>
              <a:gd name="adj" fmla="val 3333"/>
            </a:avLst>
          </a:prstGeom>
          <a:solidFill>
            <a:srgbClr val="F5F7F8"/>
          </a:solidFill>
          <a:ln/>
          <a:effectLst>
            <a:outerShdw blurRad="88900" dist="25400" dir="5400000" algn="bl" rotWithShape="0">
              <a:srgbClr val="1B3A4B">
                <a:alpha val="14000"/>
              </a:srgbClr>
            </a:outerShdw>
          </a:effectLst>
        </p:spPr>
      </p:sp>
      <p:sp>
        <p:nvSpPr>
          <p:cNvPr id="7" name="Shape 4"/>
          <p:cNvSpPr/>
          <p:nvPr/>
        </p:nvSpPr>
        <p:spPr>
          <a:xfrm>
            <a:off x="777240" y="1783080"/>
            <a:ext cx="1051560" cy="384048"/>
          </a:xfrm>
          <a:prstGeom prst="roundRect">
            <a:avLst>
              <a:gd name="adj" fmla="val 50000"/>
            </a:avLst>
          </a:prstGeom>
          <a:solidFill>
            <a:srgbClr val="1B3A4B"/>
          </a:solidFill>
          <a:ln/>
        </p:spPr>
      </p:sp>
      <p:sp>
        <p:nvSpPr>
          <p:cNvPr id="8" name="Text 5"/>
          <p:cNvSpPr/>
          <p:nvPr/>
        </p:nvSpPr>
        <p:spPr>
          <a:xfrm>
            <a:off x="777240" y="1783080"/>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CO3</a:t>
            </a:r>
            <a:endParaRPr lang="en-US" sz="1300" dirty="0"/>
          </a:p>
        </p:txBody>
      </p:sp>
      <p:sp>
        <p:nvSpPr>
          <p:cNvPr id="9" name="Text 6"/>
          <p:cNvSpPr/>
          <p:nvPr/>
        </p:nvSpPr>
        <p:spPr>
          <a:xfrm>
            <a:off x="1965960" y="1755648"/>
            <a:ext cx="9418320" cy="438912"/>
          </a:xfrm>
          <a:prstGeom prst="rect">
            <a:avLst/>
          </a:prstGeom>
          <a:noFill/>
          <a:ln/>
        </p:spPr>
        <p:txBody>
          <a:bodyPr wrap="square" lIns="0" tIns="0" rIns="0" bIns="0" rtlCol="0" anchor="ctr"/>
          <a:lstStyle/>
          <a:p>
            <a:pPr marL="0" indent="0">
              <a:buNone/>
            </a:pPr>
            <a:r>
              <a:rPr lang="en-US" sz="1550" b="1" dirty="0">
                <a:solidFill>
                  <a:srgbClr val="1B3A4B"/>
                </a:solidFill>
                <a:latin typeface="Cambria" pitchFamily="34" charset="0"/>
                <a:ea typeface="Cambria" pitchFamily="34" charset="-122"/>
                <a:cs typeface="Cambria" pitchFamily="34" charset="-120"/>
              </a:rPr>
              <a:t>React Component Model (Engineering View)</a:t>
            </a:r>
            <a:endParaRPr lang="en-US" sz="1550" dirty="0"/>
          </a:p>
        </p:txBody>
      </p:sp>
      <p:sp>
        <p:nvSpPr>
          <p:cNvPr id="10" name="Text 7"/>
          <p:cNvSpPr/>
          <p:nvPr/>
        </p:nvSpPr>
        <p:spPr>
          <a:xfrm>
            <a:off x="868680" y="2286000"/>
            <a:ext cx="10424160" cy="1325880"/>
          </a:xfrm>
          <a:prstGeom prst="rect">
            <a:avLst/>
          </a:prstGeom>
          <a:noFill/>
          <a:ln/>
        </p:spPr>
        <p:txBody>
          <a:bodyPr wrap="square" lIns="0" tIns="0" rIns="0" bIns="0" rtlCol="0" anchor="t"/>
          <a:lstStyle/>
          <a:p>
            <a:pPr marL="0" indent="0">
              <a:lnSpc>
                <a:spcPct val="122000"/>
              </a:lnSpc>
              <a:buNone/>
            </a:pPr>
            <a:r>
              <a:rPr lang="en-US" sz="1250" dirty="0">
                <a:solidFill>
                  <a:srgbClr val="20303A"/>
                </a:solidFill>
                <a:latin typeface="Calibri" pitchFamily="34" charset="0"/>
                <a:ea typeface="Calibri" pitchFamily="34" charset="-122"/>
                <a:cs typeface="Calibri" pitchFamily="34" charset="-120"/>
              </a:rPr>
              <a:t>Built using reusable React components — Menu Display, Token Form, Dietary Filter, Billing Dashboard, and Admin Panel — each handling a specific function and independently maintainable. State and props manage dynamic data such as selected items and token details, enabling a clean, structured, reusable interface.</a:t>
            </a:r>
            <a:endParaRPr lang="en-US" sz="1250" dirty="0"/>
          </a:p>
        </p:txBody>
      </p:sp>
      <p:sp>
        <p:nvSpPr>
          <p:cNvPr id="11" name="Shape 8"/>
          <p:cNvSpPr/>
          <p:nvPr/>
        </p:nvSpPr>
        <p:spPr>
          <a:xfrm>
            <a:off x="548640" y="3931920"/>
            <a:ext cx="11064240" cy="2194560"/>
          </a:xfrm>
          <a:prstGeom prst="roundRect">
            <a:avLst>
              <a:gd name="adj" fmla="val 3333"/>
            </a:avLst>
          </a:prstGeom>
          <a:solidFill>
            <a:srgbClr val="F5F7F8"/>
          </a:solidFill>
          <a:ln/>
          <a:effectLst>
            <a:outerShdw blurRad="88900" dist="25400" dir="5400000" algn="bl" rotWithShape="0">
              <a:srgbClr val="1B3A4B">
                <a:alpha val="14000"/>
              </a:srgbClr>
            </a:outerShdw>
          </a:effectLst>
        </p:spPr>
      </p:sp>
      <p:sp>
        <p:nvSpPr>
          <p:cNvPr id="12" name="Shape 9"/>
          <p:cNvSpPr/>
          <p:nvPr/>
        </p:nvSpPr>
        <p:spPr>
          <a:xfrm>
            <a:off x="777240" y="4160520"/>
            <a:ext cx="1051560" cy="384048"/>
          </a:xfrm>
          <a:prstGeom prst="roundRect">
            <a:avLst>
              <a:gd name="adj" fmla="val 50000"/>
            </a:avLst>
          </a:prstGeom>
          <a:solidFill>
            <a:srgbClr val="1B3A4B"/>
          </a:solidFill>
          <a:ln/>
        </p:spPr>
      </p:sp>
      <p:sp>
        <p:nvSpPr>
          <p:cNvPr id="13" name="Text 10"/>
          <p:cNvSpPr/>
          <p:nvPr/>
        </p:nvSpPr>
        <p:spPr>
          <a:xfrm>
            <a:off x="777240" y="4160520"/>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CO4</a:t>
            </a:r>
            <a:endParaRPr lang="en-US" sz="1300" dirty="0"/>
          </a:p>
        </p:txBody>
      </p:sp>
      <p:sp>
        <p:nvSpPr>
          <p:cNvPr id="14" name="Text 11"/>
          <p:cNvSpPr/>
          <p:nvPr/>
        </p:nvSpPr>
        <p:spPr>
          <a:xfrm>
            <a:off x="1965960" y="4133088"/>
            <a:ext cx="9418320" cy="438912"/>
          </a:xfrm>
          <a:prstGeom prst="rect">
            <a:avLst/>
          </a:prstGeom>
          <a:noFill/>
          <a:ln/>
        </p:spPr>
        <p:txBody>
          <a:bodyPr wrap="square" lIns="0" tIns="0" rIns="0" bIns="0" rtlCol="0" anchor="ctr"/>
          <a:lstStyle/>
          <a:p>
            <a:pPr marL="0" indent="0">
              <a:buNone/>
            </a:pPr>
            <a:r>
              <a:rPr lang="en-US" sz="1550" b="1" dirty="0">
                <a:solidFill>
                  <a:srgbClr val="1B3A4B"/>
                </a:solidFill>
                <a:latin typeface="Cambria" pitchFamily="34" charset="0"/>
                <a:ea typeface="Cambria" pitchFamily="34" charset="-122"/>
                <a:cs typeface="Cambria" pitchFamily="34" charset="-120"/>
              </a:rPr>
              <a:t>State Architecture, Async Data Engineering &amp; API Integration</a:t>
            </a:r>
            <a:endParaRPr lang="en-US" sz="1550" dirty="0"/>
          </a:p>
        </p:txBody>
      </p:sp>
      <p:sp>
        <p:nvSpPr>
          <p:cNvPr id="15" name="Text 12"/>
          <p:cNvSpPr/>
          <p:nvPr/>
        </p:nvSpPr>
        <p:spPr>
          <a:xfrm>
            <a:off x="868680" y="4663440"/>
            <a:ext cx="10424160" cy="1325880"/>
          </a:xfrm>
          <a:prstGeom prst="rect">
            <a:avLst/>
          </a:prstGeom>
          <a:noFill/>
          <a:ln/>
        </p:spPr>
        <p:txBody>
          <a:bodyPr wrap="square" lIns="0" tIns="0" rIns="0" bIns="0" rtlCol="0" anchor="t"/>
          <a:lstStyle/>
          <a:p>
            <a:pPr marL="0" indent="0">
              <a:lnSpc>
                <a:spcPct val="122000"/>
              </a:lnSpc>
              <a:buNone/>
            </a:pPr>
            <a:r>
              <a:rPr lang="en-US" sz="1250" dirty="0">
                <a:solidFill>
                  <a:srgbClr val="20303A"/>
                </a:solidFill>
                <a:latin typeface="Calibri" pitchFamily="34" charset="0"/>
                <a:ea typeface="Calibri" pitchFamily="34" charset="-122"/>
                <a:cs typeface="Calibri" pitchFamily="34" charset="-120"/>
              </a:rPr>
              <a:t>Application state for orders, menu items, notifications, and user interactions is managed with React state techniques and shared efficiently across components. Axios and REST APIs exchange data between the React frontend and Node.js backend, with asynchronous operations keeping the UI responsive.</a:t>
            </a:r>
            <a:endParaRPr lang="en-US" sz="1250" dirty="0"/>
          </a:p>
        </p:txBody>
      </p:sp>
      <p:sp>
        <p:nvSpPr>
          <p:cNvPr id="16" name="Text 13"/>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17" name="Text 14"/>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cloud.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420624"/>
            <a:ext cx="8229600" cy="274320"/>
          </a:xfrm>
          <a:prstGeom prst="rect">
            <a:avLst/>
          </a:prstGeom>
          <a:noFill/>
          <a:ln/>
        </p:spPr>
        <p:txBody>
          <a:bodyPr wrap="square" lIns="0" tIns="0" rIns="0" bIns="0" rtlCol="0" anchor="ctr"/>
          <a:lstStyle/>
          <a:p>
            <a:pPr marL="0" indent="0">
              <a:buNone/>
            </a:pPr>
            <a:r>
              <a:rPr lang="en-US" sz="1100" b="1" kern="0" spc="150" dirty="0">
                <a:solidFill>
                  <a:srgbClr val="E2823D"/>
                </a:solidFill>
                <a:latin typeface="Calibri" pitchFamily="34" charset="0"/>
                <a:ea typeface="Calibri" pitchFamily="34" charset="-122"/>
                <a:cs typeface="Calibri" pitchFamily="34" charset="-120"/>
              </a:rPr>
              <a:t>ENGINEERING FOUNDATIONS · PART 3</a:t>
            </a:r>
            <a:endParaRPr lang="en-US" sz="1100" dirty="0"/>
          </a:p>
        </p:txBody>
      </p:sp>
      <p:sp>
        <p:nvSpPr>
          <p:cNvPr id="5" name="Text 2"/>
          <p:cNvSpPr/>
          <p:nvPr/>
        </p:nvSpPr>
        <p:spPr>
          <a:xfrm>
            <a:off x="1280160" y="676656"/>
            <a:ext cx="10058400" cy="50292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Course Outcomes</a:t>
            </a:r>
            <a:endParaRPr lang="en-US" sz="3000" dirty="0"/>
          </a:p>
        </p:txBody>
      </p:sp>
      <p:sp>
        <p:nvSpPr>
          <p:cNvPr id="6" name="Shape 3"/>
          <p:cNvSpPr/>
          <p:nvPr/>
        </p:nvSpPr>
        <p:spPr>
          <a:xfrm>
            <a:off x="548640" y="1554480"/>
            <a:ext cx="11064240" cy="2194560"/>
          </a:xfrm>
          <a:prstGeom prst="roundRect">
            <a:avLst>
              <a:gd name="adj" fmla="val 3333"/>
            </a:avLst>
          </a:prstGeom>
          <a:solidFill>
            <a:srgbClr val="F5F7F8"/>
          </a:solidFill>
          <a:ln/>
          <a:effectLst>
            <a:outerShdw blurRad="88900" dist="25400" dir="5400000" algn="bl" rotWithShape="0">
              <a:srgbClr val="1B3A4B">
                <a:alpha val="14000"/>
              </a:srgbClr>
            </a:outerShdw>
          </a:effectLst>
        </p:spPr>
      </p:sp>
      <p:sp>
        <p:nvSpPr>
          <p:cNvPr id="7" name="Shape 4"/>
          <p:cNvSpPr/>
          <p:nvPr/>
        </p:nvSpPr>
        <p:spPr>
          <a:xfrm>
            <a:off x="777240" y="1783080"/>
            <a:ext cx="1051560" cy="384048"/>
          </a:xfrm>
          <a:prstGeom prst="roundRect">
            <a:avLst>
              <a:gd name="adj" fmla="val 50000"/>
            </a:avLst>
          </a:prstGeom>
          <a:solidFill>
            <a:srgbClr val="1B3A4B"/>
          </a:solidFill>
          <a:ln/>
        </p:spPr>
      </p:sp>
      <p:sp>
        <p:nvSpPr>
          <p:cNvPr id="8" name="Text 5"/>
          <p:cNvSpPr/>
          <p:nvPr/>
        </p:nvSpPr>
        <p:spPr>
          <a:xfrm>
            <a:off x="777240" y="1783080"/>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CO5</a:t>
            </a:r>
            <a:endParaRPr lang="en-US" sz="1300" dirty="0"/>
          </a:p>
        </p:txBody>
      </p:sp>
      <p:sp>
        <p:nvSpPr>
          <p:cNvPr id="9" name="Text 6"/>
          <p:cNvSpPr/>
          <p:nvPr/>
        </p:nvSpPr>
        <p:spPr>
          <a:xfrm>
            <a:off x="1965960" y="1755648"/>
            <a:ext cx="9418320" cy="438912"/>
          </a:xfrm>
          <a:prstGeom prst="rect">
            <a:avLst/>
          </a:prstGeom>
          <a:noFill/>
          <a:ln/>
        </p:spPr>
        <p:txBody>
          <a:bodyPr wrap="square" lIns="0" tIns="0" rIns="0" bIns="0" rtlCol="0" anchor="ctr"/>
          <a:lstStyle/>
          <a:p>
            <a:pPr marL="0" indent="0">
              <a:buNone/>
            </a:pPr>
            <a:r>
              <a:rPr lang="en-US" sz="1550" b="1" dirty="0">
                <a:solidFill>
                  <a:srgbClr val="1B3A4B"/>
                </a:solidFill>
                <a:latin typeface="Cambria" pitchFamily="34" charset="0"/>
                <a:ea typeface="Cambria" pitchFamily="34" charset="-122"/>
                <a:cs typeface="Cambria" pitchFamily="34" charset="-120"/>
              </a:rPr>
              <a:t>Routing, Forms, Accessibility &amp; Performance Engineering</a:t>
            </a:r>
            <a:endParaRPr lang="en-US" sz="1550" dirty="0"/>
          </a:p>
        </p:txBody>
      </p:sp>
      <p:sp>
        <p:nvSpPr>
          <p:cNvPr id="10" name="Text 7"/>
          <p:cNvSpPr/>
          <p:nvPr/>
        </p:nvSpPr>
        <p:spPr>
          <a:xfrm>
            <a:off x="868680" y="2286000"/>
            <a:ext cx="10424160" cy="1325880"/>
          </a:xfrm>
          <a:prstGeom prst="rect">
            <a:avLst/>
          </a:prstGeom>
          <a:noFill/>
          <a:ln/>
        </p:spPr>
        <p:txBody>
          <a:bodyPr wrap="square" lIns="0" tIns="0" rIns="0" bIns="0" rtlCol="0" anchor="t"/>
          <a:lstStyle/>
          <a:p>
            <a:pPr marL="0" indent="0">
              <a:lnSpc>
                <a:spcPct val="122000"/>
              </a:lnSpc>
              <a:buNone/>
            </a:pPr>
            <a:r>
              <a:rPr lang="en-US" sz="1250" dirty="0">
                <a:solidFill>
                  <a:srgbClr val="20303A"/>
                </a:solidFill>
                <a:latin typeface="Calibri" pitchFamily="34" charset="0"/>
                <a:ea typeface="Calibri" pitchFamily="34" charset="-122"/>
                <a:cs typeface="Calibri" pitchFamily="34" charset="-120"/>
              </a:rPr>
              <a:t>React Router navigates between Home, Menu, Order History, Billing Dashboard, and Admin Panel, with form validation ensuring accurate input while ordering and generating tokens. Component reusability, efficient state updates, and lazy loading keep the interface responsive, user-friendly, and accessible.</a:t>
            </a:r>
            <a:endParaRPr lang="en-US" sz="1250" dirty="0"/>
          </a:p>
        </p:txBody>
      </p:sp>
      <p:sp>
        <p:nvSpPr>
          <p:cNvPr id="11" name="Shape 8"/>
          <p:cNvSpPr/>
          <p:nvPr/>
        </p:nvSpPr>
        <p:spPr>
          <a:xfrm>
            <a:off x="548640" y="3931920"/>
            <a:ext cx="11064240" cy="2194560"/>
          </a:xfrm>
          <a:prstGeom prst="roundRect">
            <a:avLst>
              <a:gd name="adj" fmla="val 3333"/>
            </a:avLst>
          </a:prstGeom>
          <a:solidFill>
            <a:srgbClr val="F5F7F8"/>
          </a:solidFill>
          <a:ln/>
          <a:effectLst>
            <a:outerShdw blurRad="88900" dist="25400" dir="5400000" algn="bl" rotWithShape="0">
              <a:srgbClr val="1B3A4B">
                <a:alpha val="14000"/>
              </a:srgbClr>
            </a:outerShdw>
          </a:effectLst>
        </p:spPr>
      </p:sp>
      <p:sp>
        <p:nvSpPr>
          <p:cNvPr id="12" name="Shape 9"/>
          <p:cNvSpPr/>
          <p:nvPr/>
        </p:nvSpPr>
        <p:spPr>
          <a:xfrm>
            <a:off x="777240" y="4160520"/>
            <a:ext cx="1051560" cy="384048"/>
          </a:xfrm>
          <a:prstGeom prst="roundRect">
            <a:avLst>
              <a:gd name="adj" fmla="val 50000"/>
            </a:avLst>
          </a:prstGeom>
          <a:solidFill>
            <a:srgbClr val="1B3A4B"/>
          </a:solidFill>
          <a:ln/>
        </p:spPr>
      </p:sp>
      <p:sp>
        <p:nvSpPr>
          <p:cNvPr id="13" name="Text 10"/>
          <p:cNvSpPr/>
          <p:nvPr/>
        </p:nvSpPr>
        <p:spPr>
          <a:xfrm>
            <a:off x="777240" y="4160520"/>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CO6</a:t>
            </a:r>
            <a:endParaRPr lang="en-US" sz="1300" dirty="0"/>
          </a:p>
        </p:txBody>
      </p:sp>
      <p:sp>
        <p:nvSpPr>
          <p:cNvPr id="14" name="Text 11"/>
          <p:cNvSpPr/>
          <p:nvPr/>
        </p:nvSpPr>
        <p:spPr>
          <a:xfrm>
            <a:off x="1965960" y="4133088"/>
            <a:ext cx="9418320" cy="438912"/>
          </a:xfrm>
          <a:prstGeom prst="rect">
            <a:avLst/>
          </a:prstGeom>
          <a:noFill/>
          <a:ln/>
        </p:spPr>
        <p:txBody>
          <a:bodyPr wrap="square" lIns="0" tIns="0" rIns="0" bIns="0" rtlCol="0" anchor="ctr"/>
          <a:lstStyle/>
          <a:p>
            <a:pPr marL="0" indent="0">
              <a:buNone/>
            </a:pPr>
            <a:r>
              <a:rPr lang="en-US" sz="1550" b="1" dirty="0">
                <a:solidFill>
                  <a:srgbClr val="1B3A4B"/>
                </a:solidFill>
                <a:latin typeface="Cambria" pitchFamily="34" charset="0"/>
                <a:ea typeface="Cambria" pitchFamily="34" charset="-122"/>
                <a:cs typeface="Cambria" pitchFamily="34" charset="-120"/>
              </a:rPr>
              <a:t>Build Systems, Testing, CI/CD &amp; Deployment Engineering</a:t>
            </a:r>
            <a:endParaRPr lang="en-US" sz="1550" dirty="0"/>
          </a:p>
        </p:txBody>
      </p:sp>
      <p:sp>
        <p:nvSpPr>
          <p:cNvPr id="15" name="Text 12"/>
          <p:cNvSpPr/>
          <p:nvPr/>
        </p:nvSpPr>
        <p:spPr>
          <a:xfrm>
            <a:off x="868680" y="4663440"/>
            <a:ext cx="10424160" cy="1325880"/>
          </a:xfrm>
          <a:prstGeom prst="rect">
            <a:avLst/>
          </a:prstGeom>
          <a:noFill/>
          <a:ln/>
        </p:spPr>
        <p:txBody>
          <a:bodyPr wrap="square" lIns="0" tIns="0" rIns="0" bIns="0" rtlCol="0" anchor="t"/>
          <a:lstStyle/>
          <a:p>
            <a:pPr marL="0" indent="0">
              <a:lnSpc>
                <a:spcPct val="122000"/>
              </a:lnSpc>
              <a:buNone/>
            </a:pPr>
            <a:r>
              <a:rPr lang="en-US" sz="1250" dirty="0">
                <a:solidFill>
                  <a:srgbClr val="20303A"/>
                </a:solidFill>
                <a:latin typeface="Calibri" pitchFamily="34" charset="0"/>
                <a:ea typeface="Calibri" pitchFamily="34" charset="-122"/>
                <a:cs typeface="Calibri" pitchFamily="34" charset="-120"/>
              </a:rPr>
              <a:t>Developed with modern build tools such as npm and React development environments, with dependencies managed efficiently for smooth delivery. Postman validates API functionality, and the project can be deployed on platforms such as Netlify or Vercel for scalability and reliable access.</a:t>
            </a:r>
            <a:endParaRPr lang="en-US" sz="1250" dirty="0"/>
          </a:p>
        </p:txBody>
      </p:sp>
      <p:sp>
        <p:nvSpPr>
          <p:cNvPr id="16" name="Text 13"/>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17" name="Text 14"/>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chart.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502920"/>
            <a:ext cx="10058400" cy="54864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Expected Outcomes</a:t>
            </a:r>
            <a:endParaRPr lang="en-US" sz="3000" dirty="0"/>
          </a:p>
        </p:txBody>
      </p:sp>
      <p:sp>
        <p:nvSpPr>
          <p:cNvPr id="5" name="Shape 2"/>
          <p:cNvSpPr/>
          <p:nvPr/>
        </p:nvSpPr>
        <p:spPr>
          <a:xfrm>
            <a:off x="548640" y="1508760"/>
            <a:ext cx="5349240" cy="694944"/>
          </a:xfrm>
          <a:prstGeom prst="roundRect">
            <a:avLst>
              <a:gd name="adj" fmla="val 9211"/>
            </a:avLst>
          </a:prstGeom>
          <a:solidFill>
            <a:srgbClr val="F5F7F8"/>
          </a:solidFill>
          <a:ln/>
        </p:spPr>
      </p:sp>
      <p:sp>
        <p:nvSpPr>
          <p:cNvPr id="6" name="Shape 3"/>
          <p:cNvSpPr/>
          <p:nvPr/>
        </p:nvSpPr>
        <p:spPr>
          <a:xfrm>
            <a:off x="694944" y="1618488"/>
            <a:ext cx="457200" cy="457200"/>
          </a:xfrm>
          <a:prstGeom prst="ellipse">
            <a:avLst/>
          </a:prstGeom>
          <a:solidFill>
            <a:srgbClr val="E2823D"/>
          </a:solidFill>
          <a:ln/>
        </p:spPr>
      </p:sp>
      <p:pic>
        <p:nvPicPr>
          <p:cNvPr id="7" name="Image 1" descr="/home/claude/canteen/icons/check.png"/>
          <p:cNvPicPr>
            <a:picLocks noChangeAspect="1"/>
          </p:cNvPicPr>
          <p:nvPr/>
        </p:nvPicPr>
        <p:blipFill>
          <a:blip r:embed="rId4"/>
          <a:stretch>
            <a:fillRect/>
          </a:stretch>
        </p:blipFill>
        <p:spPr>
          <a:xfrm>
            <a:off x="768096" y="1691640"/>
            <a:ext cx="310896" cy="310896"/>
          </a:xfrm>
          <a:prstGeom prst="rect">
            <a:avLst/>
          </a:prstGeom>
        </p:spPr>
      </p:pic>
      <p:sp>
        <p:nvSpPr>
          <p:cNvPr id="8" name="Text 4"/>
          <p:cNvSpPr/>
          <p:nvPr/>
        </p:nvSpPr>
        <p:spPr>
          <a:xfrm>
            <a:off x="1261872" y="1563624"/>
            <a:ext cx="4480560" cy="585216"/>
          </a:xfrm>
          <a:prstGeom prst="rect">
            <a:avLst/>
          </a:prstGeom>
          <a:noFill/>
          <a:ln/>
        </p:spPr>
        <p:txBody>
          <a:bodyPr wrap="square" lIns="0" tIns="0" rIns="0" bIns="0" rtlCol="0" anchor="ctr"/>
          <a:lstStyle/>
          <a:p>
            <a:pPr marL="0" indent="0">
              <a:lnSpc>
                <a:spcPct val="105000"/>
              </a:lnSpc>
              <a:buNone/>
            </a:pPr>
            <a:r>
              <a:rPr lang="en-US" sz="1250" dirty="0">
                <a:solidFill>
                  <a:srgbClr val="20303A"/>
                </a:solidFill>
                <a:latin typeface="Calibri" pitchFamily="34" charset="0"/>
                <a:ea typeface="Calibri" pitchFamily="34" charset="-122"/>
                <a:cs typeface="Calibri" pitchFamily="34" charset="-120"/>
              </a:rPr>
              <a:t>Reduce waiting time in the college canteen</a:t>
            </a:r>
            <a:endParaRPr lang="en-US" sz="1250" dirty="0"/>
          </a:p>
        </p:txBody>
      </p:sp>
      <p:sp>
        <p:nvSpPr>
          <p:cNvPr id="9" name="Shape 5"/>
          <p:cNvSpPr/>
          <p:nvPr/>
        </p:nvSpPr>
        <p:spPr>
          <a:xfrm>
            <a:off x="6172200" y="1508760"/>
            <a:ext cx="5349240" cy="694944"/>
          </a:xfrm>
          <a:prstGeom prst="roundRect">
            <a:avLst>
              <a:gd name="adj" fmla="val 9211"/>
            </a:avLst>
          </a:prstGeom>
          <a:solidFill>
            <a:srgbClr val="F5F7F8"/>
          </a:solidFill>
          <a:ln/>
        </p:spPr>
      </p:sp>
      <p:sp>
        <p:nvSpPr>
          <p:cNvPr id="10" name="Shape 6"/>
          <p:cNvSpPr/>
          <p:nvPr/>
        </p:nvSpPr>
        <p:spPr>
          <a:xfrm>
            <a:off x="6318504" y="1618488"/>
            <a:ext cx="457200" cy="457200"/>
          </a:xfrm>
          <a:prstGeom prst="ellipse">
            <a:avLst/>
          </a:prstGeom>
          <a:solidFill>
            <a:srgbClr val="1B3A4B"/>
          </a:solidFill>
          <a:ln/>
        </p:spPr>
      </p:sp>
      <p:pic>
        <p:nvPicPr>
          <p:cNvPr id="11" name="Image 2" descr="/home/claude/canteen/icons/check.png"/>
          <p:cNvPicPr>
            <a:picLocks noChangeAspect="1"/>
          </p:cNvPicPr>
          <p:nvPr/>
        </p:nvPicPr>
        <p:blipFill>
          <a:blip r:embed="rId4"/>
          <a:stretch>
            <a:fillRect/>
          </a:stretch>
        </p:blipFill>
        <p:spPr>
          <a:xfrm>
            <a:off x="6391656" y="1691640"/>
            <a:ext cx="310896" cy="310896"/>
          </a:xfrm>
          <a:prstGeom prst="rect">
            <a:avLst/>
          </a:prstGeom>
        </p:spPr>
      </p:pic>
      <p:sp>
        <p:nvSpPr>
          <p:cNvPr id="12" name="Text 7"/>
          <p:cNvSpPr/>
          <p:nvPr/>
        </p:nvSpPr>
        <p:spPr>
          <a:xfrm>
            <a:off x="6885432" y="1563624"/>
            <a:ext cx="4480560" cy="585216"/>
          </a:xfrm>
          <a:prstGeom prst="rect">
            <a:avLst/>
          </a:prstGeom>
          <a:noFill/>
          <a:ln/>
        </p:spPr>
        <p:txBody>
          <a:bodyPr wrap="square" lIns="0" tIns="0" rIns="0" bIns="0" rtlCol="0" anchor="ctr"/>
          <a:lstStyle/>
          <a:p>
            <a:pPr marL="0" indent="0">
              <a:lnSpc>
                <a:spcPct val="105000"/>
              </a:lnSpc>
              <a:buNone/>
            </a:pPr>
            <a:r>
              <a:rPr lang="en-US" sz="1250" dirty="0">
                <a:solidFill>
                  <a:srgbClr val="20303A"/>
                </a:solidFill>
                <a:latin typeface="Calibri" pitchFamily="34" charset="0"/>
                <a:ea typeface="Calibri" pitchFamily="34" charset="-122"/>
                <a:cs typeface="Calibri" pitchFamily="34" charset="-120"/>
              </a:rPr>
              <a:t>Minimize crowding during peak hours</a:t>
            </a:r>
            <a:endParaRPr lang="en-US" sz="1250" dirty="0"/>
          </a:p>
        </p:txBody>
      </p:sp>
      <p:sp>
        <p:nvSpPr>
          <p:cNvPr id="13" name="Shape 8"/>
          <p:cNvSpPr/>
          <p:nvPr/>
        </p:nvSpPr>
        <p:spPr>
          <a:xfrm>
            <a:off x="548640" y="2350008"/>
            <a:ext cx="5349240" cy="694944"/>
          </a:xfrm>
          <a:prstGeom prst="roundRect">
            <a:avLst>
              <a:gd name="adj" fmla="val 9211"/>
            </a:avLst>
          </a:prstGeom>
          <a:solidFill>
            <a:srgbClr val="F5F7F8"/>
          </a:solidFill>
          <a:ln/>
        </p:spPr>
      </p:sp>
      <p:sp>
        <p:nvSpPr>
          <p:cNvPr id="14" name="Shape 9"/>
          <p:cNvSpPr/>
          <p:nvPr/>
        </p:nvSpPr>
        <p:spPr>
          <a:xfrm>
            <a:off x="694944" y="2459736"/>
            <a:ext cx="457200" cy="457200"/>
          </a:xfrm>
          <a:prstGeom prst="ellipse">
            <a:avLst/>
          </a:prstGeom>
          <a:solidFill>
            <a:srgbClr val="1B3A4B"/>
          </a:solidFill>
          <a:ln/>
        </p:spPr>
      </p:sp>
      <p:pic>
        <p:nvPicPr>
          <p:cNvPr id="15" name="Image 3" descr="/home/claude/canteen/icons/check.png"/>
          <p:cNvPicPr>
            <a:picLocks noChangeAspect="1"/>
          </p:cNvPicPr>
          <p:nvPr/>
        </p:nvPicPr>
        <p:blipFill>
          <a:blip r:embed="rId4"/>
          <a:stretch>
            <a:fillRect/>
          </a:stretch>
        </p:blipFill>
        <p:spPr>
          <a:xfrm>
            <a:off x="768096" y="2532888"/>
            <a:ext cx="310896" cy="310896"/>
          </a:xfrm>
          <a:prstGeom prst="rect">
            <a:avLst/>
          </a:prstGeom>
        </p:spPr>
      </p:pic>
      <p:sp>
        <p:nvSpPr>
          <p:cNvPr id="16" name="Text 10"/>
          <p:cNvSpPr/>
          <p:nvPr/>
        </p:nvSpPr>
        <p:spPr>
          <a:xfrm>
            <a:off x="1261872" y="2404872"/>
            <a:ext cx="4480560" cy="585216"/>
          </a:xfrm>
          <a:prstGeom prst="rect">
            <a:avLst/>
          </a:prstGeom>
          <a:noFill/>
          <a:ln/>
        </p:spPr>
        <p:txBody>
          <a:bodyPr wrap="square" lIns="0" tIns="0" rIns="0" bIns="0" rtlCol="0" anchor="ctr"/>
          <a:lstStyle/>
          <a:p>
            <a:pPr marL="0" indent="0">
              <a:lnSpc>
                <a:spcPct val="105000"/>
              </a:lnSpc>
              <a:buNone/>
            </a:pPr>
            <a:r>
              <a:rPr lang="en-US" sz="1250" dirty="0">
                <a:solidFill>
                  <a:srgbClr val="20303A"/>
                </a:solidFill>
                <a:latin typeface="Calibri" pitchFamily="34" charset="0"/>
                <a:ea typeface="Calibri" pitchFamily="34" charset="-122"/>
                <a:cs typeface="Calibri" pitchFamily="34" charset="-120"/>
              </a:rPr>
              <a:t>Enable quick, convenient online ordering</a:t>
            </a:r>
            <a:endParaRPr lang="en-US" sz="1250" dirty="0"/>
          </a:p>
        </p:txBody>
      </p:sp>
      <p:sp>
        <p:nvSpPr>
          <p:cNvPr id="17" name="Shape 11"/>
          <p:cNvSpPr/>
          <p:nvPr/>
        </p:nvSpPr>
        <p:spPr>
          <a:xfrm>
            <a:off x="6172200" y="2350008"/>
            <a:ext cx="5349240" cy="694944"/>
          </a:xfrm>
          <a:prstGeom prst="roundRect">
            <a:avLst>
              <a:gd name="adj" fmla="val 9211"/>
            </a:avLst>
          </a:prstGeom>
          <a:solidFill>
            <a:srgbClr val="F5F7F8"/>
          </a:solidFill>
          <a:ln/>
        </p:spPr>
      </p:sp>
      <p:sp>
        <p:nvSpPr>
          <p:cNvPr id="18" name="Shape 12"/>
          <p:cNvSpPr/>
          <p:nvPr/>
        </p:nvSpPr>
        <p:spPr>
          <a:xfrm>
            <a:off x="6318504" y="2459736"/>
            <a:ext cx="457200" cy="457200"/>
          </a:xfrm>
          <a:prstGeom prst="ellipse">
            <a:avLst/>
          </a:prstGeom>
          <a:solidFill>
            <a:srgbClr val="E2823D"/>
          </a:solidFill>
          <a:ln/>
        </p:spPr>
      </p:sp>
      <p:pic>
        <p:nvPicPr>
          <p:cNvPr id="19" name="Image 4" descr="/home/claude/canteen/icons/check.png"/>
          <p:cNvPicPr>
            <a:picLocks noChangeAspect="1"/>
          </p:cNvPicPr>
          <p:nvPr/>
        </p:nvPicPr>
        <p:blipFill>
          <a:blip r:embed="rId4"/>
          <a:stretch>
            <a:fillRect/>
          </a:stretch>
        </p:blipFill>
        <p:spPr>
          <a:xfrm>
            <a:off x="6391656" y="2532888"/>
            <a:ext cx="310896" cy="310896"/>
          </a:xfrm>
          <a:prstGeom prst="rect">
            <a:avLst/>
          </a:prstGeom>
        </p:spPr>
      </p:pic>
      <p:sp>
        <p:nvSpPr>
          <p:cNvPr id="20" name="Text 13"/>
          <p:cNvSpPr/>
          <p:nvPr/>
        </p:nvSpPr>
        <p:spPr>
          <a:xfrm>
            <a:off x="6885432" y="2404872"/>
            <a:ext cx="4480560" cy="585216"/>
          </a:xfrm>
          <a:prstGeom prst="rect">
            <a:avLst/>
          </a:prstGeom>
          <a:noFill/>
          <a:ln/>
        </p:spPr>
        <p:txBody>
          <a:bodyPr wrap="square" lIns="0" tIns="0" rIns="0" bIns="0" rtlCol="0" anchor="ctr"/>
          <a:lstStyle/>
          <a:p>
            <a:pPr marL="0" indent="0">
              <a:lnSpc>
                <a:spcPct val="105000"/>
              </a:lnSpc>
              <a:buNone/>
            </a:pPr>
            <a:r>
              <a:rPr lang="en-US" sz="1250" dirty="0">
                <a:solidFill>
                  <a:srgbClr val="20303A"/>
                </a:solidFill>
                <a:latin typeface="Calibri" pitchFamily="34" charset="0"/>
                <a:ea typeface="Calibri" pitchFamily="34" charset="-122"/>
                <a:cs typeface="Calibri" pitchFamily="34" charset="-120"/>
              </a:rPr>
              <a:t>Generate digital tokens for food collection</a:t>
            </a:r>
            <a:endParaRPr lang="en-US" sz="1250" dirty="0"/>
          </a:p>
        </p:txBody>
      </p:sp>
      <p:sp>
        <p:nvSpPr>
          <p:cNvPr id="21" name="Shape 14"/>
          <p:cNvSpPr/>
          <p:nvPr/>
        </p:nvSpPr>
        <p:spPr>
          <a:xfrm>
            <a:off x="548640" y="3191256"/>
            <a:ext cx="5349240" cy="694944"/>
          </a:xfrm>
          <a:prstGeom prst="roundRect">
            <a:avLst>
              <a:gd name="adj" fmla="val 9211"/>
            </a:avLst>
          </a:prstGeom>
          <a:solidFill>
            <a:srgbClr val="F5F7F8"/>
          </a:solidFill>
          <a:ln/>
        </p:spPr>
      </p:sp>
      <p:sp>
        <p:nvSpPr>
          <p:cNvPr id="22" name="Shape 15"/>
          <p:cNvSpPr/>
          <p:nvPr/>
        </p:nvSpPr>
        <p:spPr>
          <a:xfrm>
            <a:off x="694944" y="3300984"/>
            <a:ext cx="457200" cy="457200"/>
          </a:xfrm>
          <a:prstGeom prst="ellipse">
            <a:avLst/>
          </a:prstGeom>
          <a:solidFill>
            <a:srgbClr val="1B3A4B"/>
          </a:solidFill>
          <a:ln/>
        </p:spPr>
      </p:sp>
      <p:pic>
        <p:nvPicPr>
          <p:cNvPr id="23" name="Image 5" descr="/home/claude/canteen/icons/check.png"/>
          <p:cNvPicPr>
            <a:picLocks noChangeAspect="1"/>
          </p:cNvPicPr>
          <p:nvPr/>
        </p:nvPicPr>
        <p:blipFill>
          <a:blip r:embed="rId4"/>
          <a:stretch>
            <a:fillRect/>
          </a:stretch>
        </p:blipFill>
        <p:spPr>
          <a:xfrm>
            <a:off x="768096" y="3374136"/>
            <a:ext cx="310896" cy="310896"/>
          </a:xfrm>
          <a:prstGeom prst="rect">
            <a:avLst/>
          </a:prstGeom>
        </p:spPr>
      </p:pic>
      <p:sp>
        <p:nvSpPr>
          <p:cNvPr id="24" name="Text 16"/>
          <p:cNvSpPr/>
          <p:nvPr/>
        </p:nvSpPr>
        <p:spPr>
          <a:xfrm>
            <a:off x="1261872" y="3246120"/>
            <a:ext cx="4480560" cy="585216"/>
          </a:xfrm>
          <a:prstGeom prst="rect">
            <a:avLst/>
          </a:prstGeom>
          <a:noFill/>
          <a:ln/>
        </p:spPr>
        <p:txBody>
          <a:bodyPr wrap="square" lIns="0" tIns="0" rIns="0" bIns="0" rtlCol="0" anchor="ctr"/>
          <a:lstStyle/>
          <a:p>
            <a:pPr marL="0" indent="0">
              <a:lnSpc>
                <a:spcPct val="105000"/>
              </a:lnSpc>
              <a:buNone/>
            </a:pPr>
            <a:r>
              <a:rPr lang="en-US" sz="1250" dirty="0">
                <a:solidFill>
                  <a:srgbClr val="20303A"/>
                </a:solidFill>
                <a:latin typeface="Calibri" pitchFamily="34" charset="0"/>
                <a:ea typeface="Calibri" pitchFamily="34" charset="-122"/>
                <a:cs typeface="Calibri" pitchFamily="34" charset="-120"/>
              </a:rPr>
              <a:t>Improve order tracking &amp; management</a:t>
            </a:r>
            <a:endParaRPr lang="en-US" sz="1250" dirty="0"/>
          </a:p>
        </p:txBody>
      </p:sp>
      <p:sp>
        <p:nvSpPr>
          <p:cNvPr id="25" name="Shape 17"/>
          <p:cNvSpPr/>
          <p:nvPr/>
        </p:nvSpPr>
        <p:spPr>
          <a:xfrm>
            <a:off x="6172200" y="3191256"/>
            <a:ext cx="5349240" cy="694944"/>
          </a:xfrm>
          <a:prstGeom prst="roundRect">
            <a:avLst>
              <a:gd name="adj" fmla="val 9211"/>
            </a:avLst>
          </a:prstGeom>
          <a:solidFill>
            <a:srgbClr val="F5F7F8"/>
          </a:solidFill>
          <a:ln/>
        </p:spPr>
      </p:sp>
      <p:sp>
        <p:nvSpPr>
          <p:cNvPr id="26" name="Shape 18"/>
          <p:cNvSpPr/>
          <p:nvPr/>
        </p:nvSpPr>
        <p:spPr>
          <a:xfrm>
            <a:off x="6318504" y="3300984"/>
            <a:ext cx="457200" cy="457200"/>
          </a:xfrm>
          <a:prstGeom prst="ellipse">
            <a:avLst/>
          </a:prstGeom>
          <a:solidFill>
            <a:srgbClr val="1B3A4B"/>
          </a:solidFill>
          <a:ln/>
        </p:spPr>
      </p:sp>
      <p:pic>
        <p:nvPicPr>
          <p:cNvPr id="27" name="Image 6" descr="/home/claude/canteen/icons/check.png"/>
          <p:cNvPicPr>
            <a:picLocks noChangeAspect="1"/>
          </p:cNvPicPr>
          <p:nvPr/>
        </p:nvPicPr>
        <p:blipFill>
          <a:blip r:embed="rId4"/>
          <a:stretch>
            <a:fillRect/>
          </a:stretch>
        </p:blipFill>
        <p:spPr>
          <a:xfrm>
            <a:off x="6391656" y="3374136"/>
            <a:ext cx="310896" cy="310896"/>
          </a:xfrm>
          <a:prstGeom prst="rect">
            <a:avLst/>
          </a:prstGeom>
        </p:spPr>
      </p:pic>
      <p:sp>
        <p:nvSpPr>
          <p:cNvPr id="28" name="Text 19"/>
          <p:cNvSpPr/>
          <p:nvPr/>
        </p:nvSpPr>
        <p:spPr>
          <a:xfrm>
            <a:off x="6885432" y="3246120"/>
            <a:ext cx="4480560" cy="585216"/>
          </a:xfrm>
          <a:prstGeom prst="rect">
            <a:avLst/>
          </a:prstGeom>
          <a:noFill/>
          <a:ln/>
        </p:spPr>
        <p:txBody>
          <a:bodyPr wrap="square" lIns="0" tIns="0" rIns="0" bIns="0" rtlCol="0" anchor="ctr"/>
          <a:lstStyle/>
          <a:p>
            <a:pPr marL="0" indent="0">
              <a:lnSpc>
                <a:spcPct val="105000"/>
              </a:lnSpc>
              <a:buNone/>
            </a:pPr>
            <a:r>
              <a:rPr lang="en-US" sz="1250" dirty="0">
                <a:solidFill>
                  <a:srgbClr val="20303A"/>
                </a:solidFill>
                <a:latin typeface="Calibri" pitchFamily="34" charset="0"/>
                <a:ea typeface="Calibri" pitchFamily="34" charset="-122"/>
                <a:cs typeface="Calibri" pitchFamily="34" charset="-120"/>
              </a:rPr>
              <a:t>Reduce manual errors in billing &amp; tokens</a:t>
            </a:r>
            <a:endParaRPr lang="en-US" sz="1250" dirty="0"/>
          </a:p>
        </p:txBody>
      </p:sp>
      <p:sp>
        <p:nvSpPr>
          <p:cNvPr id="29" name="Shape 20"/>
          <p:cNvSpPr/>
          <p:nvPr/>
        </p:nvSpPr>
        <p:spPr>
          <a:xfrm>
            <a:off x="548640" y="4032504"/>
            <a:ext cx="5349240" cy="694944"/>
          </a:xfrm>
          <a:prstGeom prst="roundRect">
            <a:avLst>
              <a:gd name="adj" fmla="val 9211"/>
            </a:avLst>
          </a:prstGeom>
          <a:solidFill>
            <a:srgbClr val="F5F7F8"/>
          </a:solidFill>
          <a:ln/>
        </p:spPr>
      </p:sp>
      <p:sp>
        <p:nvSpPr>
          <p:cNvPr id="30" name="Shape 21"/>
          <p:cNvSpPr/>
          <p:nvPr/>
        </p:nvSpPr>
        <p:spPr>
          <a:xfrm>
            <a:off x="694944" y="4142232"/>
            <a:ext cx="457200" cy="457200"/>
          </a:xfrm>
          <a:prstGeom prst="ellipse">
            <a:avLst/>
          </a:prstGeom>
          <a:solidFill>
            <a:srgbClr val="E2823D"/>
          </a:solidFill>
          <a:ln/>
        </p:spPr>
      </p:sp>
      <p:pic>
        <p:nvPicPr>
          <p:cNvPr id="31" name="Image 7" descr="/home/claude/canteen/icons/check.png"/>
          <p:cNvPicPr>
            <a:picLocks noChangeAspect="1"/>
          </p:cNvPicPr>
          <p:nvPr/>
        </p:nvPicPr>
        <p:blipFill>
          <a:blip r:embed="rId4"/>
          <a:stretch>
            <a:fillRect/>
          </a:stretch>
        </p:blipFill>
        <p:spPr>
          <a:xfrm>
            <a:off x="768096" y="4215384"/>
            <a:ext cx="310896" cy="310896"/>
          </a:xfrm>
          <a:prstGeom prst="rect">
            <a:avLst/>
          </a:prstGeom>
        </p:spPr>
      </p:pic>
      <p:sp>
        <p:nvSpPr>
          <p:cNvPr id="32" name="Text 22"/>
          <p:cNvSpPr/>
          <p:nvPr/>
        </p:nvSpPr>
        <p:spPr>
          <a:xfrm>
            <a:off x="1261872" y="4087368"/>
            <a:ext cx="4480560" cy="585216"/>
          </a:xfrm>
          <a:prstGeom prst="rect">
            <a:avLst/>
          </a:prstGeom>
          <a:noFill/>
          <a:ln/>
        </p:spPr>
        <p:txBody>
          <a:bodyPr wrap="square" lIns="0" tIns="0" rIns="0" bIns="0" rtlCol="0" anchor="ctr"/>
          <a:lstStyle/>
          <a:p>
            <a:pPr marL="0" indent="0">
              <a:lnSpc>
                <a:spcPct val="105000"/>
              </a:lnSpc>
              <a:buNone/>
            </a:pPr>
            <a:r>
              <a:rPr lang="en-US" sz="1250" dirty="0">
                <a:solidFill>
                  <a:srgbClr val="20303A"/>
                </a:solidFill>
                <a:latin typeface="Calibri" pitchFamily="34" charset="0"/>
                <a:ea typeface="Calibri" pitchFamily="34" charset="-122"/>
                <a:cs typeface="Calibri" pitchFamily="34" charset="-120"/>
              </a:rPr>
              <a:t>Secure QR code-based order verification</a:t>
            </a:r>
            <a:endParaRPr lang="en-US" sz="1250" dirty="0"/>
          </a:p>
        </p:txBody>
      </p:sp>
      <p:sp>
        <p:nvSpPr>
          <p:cNvPr id="33" name="Shape 23"/>
          <p:cNvSpPr/>
          <p:nvPr/>
        </p:nvSpPr>
        <p:spPr>
          <a:xfrm>
            <a:off x="6172200" y="4032504"/>
            <a:ext cx="5349240" cy="694944"/>
          </a:xfrm>
          <a:prstGeom prst="roundRect">
            <a:avLst>
              <a:gd name="adj" fmla="val 9211"/>
            </a:avLst>
          </a:prstGeom>
          <a:solidFill>
            <a:srgbClr val="F5F7F8"/>
          </a:solidFill>
          <a:ln/>
        </p:spPr>
      </p:sp>
      <p:sp>
        <p:nvSpPr>
          <p:cNvPr id="34" name="Shape 24"/>
          <p:cNvSpPr/>
          <p:nvPr/>
        </p:nvSpPr>
        <p:spPr>
          <a:xfrm>
            <a:off x="6318504" y="4142232"/>
            <a:ext cx="457200" cy="457200"/>
          </a:xfrm>
          <a:prstGeom prst="ellipse">
            <a:avLst/>
          </a:prstGeom>
          <a:solidFill>
            <a:srgbClr val="1B3A4B"/>
          </a:solidFill>
          <a:ln/>
        </p:spPr>
      </p:sp>
      <p:pic>
        <p:nvPicPr>
          <p:cNvPr id="35" name="Image 8" descr="/home/claude/canteen/icons/check.png"/>
          <p:cNvPicPr>
            <a:picLocks noChangeAspect="1"/>
          </p:cNvPicPr>
          <p:nvPr/>
        </p:nvPicPr>
        <p:blipFill>
          <a:blip r:embed="rId4"/>
          <a:stretch>
            <a:fillRect/>
          </a:stretch>
        </p:blipFill>
        <p:spPr>
          <a:xfrm>
            <a:off x="6391656" y="4215384"/>
            <a:ext cx="310896" cy="310896"/>
          </a:xfrm>
          <a:prstGeom prst="rect">
            <a:avLst/>
          </a:prstGeom>
        </p:spPr>
      </p:pic>
      <p:sp>
        <p:nvSpPr>
          <p:cNvPr id="36" name="Text 25"/>
          <p:cNvSpPr/>
          <p:nvPr/>
        </p:nvSpPr>
        <p:spPr>
          <a:xfrm>
            <a:off x="6885432" y="4087368"/>
            <a:ext cx="4480560" cy="585216"/>
          </a:xfrm>
          <a:prstGeom prst="rect">
            <a:avLst/>
          </a:prstGeom>
          <a:noFill/>
          <a:ln/>
        </p:spPr>
        <p:txBody>
          <a:bodyPr wrap="square" lIns="0" tIns="0" rIns="0" bIns="0" rtlCol="0" anchor="ctr"/>
          <a:lstStyle/>
          <a:p>
            <a:pPr marL="0" indent="0">
              <a:lnSpc>
                <a:spcPct val="105000"/>
              </a:lnSpc>
              <a:buNone/>
            </a:pPr>
            <a:r>
              <a:rPr lang="en-US" sz="1250" dirty="0">
                <a:solidFill>
                  <a:srgbClr val="20303A"/>
                </a:solidFill>
                <a:latin typeface="Calibri" pitchFamily="34" charset="0"/>
                <a:ea typeface="Calibri" pitchFamily="34" charset="-122"/>
                <a:cs typeface="Calibri" pitchFamily="34" charset="-120"/>
              </a:rPr>
              <a:t>Maintain accurate order history &amp; records</a:t>
            </a:r>
            <a:endParaRPr lang="en-US" sz="1250" dirty="0"/>
          </a:p>
        </p:txBody>
      </p:sp>
      <p:sp>
        <p:nvSpPr>
          <p:cNvPr id="37" name="Shape 26"/>
          <p:cNvSpPr/>
          <p:nvPr/>
        </p:nvSpPr>
        <p:spPr>
          <a:xfrm>
            <a:off x="548640" y="4873752"/>
            <a:ext cx="5349240" cy="694944"/>
          </a:xfrm>
          <a:prstGeom prst="roundRect">
            <a:avLst>
              <a:gd name="adj" fmla="val 9211"/>
            </a:avLst>
          </a:prstGeom>
          <a:solidFill>
            <a:srgbClr val="F5F7F8"/>
          </a:solidFill>
          <a:ln/>
        </p:spPr>
      </p:sp>
      <p:sp>
        <p:nvSpPr>
          <p:cNvPr id="38" name="Shape 27"/>
          <p:cNvSpPr/>
          <p:nvPr/>
        </p:nvSpPr>
        <p:spPr>
          <a:xfrm>
            <a:off x="694944" y="4983480"/>
            <a:ext cx="457200" cy="457200"/>
          </a:xfrm>
          <a:prstGeom prst="ellipse">
            <a:avLst/>
          </a:prstGeom>
          <a:solidFill>
            <a:srgbClr val="1B3A4B"/>
          </a:solidFill>
          <a:ln/>
        </p:spPr>
      </p:sp>
      <p:pic>
        <p:nvPicPr>
          <p:cNvPr id="39" name="Image 9" descr="/home/claude/canteen/icons/check.png"/>
          <p:cNvPicPr>
            <a:picLocks noChangeAspect="1"/>
          </p:cNvPicPr>
          <p:nvPr/>
        </p:nvPicPr>
        <p:blipFill>
          <a:blip r:embed="rId4"/>
          <a:stretch>
            <a:fillRect/>
          </a:stretch>
        </p:blipFill>
        <p:spPr>
          <a:xfrm>
            <a:off x="768096" y="5056632"/>
            <a:ext cx="310896" cy="310896"/>
          </a:xfrm>
          <a:prstGeom prst="rect">
            <a:avLst/>
          </a:prstGeom>
        </p:spPr>
      </p:pic>
      <p:sp>
        <p:nvSpPr>
          <p:cNvPr id="40" name="Text 28"/>
          <p:cNvSpPr/>
          <p:nvPr/>
        </p:nvSpPr>
        <p:spPr>
          <a:xfrm>
            <a:off x="1261872" y="4928616"/>
            <a:ext cx="4480560" cy="585216"/>
          </a:xfrm>
          <a:prstGeom prst="rect">
            <a:avLst/>
          </a:prstGeom>
          <a:noFill/>
          <a:ln/>
        </p:spPr>
        <p:txBody>
          <a:bodyPr wrap="square" lIns="0" tIns="0" rIns="0" bIns="0" rtlCol="0" anchor="ctr"/>
          <a:lstStyle/>
          <a:p>
            <a:pPr marL="0" indent="0">
              <a:lnSpc>
                <a:spcPct val="105000"/>
              </a:lnSpc>
              <a:buNone/>
            </a:pPr>
            <a:r>
              <a:rPr lang="en-US" sz="1250" dirty="0">
                <a:solidFill>
                  <a:srgbClr val="20303A"/>
                </a:solidFill>
                <a:latin typeface="Calibri" pitchFamily="34" charset="0"/>
                <a:ea typeface="Calibri" pitchFamily="34" charset="-122"/>
                <a:cs typeface="Calibri" pitchFamily="34" charset="-120"/>
              </a:rPr>
              <a:t>Enhance communication via notifications</a:t>
            </a:r>
            <a:endParaRPr lang="en-US" sz="1250" dirty="0"/>
          </a:p>
        </p:txBody>
      </p:sp>
      <p:sp>
        <p:nvSpPr>
          <p:cNvPr id="41" name="Shape 29"/>
          <p:cNvSpPr/>
          <p:nvPr/>
        </p:nvSpPr>
        <p:spPr>
          <a:xfrm>
            <a:off x="6172200" y="4873752"/>
            <a:ext cx="5349240" cy="694944"/>
          </a:xfrm>
          <a:prstGeom prst="roundRect">
            <a:avLst>
              <a:gd name="adj" fmla="val 9211"/>
            </a:avLst>
          </a:prstGeom>
          <a:solidFill>
            <a:srgbClr val="F5F7F8"/>
          </a:solidFill>
          <a:ln/>
        </p:spPr>
      </p:sp>
      <p:sp>
        <p:nvSpPr>
          <p:cNvPr id="42" name="Shape 30"/>
          <p:cNvSpPr/>
          <p:nvPr/>
        </p:nvSpPr>
        <p:spPr>
          <a:xfrm>
            <a:off x="6318504" y="4983480"/>
            <a:ext cx="457200" cy="457200"/>
          </a:xfrm>
          <a:prstGeom prst="ellipse">
            <a:avLst/>
          </a:prstGeom>
          <a:solidFill>
            <a:srgbClr val="E2823D"/>
          </a:solidFill>
          <a:ln/>
        </p:spPr>
      </p:sp>
      <p:pic>
        <p:nvPicPr>
          <p:cNvPr id="43" name="Image 10" descr="/home/claude/canteen/icons/check.png"/>
          <p:cNvPicPr>
            <a:picLocks noChangeAspect="1"/>
          </p:cNvPicPr>
          <p:nvPr/>
        </p:nvPicPr>
        <p:blipFill>
          <a:blip r:embed="rId4"/>
          <a:stretch>
            <a:fillRect/>
          </a:stretch>
        </p:blipFill>
        <p:spPr>
          <a:xfrm>
            <a:off x="6391656" y="5056632"/>
            <a:ext cx="310896" cy="310896"/>
          </a:xfrm>
          <a:prstGeom prst="rect">
            <a:avLst/>
          </a:prstGeom>
        </p:spPr>
      </p:pic>
      <p:sp>
        <p:nvSpPr>
          <p:cNvPr id="44" name="Text 31"/>
          <p:cNvSpPr/>
          <p:nvPr/>
        </p:nvSpPr>
        <p:spPr>
          <a:xfrm>
            <a:off x="6885432" y="4928616"/>
            <a:ext cx="4480560" cy="585216"/>
          </a:xfrm>
          <a:prstGeom prst="rect">
            <a:avLst/>
          </a:prstGeom>
          <a:noFill/>
          <a:ln/>
        </p:spPr>
        <p:txBody>
          <a:bodyPr wrap="square" lIns="0" tIns="0" rIns="0" bIns="0" rtlCol="0" anchor="ctr"/>
          <a:lstStyle/>
          <a:p>
            <a:pPr marL="0" indent="0">
              <a:lnSpc>
                <a:spcPct val="105000"/>
              </a:lnSpc>
              <a:buNone/>
            </a:pPr>
            <a:r>
              <a:rPr lang="en-US" sz="1250" dirty="0">
                <a:solidFill>
                  <a:srgbClr val="20303A"/>
                </a:solidFill>
                <a:latin typeface="Calibri" pitchFamily="34" charset="0"/>
                <a:ea typeface="Calibri" pitchFamily="34" charset="-122"/>
                <a:cs typeface="Calibri" pitchFamily="34" charset="-120"/>
              </a:rPr>
              <a:t>Improve overall administration &amp; UX</a:t>
            </a:r>
            <a:endParaRPr lang="en-US" sz="1250" dirty="0"/>
          </a:p>
        </p:txBody>
      </p:sp>
      <p:sp>
        <p:nvSpPr>
          <p:cNvPr id="45" name="Text 32"/>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46" name="Text 33"/>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chart.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502920"/>
            <a:ext cx="10058400" cy="54864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Results and Advantages</a:t>
            </a:r>
            <a:endParaRPr lang="en-US" sz="3000" dirty="0"/>
          </a:p>
        </p:txBody>
      </p:sp>
      <p:sp>
        <p:nvSpPr>
          <p:cNvPr id="5" name="Shape 2"/>
          <p:cNvSpPr/>
          <p:nvPr/>
        </p:nvSpPr>
        <p:spPr>
          <a:xfrm>
            <a:off x="548640" y="1463040"/>
            <a:ext cx="5349240" cy="4480560"/>
          </a:xfrm>
          <a:prstGeom prst="roundRect">
            <a:avLst>
              <a:gd name="adj" fmla="val 1633"/>
            </a:avLst>
          </a:prstGeom>
          <a:solidFill>
            <a:srgbClr val="F5F7F8"/>
          </a:solidFill>
          <a:ln/>
          <a:effectLst>
            <a:outerShdw blurRad="88900" dist="25400" dir="5400000" algn="bl" rotWithShape="0">
              <a:srgbClr val="1B3A4B">
                <a:alpha val="14000"/>
              </a:srgbClr>
            </a:outerShdw>
          </a:effectLst>
        </p:spPr>
      </p:sp>
      <p:sp>
        <p:nvSpPr>
          <p:cNvPr id="6" name="Shape 3"/>
          <p:cNvSpPr/>
          <p:nvPr/>
        </p:nvSpPr>
        <p:spPr>
          <a:xfrm>
            <a:off x="868680" y="1783080"/>
            <a:ext cx="548640" cy="548640"/>
          </a:xfrm>
          <a:prstGeom prst="ellipse">
            <a:avLst/>
          </a:prstGeom>
          <a:solidFill>
            <a:srgbClr val="1B3A4B"/>
          </a:solidFill>
          <a:ln/>
        </p:spPr>
      </p:sp>
      <p:pic>
        <p:nvPicPr>
          <p:cNvPr id="7" name="Image 1" descr="/home/claude/canteen/icons/chart.png"/>
          <p:cNvPicPr>
            <a:picLocks noChangeAspect="1"/>
          </p:cNvPicPr>
          <p:nvPr/>
        </p:nvPicPr>
        <p:blipFill>
          <a:blip r:embed="rId3"/>
          <a:stretch>
            <a:fillRect/>
          </a:stretch>
        </p:blipFill>
        <p:spPr>
          <a:xfrm>
            <a:off x="956462" y="1870862"/>
            <a:ext cx="373075" cy="373075"/>
          </a:xfrm>
          <a:prstGeom prst="rect">
            <a:avLst/>
          </a:prstGeom>
        </p:spPr>
      </p:pic>
      <p:sp>
        <p:nvSpPr>
          <p:cNvPr id="8" name="Text 4"/>
          <p:cNvSpPr/>
          <p:nvPr/>
        </p:nvSpPr>
        <p:spPr>
          <a:xfrm>
            <a:off x="1554480" y="1783080"/>
            <a:ext cx="4023360" cy="548640"/>
          </a:xfrm>
          <a:prstGeom prst="rect">
            <a:avLst/>
          </a:prstGeom>
          <a:noFill/>
          <a:ln/>
        </p:spPr>
        <p:txBody>
          <a:bodyPr wrap="square" lIns="0" tIns="0" rIns="0" bIns="0" rtlCol="0" anchor="ctr"/>
          <a:lstStyle/>
          <a:p>
            <a:pPr marL="0" indent="0">
              <a:buNone/>
            </a:pPr>
            <a:r>
              <a:rPr lang="en-US" sz="1800" b="1" dirty="0">
                <a:solidFill>
                  <a:srgbClr val="1B3A4B"/>
                </a:solidFill>
                <a:latin typeface="Cambria" pitchFamily="34" charset="0"/>
                <a:ea typeface="Cambria" pitchFamily="34" charset="-122"/>
                <a:cs typeface="Cambria" pitchFamily="34" charset="-120"/>
              </a:rPr>
              <a:t>Results</a:t>
            </a:r>
            <a:endParaRPr lang="en-US" sz="1800" dirty="0"/>
          </a:p>
        </p:txBody>
      </p:sp>
      <p:sp>
        <p:nvSpPr>
          <p:cNvPr id="9" name="Shape 5"/>
          <p:cNvSpPr/>
          <p:nvPr/>
        </p:nvSpPr>
        <p:spPr>
          <a:xfrm>
            <a:off x="914400" y="2606040"/>
            <a:ext cx="329184" cy="329184"/>
          </a:xfrm>
          <a:prstGeom prst="ellipse">
            <a:avLst/>
          </a:prstGeom>
          <a:solidFill>
            <a:srgbClr val="E2823D"/>
          </a:solidFill>
          <a:ln/>
        </p:spPr>
      </p:sp>
      <p:pic>
        <p:nvPicPr>
          <p:cNvPr id="10" name="Image 2" descr="/home/claude/canteen/icons/check.png"/>
          <p:cNvPicPr>
            <a:picLocks noChangeAspect="1"/>
          </p:cNvPicPr>
          <p:nvPr/>
        </p:nvPicPr>
        <p:blipFill>
          <a:blip r:embed="rId4"/>
          <a:stretch>
            <a:fillRect/>
          </a:stretch>
        </p:blipFill>
        <p:spPr>
          <a:xfrm>
            <a:off x="967069" y="2658709"/>
            <a:ext cx="223845" cy="223845"/>
          </a:xfrm>
          <a:prstGeom prst="rect">
            <a:avLst/>
          </a:prstGeom>
        </p:spPr>
      </p:pic>
      <p:sp>
        <p:nvSpPr>
          <p:cNvPr id="11" name="Text 6"/>
          <p:cNvSpPr/>
          <p:nvPr/>
        </p:nvSpPr>
        <p:spPr>
          <a:xfrm>
            <a:off x="1371600" y="2560320"/>
            <a:ext cx="4206240" cy="502920"/>
          </a:xfrm>
          <a:prstGeom prst="rect">
            <a:avLst/>
          </a:prstGeom>
          <a:noFill/>
          <a:ln/>
        </p:spPr>
        <p:txBody>
          <a:bodyPr wrap="square" lIns="0" tIns="0" rIns="0" bIns="0" rtlCol="0" anchor="ctr"/>
          <a:lstStyle/>
          <a:p>
            <a:pPr marL="0" indent="0">
              <a:buNone/>
            </a:pPr>
            <a:r>
              <a:rPr lang="en-US" sz="1300" dirty="0">
                <a:solidFill>
                  <a:srgbClr val="20303A"/>
                </a:solidFill>
                <a:latin typeface="Calibri" pitchFamily="34" charset="0"/>
                <a:ea typeface="Calibri" pitchFamily="34" charset="-122"/>
                <a:cs typeface="Calibri" pitchFamily="34" charset="-120"/>
              </a:rPr>
              <a:t>Reduced waiting time in the canteen</a:t>
            </a:r>
            <a:endParaRPr lang="en-US" sz="1300" dirty="0"/>
          </a:p>
        </p:txBody>
      </p:sp>
      <p:sp>
        <p:nvSpPr>
          <p:cNvPr id="12" name="Shape 7"/>
          <p:cNvSpPr/>
          <p:nvPr/>
        </p:nvSpPr>
        <p:spPr>
          <a:xfrm>
            <a:off x="914400" y="3227832"/>
            <a:ext cx="329184" cy="329184"/>
          </a:xfrm>
          <a:prstGeom prst="ellipse">
            <a:avLst/>
          </a:prstGeom>
          <a:solidFill>
            <a:srgbClr val="E2823D"/>
          </a:solidFill>
          <a:ln/>
        </p:spPr>
      </p:sp>
      <p:pic>
        <p:nvPicPr>
          <p:cNvPr id="13" name="Image 3" descr="/home/claude/canteen/icons/check.png"/>
          <p:cNvPicPr>
            <a:picLocks noChangeAspect="1"/>
          </p:cNvPicPr>
          <p:nvPr/>
        </p:nvPicPr>
        <p:blipFill>
          <a:blip r:embed="rId4"/>
          <a:stretch>
            <a:fillRect/>
          </a:stretch>
        </p:blipFill>
        <p:spPr>
          <a:xfrm>
            <a:off x="967069" y="3280501"/>
            <a:ext cx="223845" cy="223845"/>
          </a:xfrm>
          <a:prstGeom prst="rect">
            <a:avLst/>
          </a:prstGeom>
        </p:spPr>
      </p:pic>
      <p:sp>
        <p:nvSpPr>
          <p:cNvPr id="14" name="Text 8"/>
          <p:cNvSpPr/>
          <p:nvPr/>
        </p:nvSpPr>
        <p:spPr>
          <a:xfrm>
            <a:off x="1371600" y="3182112"/>
            <a:ext cx="4206240" cy="502920"/>
          </a:xfrm>
          <a:prstGeom prst="rect">
            <a:avLst/>
          </a:prstGeom>
          <a:noFill/>
          <a:ln/>
        </p:spPr>
        <p:txBody>
          <a:bodyPr wrap="square" lIns="0" tIns="0" rIns="0" bIns="0" rtlCol="0" anchor="ctr"/>
          <a:lstStyle/>
          <a:p>
            <a:pPr marL="0" indent="0">
              <a:buNone/>
            </a:pPr>
            <a:r>
              <a:rPr lang="en-US" sz="1300" dirty="0">
                <a:solidFill>
                  <a:srgbClr val="20303A"/>
                </a:solidFill>
                <a:latin typeface="Calibri" pitchFamily="34" charset="0"/>
                <a:ea typeface="Calibri" pitchFamily="34" charset="-122"/>
                <a:cs typeface="Calibri" pitchFamily="34" charset="-120"/>
              </a:rPr>
              <a:t>Digital token generation &amp; QR verification</a:t>
            </a:r>
            <a:endParaRPr lang="en-US" sz="1300" dirty="0"/>
          </a:p>
        </p:txBody>
      </p:sp>
      <p:sp>
        <p:nvSpPr>
          <p:cNvPr id="15" name="Shape 9"/>
          <p:cNvSpPr/>
          <p:nvPr/>
        </p:nvSpPr>
        <p:spPr>
          <a:xfrm>
            <a:off x="914400" y="3849624"/>
            <a:ext cx="329184" cy="329184"/>
          </a:xfrm>
          <a:prstGeom prst="ellipse">
            <a:avLst/>
          </a:prstGeom>
          <a:solidFill>
            <a:srgbClr val="E2823D"/>
          </a:solidFill>
          <a:ln/>
        </p:spPr>
      </p:sp>
      <p:pic>
        <p:nvPicPr>
          <p:cNvPr id="16" name="Image 4" descr="/home/claude/canteen/icons/check.png"/>
          <p:cNvPicPr>
            <a:picLocks noChangeAspect="1"/>
          </p:cNvPicPr>
          <p:nvPr/>
        </p:nvPicPr>
        <p:blipFill>
          <a:blip r:embed="rId4"/>
          <a:stretch>
            <a:fillRect/>
          </a:stretch>
        </p:blipFill>
        <p:spPr>
          <a:xfrm>
            <a:off x="967069" y="3902293"/>
            <a:ext cx="223845" cy="223845"/>
          </a:xfrm>
          <a:prstGeom prst="rect">
            <a:avLst/>
          </a:prstGeom>
        </p:spPr>
      </p:pic>
      <p:sp>
        <p:nvSpPr>
          <p:cNvPr id="17" name="Text 10"/>
          <p:cNvSpPr/>
          <p:nvPr/>
        </p:nvSpPr>
        <p:spPr>
          <a:xfrm>
            <a:off x="1371600" y="3803904"/>
            <a:ext cx="4206240" cy="502920"/>
          </a:xfrm>
          <a:prstGeom prst="rect">
            <a:avLst/>
          </a:prstGeom>
          <a:noFill/>
          <a:ln/>
        </p:spPr>
        <p:txBody>
          <a:bodyPr wrap="square" lIns="0" tIns="0" rIns="0" bIns="0" rtlCol="0" anchor="ctr"/>
          <a:lstStyle/>
          <a:p>
            <a:pPr marL="0" indent="0">
              <a:buNone/>
            </a:pPr>
            <a:r>
              <a:rPr lang="en-US" sz="1300" dirty="0">
                <a:solidFill>
                  <a:srgbClr val="20303A"/>
                </a:solidFill>
                <a:latin typeface="Calibri" pitchFamily="34" charset="0"/>
                <a:ea typeface="Calibri" pitchFamily="34" charset="-122"/>
                <a:cs typeface="Calibri" pitchFamily="34" charset="-120"/>
              </a:rPr>
              <a:t>Improved order tracking and management</a:t>
            </a:r>
            <a:endParaRPr lang="en-US" sz="1300" dirty="0"/>
          </a:p>
        </p:txBody>
      </p:sp>
      <p:sp>
        <p:nvSpPr>
          <p:cNvPr id="18" name="Shape 11"/>
          <p:cNvSpPr/>
          <p:nvPr/>
        </p:nvSpPr>
        <p:spPr>
          <a:xfrm>
            <a:off x="914400" y="4471416"/>
            <a:ext cx="329184" cy="329184"/>
          </a:xfrm>
          <a:prstGeom prst="ellipse">
            <a:avLst/>
          </a:prstGeom>
          <a:solidFill>
            <a:srgbClr val="E2823D"/>
          </a:solidFill>
          <a:ln/>
        </p:spPr>
      </p:sp>
      <p:pic>
        <p:nvPicPr>
          <p:cNvPr id="19" name="Image 5" descr="/home/claude/canteen/icons/check.png"/>
          <p:cNvPicPr>
            <a:picLocks noChangeAspect="1"/>
          </p:cNvPicPr>
          <p:nvPr/>
        </p:nvPicPr>
        <p:blipFill>
          <a:blip r:embed="rId4"/>
          <a:stretch>
            <a:fillRect/>
          </a:stretch>
        </p:blipFill>
        <p:spPr>
          <a:xfrm>
            <a:off x="967069" y="4524085"/>
            <a:ext cx="223845" cy="223845"/>
          </a:xfrm>
          <a:prstGeom prst="rect">
            <a:avLst/>
          </a:prstGeom>
        </p:spPr>
      </p:pic>
      <p:sp>
        <p:nvSpPr>
          <p:cNvPr id="20" name="Text 12"/>
          <p:cNvSpPr/>
          <p:nvPr/>
        </p:nvSpPr>
        <p:spPr>
          <a:xfrm>
            <a:off x="1371600" y="4425696"/>
            <a:ext cx="4206240" cy="502920"/>
          </a:xfrm>
          <a:prstGeom prst="rect">
            <a:avLst/>
          </a:prstGeom>
          <a:noFill/>
          <a:ln/>
        </p:spPr>
        <p:txBody>
          <a:bodyPr wrap="square" lIns="0" tIns="0" rIns="0" bIns="0" rtlCol="0" anchor="ctr"/>
          <a:lstStyle/>
          <a:p>
            <a:pPr marL="0" indent="0">
              <a:buNone/>
            </a:pPr>
            <a:r>
              <a:rPr lang="en-US" sz="1300" dirty="0">
                <a:solidFill>
                  <a:srgbClr val="20303A"/>
                </a:solidFill>
                <a:latin typeface="Calibri" pitchFamily="34" charset="0"/>
                <a:ea typeface="Calibri" pitchFamily="34" charset="-122"/>
                <a:cs typeface="Calibri" pitchFamily="34" charset="-120"/>
              </a:rPr>
              <a:t>Streamlined operations through automation</a:t>
            </a:r>
            <a:endParaRPr lang="en-US" sz="1300" dirty="0"/>
          </a:p>
        </p:txBody>
      </p:sp>
      <p:sp>
        <p:nvSpPr>
          <p:cNvPr id="21" name="Shape 13"/>
          <p:cNvSpPr/>
          <p:nvPr/>
        </p:nvSpPr>
        <p:spPr>
          <a:xfrm>
            <a:off x="6263640" y="1463040"/>
            <a:ext cx="5349240" cy="4480560"/>
          </a:xfrm>
          <a:prstGeom prst="roundRect">
            <a:avLst>
              <a:gd name="adj" fmla="val 1633"/>
            </a:avLst>
          </a:prstGeom>
          <a:solidFill>
            <a:srgbClr val="E8EEF1"/>
          </a:solidFill>
          <a:ln/>
          <a:effectLst>
            <a:outerShdw blurRad="88900" dist="25400" dir="5400000" algn="bl" rotWithShape="0">
              <a:srgbClr val="1B3A4B">
                <a:alpha val="14000"/>
              </a:srgbClr>
            </a:outerShdw>
          </a:effectLst>
        </p:spPr>
      </p:sp>
      <p:sp>
        <p:nvSpPr>
          <p:cNvPr id="22" name="Shape 14"/>
          <p:cNvSpPr/>
          <p:nvPr/>
        </p:nvSpPr>
        <p:spPr>
          <a:xfrm>
            <a:off x="6583680" y="1783080"/>
            <a:ext cx="548640" cy="548640"/>
          </a:xfrm>
          <a:prstGeom prst="ellipse">
            <a:avLst/>
          </a:prstGeom>
          <a:solidFill>
            <a:srgbClr val="1B3A4B"/>
          </a:solidFill>
          <a:ln/>
        </p:spPr>
      </p:sp>
      <p:pic>
        <p:nvPicPr>
          <p:cNvPr id="23" name="Image 6" descr="/home/claude/canteen/icons/star.png"/>
          <p:cNvPicPr>
            <a:picLocks noChangeAspect="1"/>
          </p:cNvPicPr>
          <p:nvPr/>
        </p:nvPicPr>
        <p:blipFill>
          <a:blip r:embed="rId5"/>
          <a:stretch>
            <a:fillRect/>
          </a:stretch>
        </p:blipFill>
        <p:spPr>
          <a:xfrm>
            <a:off x="6671462" y="1870862"/>
            <a:ext cx="373075" cy="373075"/>
          </a:xfrm>
          <a:prstGeom prst="rect">
            <a:avLst/>
          </a:prstGeom>
        </p:spPr>
      </p:pic>
      <p:sp>
        <p:nvSpPr>
          <p:cNvPr id="24" name="Text 15"/>
          <p:cNvSpPr/>
          <p:nvPr/>
        </p:nvSpPr>
        <p:spPr>
          <a:xfrm>
            <a:off x="7269480" y="1783080"/>
            <a:ext cx="4023360" cy="548640"/>
          </a:xfrm>
          <a:prstGeom prst="rect">
            <a:avLst/>
          </a:prstGeom>
          <a:noFill/>
          <a:ln/>
        </p:spPr>
        <p:txBody>
          <a:bodyPr wrap="square" lIns="0" tIns="0" rIns="0" bIns="0" rtlCol="0" anchor="ctr"/>
          <a:lstStyle/>
          <a:p>
            <a:pPr marL="0" indent="0">
              <a:buNone/>
            </a:pPr>
            <a:r>
              <a:rPr lang="en-US" sz="1800" b="1" dirty="0">
                <a:solidFill>
                  <a:srgbClr val="1B3A4B"/>
                </a:solidFill>
                <a:latin typeface="Cambria" pitchFamily="34" charset="0"/>
                <a:ea typeface="Cambria" pitchFamily="34" charset="-122"/>
                <a:cs typeface="Cambria" pitchFamily="34" charset="-120"/>
              </a:rPr>
              <a:t>Advantages</a:t>
            </a:r>
            <a:endParaRPr lang="en-US" sz="1800" dirty="0"/>
          </a:p>
        </p:txBody>
      </p:sp>
      <p:sp>
        <p:nvSpPr>
          <p:cNvPr id="25" name="Shape 16"/>
          <p:cNvSpPr/>
          <p:nvPr/>
        </p:nvSpPr>
        <p:spPr>
          <a:xfrm>
            <a:off x="6629400" y="2606040"/>
            <a:ext cx="329184" cy="329184"/>
          </a:xfrm>
          <a:prstGeom prst="ellipse">
            <a:avLst/>
          </a:prstGeom>
          <a:solidFill>
            <a:srgbClr val="E2823D"/>
          </a:solidFill>
          <a:ln/>
        </p:spPr>
      </p:sp>
      <p:pic>
        <p:nvPicPr>
          <p:cNvPr id="26" name="Image 7" descr="/home/claude/canteen/icons/check.png"/>
          <p:cNvPicPr>
            <a:picLocks noChangeAspect="1"/>
          </p:cNvPicPr>
          <p:nvPr/>
        </p:nvPicPr>
        <p:blipFill>
          <a:blip r:embed="rId4"/>
          <a:stretch>
            <a:fillRect/>
          </a:stretch>
        </p:blipFill>
        <p:spPr>
          <a:xfrm>
            <a:off x="6682069" y="2658709"/>
            <a:ext cx="223845" cy="223845"/>
          </a:xfrm>
          <a:prstGeom prst="rect">
            <a:avLst/>
          </a:prstGeom>
        </p:spPr>
      </p:pic>
      <p:sp>
        <p:nvSpPr>
          <p:cNvPr id="27" name="Text 17"/>
          <p:cNvSpPr/>
          <p:nvPr/>
        </p:nvSpPr>
        <p:spPr>
          <a:xfrm>
            <a:off x="7086600" y="2560320"/>
            <a:ext cx="4206240" cy="502920"/>
          </a:xfrm>
          <a:prstGeom prst="rect">
            <a:avLst/>
          </a:prstGeom>
          <a:noFill/>
          <a:ln/>
        </p:spPr>
        <p:txBody>
          <a:bodyPr wrap="square" lIns="0" tIns="0" rIns="0" bIns="0" rtlCol="0" anchor="ctr"/>
          <a:lstStyle/>
          <a:p>
            <a:pPr marL="0" indent="0">
              <a:buNone/>
            </a:pPr>
            <a:r>
              <a:rPr lang="en-US" sz="1300" dirty="0">
                <a:solidFill>
                  <a:srgbClr val="20303A"/>
                </a:solidFill>
                <a:latin typeface="Calibri" pitchFamily="34" charset="0"/>
                <a:ea typeface="Calibri" pitchFamily="34" charset="-122"/>
                <a:cs typeface="Calibri" pitchFamily="34" charset="-120"/>
              </a:rPr>
              <a:t>Faster, more convenient food ordering</a:t>
            </a:r>
            <a:endParaRPr lang="en-US" sz="1300" dirty="0"/>
          </a:p>
        </p:txBody>
      </p:sp>
      <p:sp>
        <p:nvSpPr>
          <p:cNvPr id="28" name="Shape 18"/>
          <p:cNvSpPr/>
          <p:nvPr/>
        </p:nvSpPr>
        <p:spPr>
          <a:xfrm>
            <a:off x="6629400" y="3227832"/>
            <a:ext cx="329184" cy="329184"/>
          </a:xfrm>
          <a:prstGeom prst="ellipse">
            <a:avLst/>
          </a:prstGeom>
          <a:solidFill>
            <a:srgbClr val="E2823D"/>
          </a:solidFill>
          <a:ln/>
        </p:spPr>
      </p:sp>
      <p:pic>
        <p:nvPicPr>
          <p:cNvPr id="29" name="Image 8" descr="/home/claude/canteen/icons/check.png"/>
          <p:cNvPicPr>
            <a:picLocks noChangeAspect="1"/>
          </p:cNvPicPr>
          <p:nvPr/>
        </p:nvPicPr>
        <p:blipFill>
          <a:blip r:embed="rId4"/>
          <a:stretch>
            <a:fillRect/>
          </a:stretch>
        </p:blipFill>
        <p:spPr>
          <a:xfrm>
            <a:off x="6682069" y="3280501"/>
            <a:ext cx="223845" cy="223845"/>
          </a:xfrm>
          <a:prstGeom prst="rect">
            <a:avLst/>
          </a:prstGeom>
        </p:spPr>
      </p:pic>
      <p:sp>
        <p:nvSpPr>
          <p:cNvPr id="30" name="Text 19"/>
          <p:cNvSpPr/>
          <p:nvPr/>
        </p:nvSpPr>
        <p:spPr>
          <a:xfrm>
            <a:off x="7086600" y="3182112"/>
            <a:ext cx="4206240" cy="502920"/>
          </a:xfrm>
          <a:prstGeom prst="rect">
            <a:avLst/>
          </a:prstGeom>
          <a:noFill/>
          <a:ln/>
        </p:spPr>
        <p:txBody>
          <a:bodyPr wrap="square" lIns="0" tIns="0" rIns="0" bIns="0" rtlCol="0" anchor="ctr"/>
          <a:lstStyle/>
          <a:p>
            <a:pPr marL="0" indent="0">
              <a:buNone/>
            </a:pPr>
            <a:r>
              <a:rPr lang="en-US" sz="1300" dirty="0">
                <a:solidFill>
                  <a:srgbClr val="20303A"/>
                </a:solidFill>
                <a:latin typeface="Calibri" pitchFamily="34" charset="0"/>
                <a:ea typeface="Calibri" pitchFamily="34" charset="-122"/>
                <a:cs typeface="Calibri" pitchFamily="34" charset="-120"/>
              </a:rPr>
              <a:t>Reduced manual errors and paperwork</a:t>
            </a:r>
            <a:endParaRPr lang="en-US" sz="1300" dirty="0"/>
          </a:p>
        </p:txBody>
      </p:sp>
      <p:sp>
        <p:nvSpPr>
          <p:cNvPr id="31" name="Shape 20"/>
          <p:cNvSpPr/>
          <p:nvPr/>
        </p:nvSpPr>
        <p:spPr>
          <a:xfrm>
            <a:off x="6629400" y="3849624"/>
            <a:ext cx="329184" cy="329184"/>
          </a:xfrm>
          <a:prstGeom prst="ellipse">
            <a:avLst/>
          </a:prstGeom>
          <a:solidFill>
            <a:srgbClr val="E2823D"/>
          </a:solidFill>
          <a:ln/>
        </p:spPr>
      </p:sp>
      <p:pic>
        <p:nvPicPr>
          <p:cNvPr id="32" name="Image 9" descr="/home/claude/canteen/icons/check.png"/>
          <p:cNvPicPr>
            <a:picLocks noChangeAspect="1"/>
          </p:cNvPicPr>
          <p:nvPr/>
        </p:nvPicPr>
        <p:blipFill>
          <a:blip r:embed="rId4"/>
          <a:stretch>
            <a:fillRect/>
          </a:stretch>
        </p:blipFill>
        <p:spPr>
          <a:xfrm>
            <a:off x="6682069" y="3902293"/>
            <a:ext cx="223845" cy="223845"/>
          </a:xfrm>
          <a:prstGeom prst="rect">
            <a:avLst/>
          </a:prstGeom>
        </p:spPr>
      </p:pic>
      <p:sp>
        <p:nvSpPr>
          <p:cNvPr id="33" name="Text 21"/>
          <p:cNvSpPr/>
          <p:nvPr/>
        </p:nvSpPr>
        <p:spPr>
          <a:xfrm>
            <a:off x="7086600" y="3803904"/>
            <a:ext cx="4206240" cy="502920"/>
          </a:xfrm>
          <a:prstGeom prst="rect">
            <a:avLst/>
          </a:prstGeom>
          <a:noFill/>
          <a:ln/>
        </p:spPr>
        <p:txBody>
          <a:bodyPr wrap="square" lIns="0" tIns="0" rIns="0" bIns="0" rtlCol="0" anchor="ctr"/>
          <a:lstStyle/>
          <a:p>
            <a:pPr marL="0" indent="0">
              <a:buNone/>
            </a:pPr>
            <a:r>
              <a:rPr lang="en-US" sz="1300" dirty="0">
                <a:solidFill>
                  <a:srgbClr val="20303A"/>
                </a:solidFill>
                <a:latin typeface="Calibri" pitchFamily="34" charset="0"/>
                <a:ea typeface="Calibri" pitchFamily="34" charset="-122"/>
                <a:cs typeface="Calibri" pitchFamily="34" charset="-120"/>
              </a:rPr>
              <a:t>Better user experience for students &amp; staff</a:t>
            </a:r>
            <a:endParaRPr lang="en-US" sz="1300" dirty="0"/>
          </a:p>
        </p:txBody>
      </p:sp>
      <p:sp>
        <p:nvSpPr>
          <p:cNvPr id="34" name="Shape 22"/>
          <p:cNvSpPr/>
          <p:nvPr/>
        </p:nvSpPr>
        <p:spPr>
          <a:xfrm>
            <a:off x="6629400" y="4471416"/>
            <a:ext cx="329184" cy="329184"/>
          </a:xfrm>
          <a:prstGeom prst="ellipse">
            <a:avLst/>
          </a:prstGeom>
          <a:solidFill>
            <a:srgbClr val="E2823D"/>
          </a:solidFill>
          <a:ln/>
        </p:spPr>
      </p:sp>
      <p:pic>
        <p:nvPicPr>
          <p:cNvPr id="35" name="Image 10" descr="/home/claude/canteen/icons/check.png"/>
          <p:cNvPicPr>
            <a:picLocks noChangeAspect="1"/>
          </p:cNvPicPr>
          <p:nvPr/>
        </p:nvPicPr>
        <p:blipFill>
          <a:blip r:embed="rId4"/>
          <a:stretch>
            <a:fillRect/>
          </a:stretch>
        </p:blipFill>
        <p:spPr>
          <a:xfrm>
            <a:off x="6682069" y="4524085"/>
            <a:ext cx="223845" cy="223845"/>
          </a:xfrm>
          <a:prstGeom prst="rect">
            <a:avLst/>
          </a:prstGeom>
        </p:spPr>
      </p:pic>
      <p:sp>
        <p:nvSpPr>
          <p:cNvPr id="36" name="Text 23"/>
          <p:cNvSpPr/>
          <p:nvPr/>
        </p:nvSpPr>
        <p:spPr>
          <a:xfrm>
            <a:off x="7086600" y="4425696"/>
            <a:ext cx="4206240" cy="502920"/>
          </a:xfrm>
          <a:prstGeom prst="rect">
            <a:avLst/>
          </a:prstGeom>
          <a:noFill/>
          <a:ln/>
        </p:spPr>
        <p:txBody>
          <a:bodyPr wrap="square" lIns="0" tIns="0" rIns="0" bIns="0" rtlCol="0" anchor="ctr"/>
          <a:lstStyle/>
          <a:p>
            <a:pPr marL="0" indent="0">
              <a:buNone/>
            </a:pPr>
            <a:r>
              <a:rPr lang="en-US" sz="1300" dirty="0">
                <a:solidFill>
                  <a:srgbClr val="20303A"/>
                </a:solidFill>
                <a:latin typeface="Calibri" pitchFamily="34" charset="0"/>
                <a:ea typeface="Calibri" pitchFamily="34" charset="-122"/>
                <a:cs typeface="Calibri" pitchFamily="34" charset="-120"/>
              </a:rPr>
              <a:t>Efficient administration via central dashboard</a:t>
            </a:r>
            <a:endParaRPr lang="en-US" sz="1300" dirty="0"/>
          </a:p>
        </p:txBody>
      </p:sp>
      <p:sp>
        <p:nvSpPr>
          <p:cNvPr id="37" name="Text 24"/>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38" name="Text 25"/>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bolt.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502920"/>
            <a:ext cx="10058400" cy="54864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Conclusion and Future Scope</a:t>
            </a:r>
            <a:endParaRPr lang="en-US" sz="3000" dirty="0"/>
          </a:p>
        </p:txBody>
      </p:sp>
      <p:sp>
        <p:nvSpPr>
          <p:cNvPr id="5" name="Shape 2"/>
          <p:cNvSpPr/>
          <p:nvPr/>
        </p:nvSpPr>
        <p:spPr>
          <a:xfrm>
            <a:off x="548640" y="1463040"/>
            <a:ext cx="5349240" cy="4572000"/>
          </a:xfrm>
          <a:prstGeom prst="roundRect">
            <a:avLst>
              <a:gd name="adj" fmla="val 1600"/>
            </a:avLst>
          </a:prstGeom>
          <a:solidFill>
            <a:srgbClr val="1B3A4B"/>
          </a:solidFill>
          <a:ln/>
          <a:effectLst>
            <a:outerShdw blurRad="88900" dist="25400" dir="5400000" algn="bl" rotWithShape="0">
              <a:srgbClr val="1B3A4B">
                <a:alpha val="14000"/>
              </a:srgbClr>
            </a:outerShdw>
          </a:effectLst>
        </p:spPr>
      </p:sp>
      <p:sp>
        <p:nvSpPr>
          <p:cNvPr id="6" name="Shape 3"/>
          <p:cNvSpPr/>
          <p:nvPr/>
        </p:nvSpPr>
        <p:spPr>
          <a:xfrm>
            <a:off x="868680" y="1737360"/>
            <a:ext cx="502920" cy="502920"/>
          </a:xfrm>
          <a:prstGeom prst="ellipse">
            <a:avLst/>
          </a:prstGeom>
          <a:solidFill>
            <a:srgbClr val="E2823D"/>
          </a:solidFill>
          <a:ln/>
        </p:spPr>
      </p:sp>
      <p:pic>
        <p:nvPicPr>
          <p:cNvPr id="7" name="Image 1" descr="/home/claude/canteen/icons/check.png"/>
          <p:cNvPicPr>
            <a:picLocks noChangeAspect="1"/>
          </p:cNvPicPr>
          <p:nvPr/>
        </p:nvPicPr>
        <p:blipFill>
          <a:blip r:embed="rId4"/>
          <a:stretch>
            <a:fillRect/>
          </a:stretch>
        </p:blipFill>
        <p:spPr>
          <a:xfrm>
            <a:off x="949147" y="1817827"/>
            <a:ext cx="341986" cy="341986"/>
          </a:xfrm>
          <a:prstGeom prst="rect">
            <a:avLst/>
          </a:prstGeom>
        </p:spPr>
      </p:pic>
      <p:sp>
        <p:nvSpPr>
          <p:cNvPr id="8" name="Text 4"/>
          <p:cNvSpPr/>
          <p:nvPr/>
        </p:nvSpPr>
        <p:spPr>
          <a:xfrm>
            <a:off x="1508760" y="1737360"/>
            <a:ext cx="4206240" cy="50292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Conclusion</a:t>
            </a:r>
            <a:endParaRPr lang="en-US" sz="1800" dirty="0"/>
          </a:p>
        </p:txBody>
      </p:sp>
      <p:sp>
        <p:nvSpPr>
          <p:cNvPr id="9" name="Text 5"/>
          <p:cNvSpPr/>
          <p:nvPr/>
        </p:nvSpPr>
        <p:spPr>
          <a:xfrm>
            <a:off x="868680" y="2377440"/>
            <a:ext cx="4709160" cy="3474720"/>
          </a:xfrm>
          <a:prstGeom prst="rect">
            <a:avLst/>
          </a:prstGeom>
          <a:noFill/>
          <a:ln/>
        </p:spPr>
        <p:txBody>
          <a:bodyPr wrap="square" lIns="0" tIns="0" rIns="0" bIns="0" rtlCol="0" anchor="t"/>
          <a:lstStyle/>
          <a:p>
            <a:pPr marL="0" indent="0">
              <a:lnSpc>
                <a:spcPct val="135000"/>
              </a:lnSpc>
              <a:buNone/>
            </a:pPr>
            <a:r>
              <a:rPr lang="en-US" sz="1350" dirty="0">
                <a:solidFill>
                  <a:srgbClr val="D7E2E6"/>
                </a:solidFill>
                <a:latin typeface="Calibri" pitchFamily="34" charset="0"/>
                <a:ea typeface="Calibri" pitchFamily="34" charset="-122"/>
                <a:cs typeface="Calibri" pitchFamily="34" charset="-120"/>
              </a:rPr>
              <a:t>The College Canteen Token System simplifies food ordering and token management through a digital platform. It reduces waiting time, improves order processing, and enhances the overall canteen experience for students and staff — a faster, more organized, and efficient approach to canteen management.</a:t>
            </a:r>
            <a:endParaRPr lang="en-US" sz="1350" dirty="0"/>
          </a:p>
        </p:txBody>
      </p:sp>
      <p:sp>
        <p:nvSpPr>
          <p:cNvPr id="10" name="Text 6"/>
          <p:cNvSpPr/>
          <p:nvPr/>
        </p:nvSpPr>
        <p:spPr>
          <a:xfrm>
            <a:off x="6263640" y="1417320"/>
            <a:ext cx="5029200" cy="274320"/>
          </a:xfrm>
          <a:prstGeom prst="rect">
            <a:avLst/>
          </a:prstGeom>
          <a:noFill/>
          <a:ln/>
        </p:spPr>
        <p:txBody>
          <a:bodyPr wrap="square" lIns="0" tIns="0" rIns="0" bIns="0" rtlCol="0" anchor="ctr"/>
          <a:lstStyle/>
          <a:p>
            <a:pPr marL="0" indent="0">
              <a:buNone/>
            </a:pPr>
            <a:r>
              <a:rPr lang="en-US" sz="1200" b="1" kern="0" spc="120" dirty="0">
                <a:solidFill>
                  <a:srgbClr val="1B3A4B"/>
                </a:solidFill>
                <a:latin typeface="Calibri" pitchFamily="34" charset="0"/>
                <a:ea typeface="Calibri" pitchFamily="34" charset="-122"/>
                <a:cs typeface="Calibri" pitchFamily="34" charset="-120"/>
              </a:rPr>
              <a:t>FUTURE ENHANCEMENTS</a:t>
            </a:r>
            <a:endParaRPr lang="en-US" sz="1200" dirty="0"/>
          </a:p>
        </p:txBody>
      </p:sp>
      <p:sp>
        <p:nvSpPr>
          <p:cNvPr id="11" name="Shape 7"/>
          <p:cNvSpPr/>
          <p:nvPr/>
        </p:nvSpPr>
        <p:spPr>
          <a:xfrm>
            <a:off x="6263640" y="1783080"/>
            <a:ext cx="2542032" cy="1298448"/>
          </a:xfrm>
          <a:prstGeom prst="roundRect">
            <a:avLst>
              <a:gd name="adj" fmla="val 5634"/>
            </a:avLst>
          </a:prstGeom>
          <a:solidFill>
            <a:srgbClr val="F5F7F8"/>
          </a:solidFill>
          <a:ln/>
          <a:effectLst>
            <a:outerShdw blurRad="88900" dist="25400" dir="5400000" algn="bl" rotWithShape="0">
              <a:srgbClr val="1B3A4B">
                <a:alpha val="14000"/>
              </a:srgbClr>
            </a:outerShdw>
          </a:effectLst>
        </p:spPr>
      </p:sp>
      <p:sp>
        <p:nvSpPr>
          <p:cNvPr id="12" name="Shape 8"/>
          <p:cNvSpPr/>
          <p:nvPr/>
        </p:nvSpPr>
        <p:spPr>
          <a:xfrm>
            <a:off x="6464808" y="1984248"/>
            <a:ext cx="457200" cy="457200"/>
          </a:xfrm>
          <a:prstGeom prst="ellipse">
            <a:avLst/>
          </a:prstGeom>
          <a:solidFill>
            <a:srgbClr val="E2823D"/>
          </a:solidFill>
          <a:ln/>
        </p:spPr>
      </p:sp>
      <p:pic>
        <p:nvPicPr>
          <p:cNvPr id="13" name="Image 2" descr="/home/claude/canteen/icons/receipt.png"/>
          <p:cNvPicPr>
            <a:picLocks noChangeAspect="1"/>
          </p:cNvPicPr>
          <p:nvPr/>
        </p:nvPicPr>
        <p:blipFill>
          <a:blip r:embed="rId5"/>
          <a:stretch>
            <a:fillRect/>
          </a:stretch>
        </p:blipFill>
        <p:spPr>
          <a:xfrm>
            <a:off x="6537960" y="2057400"/>
            <a:ext cx="310896" cy="310896"/>
          </a:xfrm>
          <a:prstGeom prst="rect">
            <a:avLst/>
          </a:prstGeom>
        </p:spPr>
      </p:pic>
      <p:sp>
        <p:nvSpPr>
          <p:cNvPr id="14" name="Text 9"/>
          <p:cNvSpPr/>
          <p:nvPr/>
        </p:nvSpPr>
        <p:spPr>
          <a:xfrm>
            <a:off x="6464808" y="2532888"/>
            <a:ext cx="2139696" cy="457200"/>
          </a:xfrm>
          <a:prstGeom prst="rect">
            <a:avLst/>
          </a:prstGeom>
          <a:noFill/>
          <a:ln/>
        </p:spPr>
        <p:txBody>
          <a:bodyPr wrap="square" lIns="0" tIns="0" rIns="0" bIns="0" rtlCol="0" anchor="t"/>
          <a:lstStyle/>
          <a:p>
            <a:pPr marL="0" indent="0">
              <a:lnSpc>
                <a:spcPct val="110000"/>
              </a:lnSpc>
              <a:buNone/>
            </a:pPr>
            <a:r>
              <a:rPr lang="en-US" sz="1150" dirty="0">
                <a:solidFill>
                  <a:srgbClr val="20303A"/>
                </a:solidFill>
                <a:latin typeface="Calibri" pitchFamily="34" charset="0"/>
                <a:ea typeface="Calibri" pitchFamily="34" charset="-122"/>
                <a:cs typeface="Calibri" pitchFamily="34" charset="-120"/>
              </a:rPr>
              <a:t>Online payment gateway integration</a:t>
            </a:r>
            <a:endParaRPr lang="en-US" sz="1150" dirty="0"/>
          </a:p>
        </p:txBody>
      </p:sp>
      <p:sp>
        <p:nvSpPr>
          <p:cNvPr id="15" name="Shape 10"/>
          <p:cNvSpPr/>
          <p:nvPr/>
        </p:nvSpPr>
        <p:spPr>
          <a:xfrm>
            <a:off x="8988552" y="1783080"/>
            <a:ext cx="2542032" cy="1298448"/>
          </a:xfrm>
          <a:prstGeom prst="roundRect">
            <a:avLst>
              <a:gd name="adj" fmla="val 5634"/>
            </a:avLst>
          </a:prstGeom>
          <a:solidFill>
            <a:srgbClr val="F5F7F8"/>
          </a:solidFill>
          <a:ln/>
          <a:effectLst>
            <a:outerShdw blurRad="88900" dist="25400" dir="5400000" algn="bl" rotWithShape="0">
              <a:srgbClr val="1B3A4B">
                <a:alpha val="14000"/>
              </a:srgbClr>
            </a:outerShdw>
          </a:effectLst>
        </p:spPr>
      </p:sp>
      <p:sp>
        <p:nvSpPr>
          <p:cNvPr id="16" name="Shape 11"/>
          <p:cNvSpPr/>
          <p:nvPr/>
        </p:nvSpPr>
        <p:spPr>
          <a:xfrm>
            <a:off x="9189720" y="1984248"/>
            <a:ext cx="457200" cy="457200"/>
          </a:xfrm>
          <a:prstGeom prst="ellipse">
            <a:avLst/>
          </a:prstGeom>
          <a:solidFill>
            <a:srgbClr val="E2823D"/>
          </a:solidFill>
          <a:ln/>
        </p:spPr>
      </p:sp>
      <p:pic>
        <p:nvPicPr>
          <p:cNvPr id="17" name="Image 3" descr="/home/claude/canteen/icons/mobile.png"/>
          <p:cNvPicPr>
            <a:picLocks noChangeAspect="1"/>
          </p:cNvPicPr>
          <p:nvPr/>
        </p:nvPicPr>
        <p:blipFill>
          <a:blip r:embed="rId6"/>
          <a:stretch>
            <a:fillRect/>
          </a:stretch>
        </p:blipFill>
        <p:spPr>
          <a:xfrm>
            <a:off x="9262872" y="2057400"/>
            <a:ext cx="310896" cy="310896"/>
          </a:xfrm>
          <a:prstGeom prst="rect">
            <a:avLst/>
          </a:prstGeom>
        </p:spPr>
      </p:pic>
      <p:sp>
        <p:nvSpPr>
          <p:cNvPr id="18" name="Text 12"/>
          <p:cNvSpPr/>
          <p:nvPr/>
        </p:nvSpPr>
        <p:spPr>
          <a:xfrm>
            <a:off x="9189720" y="2532888"/>
            <a:ext cx="2139696" cy="457200"/>
          </a:xfrm>
          <a:prstGeom prst="rect">
            <a:avLst/>
          </a:prstGeom>
          <a:noFill/>
          <a:ln/>
        </p:spPr>
        <p:txBody>
          <a:bodyPr wrap="square" lIns="0" tIns="0" rIns="0" bIns="0" rtlCol="0" anchor="t"/>
          <a:lstStyle/>
          <a:p>
            <a:pPr marL="0" indent="0">
              <a:lnSpc>
                <a:spcPct val="110000"/>
              </a:lnSpc>
              <a:buNone/>
            </a:pPr>
            <a:r>
              <a:rPr lang="en-US" sz="1150" dirty="0">
                <a:solidFill>
                  <a:srgbClr val="20303A"/>
                </a:solidFill>
                <a:latin typeface="Calibri" pitchFamily="34" charset="0"/>
                <a:ea typeface="Calibri" pitchFamily="34" charset="-122"/>
                <a:cs typeface="Calibri" pitchFamily="34" charset="-120"/>
              </a:rPr>
              <a:t>Mobile application development</a:t>
            </a:r>
            <a:endParaRPr lang="en-US" sz="1150" dirty="0"/>
          </a:p>
        </p:txBody>
      </p:sp>
      <p:sp>
        <p:nvSpPr>
          <p:cNvPr id="19" name="Shape 13"/>
          <p:cNvSpPr/>
          <p:nvPr/>
        </p:nvSpPr>
        <p:spPr>
          <a:xfrm>
            <a:off x="6263640" y="3246120"/>
            <a:ext cx="2542032" cy="1298448"/>
          </a:xfrm>
          <a:prstGeom prst="roundRect">
            <a:avLst>
              <a:gd name="adj" fmla="val 5634"/>
            </a:avLst>
          </a:prstGeom>
          <a:solidFill>
            <a:srgbClr val="F5F7F8"/>
          </a:solidFill>
          <a:ln/>
          <a:effectLst>
            <a:outerShdw blurRad="88900" dist="25400" dir="5400000" algn="bl" rotWithShape="0">
              <a:srgbClr val="1B3A4B">
                <a:alpha val="14000"/>
              </a:srgbClr>
            </a:outerShdw>
          </a:effectLst>
        </p:spPr>
      </p:sp>
      <p:sp>
        <p:nvSpPr>
          <p:cNvPr id="20" name="Shape 14"/>
          <p:cNvSpPr/>
          <p:nvPr/>
        </p:nvSpPr>
        <p:spPr>
          <a:xfrm>
            <a:off x="6464808" y="3447288"/>
            <a:ext cx="457200" cy="457200"/>
          </a:xfrm>
          <a:prstGeom prst="ellipse">
            <a:avLst/>
          </a:prstGeom>
          <a:solidFill>
            <a:srgbClr val="E2823D"/>
          </a:solidFill>
          <a:ln/>
        </p:spPr>
      </p:sp>
      <p:pic>
        <p:nvPicPr>
          <p:cNvPr id="21" name="Image 4" descr="/home/claude/canteen/icons/lightbulb.png"/>
          <p:cNvPicPr>
            <a:picLocks noChangeAspect="1"/>
          </p:cNvPicPr>
          <p:nvPr/>
        </p:nvPicPr>
        <p:blipFill>
          <a:blip r:embed="rId7"/>
          <a:stretch>
            <a:fillRect/>
          </a:stretch>
        </p:blipFill>
        <p:spPr>
          <a:xfrm>
            <a:off x="6537960" y="3520440"/>
            <a:ext cx="310896" cy="310896"/>
          </a:xfrm>
          <a:prstGeom prst="rect">
            <a:avLst/>
          </a:prstGeom>
        </p:spPr>
      </p:pic>
      <p:sp>
        <p:nvSpPr>
          <p:cNvPr id="22" name="Text 15"/>
          <p:cNvSpPr/>
          <p:nvPr/>
        </p:nvSpPr>
        <p:spPr>
          <a:xfrm>
            <a:off x="6464808" y="3995928"/>
            <a:ext cx="2139696" cy="457200"/>
          </a:xfrm>
          <a:prstGeom prst="rect">
            <a:avLst/>
          </a:prstGeom>
          <a:noFill/>
          <a:ln/>
        </p:spPr>
        <p:txBody>
          <a:bodyPr wrap="square" lIns="0" tIns="0" rIns="0" bIns="0" rtlCol="0" anchor="t"/>
          <a:lstStyle/>
          <a:p>
            <a:pPr marL="0" indent="0">
              <a:lnSpc>
                <a:spcPct val="110000"/>
              </a:lnSpc>
              <a:buNone/>
            </a:pPr>
            <a:r>
              <a:rPr lang="en-US" sz="1150" dirty="0">
                <a:solidFill>
                  <a:srgbClr val="20303A"/>
                </a:solidFill>
                <a:latin typeface="Calibri" pitchFamily="34" charset="0"/>
                <a:ea typeface="Calibri" pitchFamily="34" charset="-122"/>
                <a:cs typeface="Calibri" pitchFamily="34" charset="-120"/>
              </a:rPr>
              <a:t>AI-based food recommendations</a:t>
            </a:r>
            <a:endParaRPr lang="en-US" sz="1150" dirty="0"/>
          </a:p>
        </p:txBody>
      </p:sp>
      <p:sp>
        <p:nvSpPr>
          <p:cNvPr id="23" name="Shape 16"/>
          <p:cNvSpPr/>
          <p:nvPr/>
        </p:nvSpPr>
        <p:spPr>
          <a:xfrm>
            <a:off x="8988552" y="3246120"/>
            <a:ext cx="2542032" cy="1298448"/>
          </a:xfrm>
          <a:prstGeom prst="roundRect">
            <a:avLst>
              <a:gd name="adj" fmla="val 5634"/>
            </a:avLst>
          </a:prstGeom>
          <a:solidFill>
            <a:srgbClr val="F5F7F8"/>
          </a:solidFill>
          <a:ln/>
          <a:effectLst>
            <a:outerShdw blurRad="88900" dist="25400" dir="5400000" algn="bl" rotWithShape="0">
              <a:srgbClr val="1B3A4B">
                <a:alpha val="14000"/>
              </a:srgbClr>
            </a:outerShdw>
          </a:effectLst>
        </p:spPr>
      </p:sp>
      <p:sp>
        <p:nvSpPr>
          <p:cNvPr id="24" name="Shape 17"/>
          <p:cNvSpPr/>
          <p:nvPr/>
        </p:nvSpPr>
        <p:spPr>
          <a:xfrm>
            <a:off x="9189720" y="3447288"/>
            <a:ext cx="457200" cy="457200"/>
          </a:xfrm>
          <a:prstGeom prst="ellipse">
            <a:avLst/>
          </a:prstGeom>
          <a:solidFill>
            <a:srgbClr val="E2823D"/>
          </a:solidFill>
          <a:ln/>
        </p:spPr>
      </p:sp>
      <p:pic>
        <p:nvPicPr>
          <p:cNvPr id="25" name="Image 5" descr="/home/claude/canteen/icons/route.png"/>
          <p:cNvPicPr>
            <a:picLocks noChangeAspect="1"/>
          </p:cNvPicPr>
          <p:nvPr/>
        </p:nvPicPr>
        <p:blipFill>
          <a:blip r:embed="rId8"/>
          <a:stretch>
            <a:fillRect/>
          </a:stretch>
        </p:blipFill>
        <p:spPr>
          <a:xfrm>
            <a:off x="9262872" y="3520440"/>
            <a:ext cx="310896" cy="310896"/>
          </a:xfrm>
          <a:prstGeom prst="rect">
            <a:avLst/>
          </a:prstGeom>
        </p:spPr>
      </p:pic>
      <p:sp>
        <p:nvSpPr>
          <p:cNvPr id="26" name="Text 18"/>
          <p:cNvSpPr/>
          <p:nvPr/>
        </p:nvSpPr>
        <p:spPr>
          <a:xfrm>
            <a:off x="9189720" y="3995928"/>
            <a:ext cx="2139696" cy="457200"/>
          </a:xfrm>
          <a:prstGeom prst="rect">
            <a:avLst/>
          </a:prstGeom>
          <a:noFill/>
          <a:ln/>
        </p:spPr>
        <p:txBody>
          <a:bodyPr wrap="square" lIns="0" tIns="0" rIns="0" bIns="0" rtlCol="0" anchor="t"/>
          <a:lstStyle/>
          <a:p>
            <a:pPr marL="0" indent="0">
              <a:lnSpc>
                <a:spcPct val="110000"/>
              </a:lnSpc>
              <a:buNone/>
            </a:pPr>
            <a:r>
              <a:rPr lang="en-US" sz="1150" dirty="0">
                <a:solidFill>
                  <a:srgbClr val="20303A"/>
                </a:solidFill>
                <a:latin typeface="Calibri" pitchFamily="34" charset="0"/>
                <a:ea typeface="Calibri" pitchFamily="34" charset="-122"/>
                <a:cs typeface="Calibri" pitchFamily="34" charset="-120"/>
              </a:rPr>
              <a:t>Live order tracking</a:t>
            </a:r>
            <a:endParaRPr lang="en-US" sz="1150" dirty="0"/>
          </a:p>
        </p:txBody>
      </p:sp>
      <p:sp>
        <p:nvSpPr>
          <p:cNvPr id="27" name="Shape 19"/>
          <p:cNvSpPr/>
          <p:nvPr/>
        </p:nvSpPr>
        <p:spPr>
          <a:xfrm>
            <a:off x="6263640" y="4709160"/>
            <a:ext cx="2542032" cy="1298448"/>
          </a:xfrm>
          <a:prstGeom prst="roundRect">
            <a:avLst>
              <a:gd name="adj" fmla="val 5634"/>
            </a:avLst>
          </a:prstGeom>
          <a:solidFill>
            <a:srgbClr val="F5F7F8"/>
          </a:solidFill>
          <a:ln/>
          <a:effectLst>
            <a:outerShdw blurRad="88900" dist="25400" dir="5400000" algn="bl" rotWithShape="0">
              <a:srgbClr val="1B3A4B">
                <a:alpha val="14000"/>
              </a:srgbClr>
            </a:outerShdw>
          </a:effectLst>
        </p:spPr>
      </p:sp>
      <p:sp>
        <p:nvSpPr>
          <p:cNvPr id="28" name="Shape 20"/>
          <p:cNvSpPr/>
          <p:nvPr/>
        </p:nvSpPr>
        <p:spPr>
          <a:xfrm>
            <a:off x="6464808" y="4910328"/>
            <a:ext cx="457200" cy="457200"/>
          </a:xfrm>
          <a:prstGeom prst="ellipse">
            <a:avLst/>
          </a:prstGeom>
          <a:solidFill>
            <a:srgbClr val="E2823D"/>
          </a:solidFill>
          <a:ln/>
        </p:spPr>
      </p:sp>
      <p:pic>
        <p:nvPicPr>
          <p:cNvPr id="29" name="Image 6" descr="/home/claude/canteen/icons/users.png"/>
          <p:cNvPicPr>
            <a:picLocks noChangeAspect="1"/>
          </p:cNvPicPr>
          <p:nvPr/>
        </p:nvPicPr>
        <p:blipFill>
          <a:blip r:embed="rId9"/>
          <a:stretch>
            <a:fillRect/>
          </a:stretch>
        </p:blipFill>
        <p:spPr>
          <a:xfrm>
            <a:off x="6537960" y="4983480"/>
            <a:ext cx="310896" cy="310896"/>
          </a:xfrm>
          <a:prstGeom prst="rect">
            <a:avLst/>
          </a:prstGeom>
        </p:spPr>
      </p:pic>
      <p:sp>
        <p:nvSpPr>
          <p:cNvPr id="30" name="Text 21"/>
          <p:cNvSpPr/>
          <p:nvPr/>
        </p:nvSpPr>
        <p:spPr>
          <a:xfrm>
            <a:off x="6464808" y="5458968"/>
            <a:ext cx="2139696" cy="457200"/>
          </a:xfrm>
          <a:prstGeom prst="rect">
            <a:avLst/>
          </a:prstGeom>
          <a:noFill/>
          <a:ln/>
        </p:spPr>
        <p:txBody>
          <a:bodyPr wrap="square" lIns="0" tIns="0" rIns="0" bIns="0" rtlCol="0" anchor="t"/>
          <a:lstStyle/>
          <a:p>
            <a:pPr marL="0" indent="0">
              <a:lnSpc>
                <a:spcPct val="110000"/>
              </a:lnSpc>
              <a:buNone/>
            </a:pPr>
            <a:r>
              <a:rPr lang="en-US" sz="1150" dirty="0">
                <a:solidFill>
                  <a:srgbClr val="20303A"/>
                </a:solidFill>
                <a:latin typeface="Calibri" pitchFamily="34" charset="0"/>
                <a:ea typeface="Calibri" pitchFamily="34" charset="-122"/>
                <a:cs typeface="Calibri" pitchFamily="34" charset="-120"/>
              </a:rPr>
              <a:t>Multi-canteen support</a:t>
            </a:r>
            <a:endParaRPr lang="en-US" sz="1150" dirty="0"/>
          </a:p>
        </p:txBody>
      </p:sp>
      <p:sp>
        <p:nvSpPr>
          <p:cNvPr id="31" name="Shape 22"/>
          <p:cNvSpPr/>
          <p:nvPr/>
        </p:nvSpPr>
        <p:spPr>
          <a:xfrm>
            <a:off x="8988552" y="4709160"/>
            <a:ext cx="2542032" cy="1298448"/>
          </a:xfrm>
          <a:prstGeom prst="roundRect">
            <a:avLst>
              <a:gd name="adj" fmla="val 5634"/>
            </a:avLst>
          </a:prstGeom>
          <a:solidFill>
            <a:srgbClr val="F5F7F8"/>
          </a:solidFill>
          <a:ln/>
          <a:effectLst>
            <a:outerShdw blurRad="88900" dist="25400" dir="5400000" algn="bl" rotWithShape="0">
              <a:srgbClr val="1B3A4B">
                <a:alpha val="14000"/>
              </a:srgbClr>
            </a:outerShdw>
          </a:effectLst>
        </p:spPr>
      </p:sp>
      <p:sp>
        <p:nvSpPr>
          <p:cNvPr id="32" name="Shape 23"/>
          <p:cNvSpPr/>
          <p:nvPr/>
        </p:nvSpPr>
        <p:spPr>
          <a:xfrm>
            <a:off x="9189720" y="4910328"/>
            <a:ext cx="457200" cy="457200"/>
          </a:xfrm>
          <a:prstGeom prst="ellipse">
            <a:avLst/>
          </a:prstGeom>
          <a:solidFill>
            <a:srgbClr val="E2823D"/>
          </a:solidFill>
          <a:ln/>
        </p:spPr>
      </p:sp>
      <p:pic>
        <p:nvPicPr>
          <p:cNvPr id="33" name="Image 7" descr="/home/claude/canteen/icons/cloud.png"/>
          <p:cNvPicPr>
            <a:picLocks noChangeAspect="1"/>
          </p:cNvPicPr>
          <p:nvPr/>
        </p:nvPicPr>
        <p:blipFill>
          <a:blip r:embed="rId10"/>
          <a:stretch>
            <a:fillRect/>
          </a:stretch>
        </p:blipFill>
        <p:spPr>
          <a:xfrm>
            <a:off x="9262872" y="4983480"/>
            <a:ext cx="310896" cy="310896"/>
          </a:xfrm>
          <a:prstGeom prst="rect">
            <a:avLst/>
          </a:prstGeom>
        </p:spPr>
      </p:pic>
      <p:sp>
        <p:nvSpPr>
          <p:cNvPr id="34" name="Text 24"/>
          <p:cNvSpPr/>
          <p:nvPr/>
        </p:nvSpPr>
        <p:spPr>
          <a:xfrm>
            <a:off x="9189720" y="5458968"/>
            <a:ext cx="2139696" cy="457200"/>
          </a:xfrm>
          <a:prstGeom prst="rect">
            <a:avLst/>
          </a:prstGeom>
          <a:noFill/>
          <a:ln/>
        </p:spPr>
        <p:txBody>
          <a:bodyPr wrap="square" lIns="0" tIns="0" rIns="0" bIns="0" rtlCol="0" anchor="t"/>
          <a:lstStyle/>
          <a:p>
            <a:pPr marL="0" indent="0">
              <a:lnSpc>
                <a:spcPct val="110000"/>
              </a:lnSpc>
              <a:buNone/>
            </a:pPr>
            <a:r>
              <a:rPr lang="en-US" sz="1150" dirty="0">
                <a:solidFill>
                  <a:srgbClr val="20303A"/>
                </a:solidFill>
                <a:latin typeface="Calibri" pitchFamily="34" charset="0"/>
                <a:ea typeface="Calibri" pitchFamily="34" charset="-122"/>
                <a:cs typeface="Calibri" pitchFamily="34" charset="-120"/>
              </a:rPr>
              <a:t>Cloud-based deployment</a:t>
            </a:r>
            <a:endParaRPr lang="en-US" sz="1150" dirty="0"/>
          </a:p>
        </p:txBody>
      </p:sp>
      <p:sp>
        <p:nvSpPr>
          <p:cNvPr id="35" name="Text 25"/>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36" name="Text 26"/>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3A4B"/>
          </a:solidFill>
          <a:ln/>
        </p:spPr>
      </p:sp>
      <p:pic>
        <p:nvPicPr>
          <p:cNvPr id="3" name="Image 0" descr="/home/claude/canteen/icons/book.png"/>
          <p:cNvPicPr>
            <a:picLocks noChangeAspect="1"/>
          </p:cNvPicPr>
          <p:nvPr/>
        </p:nvPicPr>
        <p:blipFill>
          <a:blip r:embed="rId3"/>
          <a:stretch>
            <a:fillRect/>
          </a:stretch>
        </p:blipFill>
        <p:spPr>
          <a:xfrm>
            <a:off x="639348" y="547908"/>
            <a:ext cx="385511" cy="385511"/>
          </a:xfrm>
          <a:prstGeom prst="rect">
            <a:avLst/>
          </a:prstGeom>
        </p:spPr>
      </p:pic>
      <p:sp>
        <p:nvSpPr>
          <p:cNvPr id="4" name="Text 1"/>
          <p:cNvSpPr/>
          <p:nvPr/>
        </p:nvSpPr>
        <p:spPr>
          <a:xfrm>
            <a:off x="1280160" y="502920"/>
            <a:ext cx="10058400" cy="54864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References</a:t>
            </a:r>
            <a:endParaRPr lang="en-US" sz="3000" dirty="0"/>
          </a:p>
        </p:txBody>
      </p:sp>
      <p:sp>
        <p:nvSpPr>
          <p:cNvPr id="5" name="Shape 2"/>
          <p:cNvSpPr/>
          <p:nvPr/>
        </p:nvSpPr>
        <p:spPr>
          <a:xfrm>
            <a:off x="548640" y="1645920"/>
            <a:ext cx="5349240" cy="914400"/>
          </a:xfrm>
          <a:prstGeom prst="roundRect">
            <a:avLst>
              <a:gd name="adj" fmla="val 8000"/>
            </a:avLst>
          </a:prstGeom>
          <a:solidFill>
            <a:srgbClr val="F5F7F8"/>
          </a:solidFill>
          <a:ln/>
          <a:effectLst>
            <a:outerShdw blurRad="88900" dist="25400" dir="5400000" algn="bl" rotWithShape="0">
              <a:srgbClr val="1B3A4B">
                <a:alpha val="14000"/>
              </a:srgbClr>
            </a:outerShdw>
          </a:effectLst>
        </p:spPr>
      </p:sp>
      <p:sp>
        <p:nvSpPr>
          <p:cNvPr id="6" name="Shape 3"/>
          <p:cNvSpPr/>
          <p:nvPr/>
        </p:nvSpPr>
        <p:spPr>
          <a:xfrm>
            <a:off x="777240" y="1847088"/>
            <a:ext cx="502920" cy="502920"/>
          </a:xfrm>
          <a:prstGeom prst="ellipse">
            <a:avLst/>
          </a:prstGeom>
          <a:solidFill>
            <a:srgbClr val="1B3A4B"/>
          </a:solidFill>
          <a:ln/>
        </p:spPr>
      </p:sp>
      <p:pic>
        <p:nvPicPr>
          <p:cNvPr id="7" name="Image 1" descr="/home/claude/canteen/icons/link.png"/>
          <p:cNvPicPr>
            <a:picLocks noChangeAspect="1"/>
          </p:cNvPicPr>
          <p:nvPr/>
        </p:nvPicPr>
        <p:blipFill>
          <a:blip r:embed="rId4"/>
          <a:stretch>
            <a:fillRect/>
          </a:stretch>
        </p:blipFill>
        <p:spPr>
          <a:xfrm>
            <a:off x="857707" y="1927555"/>
            <a:ext cx="341986" cy="341986"/>
          </a:xfrm>
          <a:prstGeom prst="rect">
            <a:avLst/>
          </a:prstGeom>
        </p:spPr>
      </p:pic>
      <p:sp>
        <p:nvSpPr>
          <p:cNvPr id="8" name="Text 4"/>
          <p:cNvSpPr/>
          <p:nvPr/>
        </p:nvSpPr>
        <p:spPr>
          <a:xfrm>
            <a:off x="1463040" y="1645920"/>
            <a:ext cx="4251960" cy="914400"/>
          </a:xfrm>
          <a:prstGeom prst="rect">
            <a:avLst/>
          </a:prstGeom>
          <a:noFill/>
          <a:ln/>
        </p:spPr>
        <p:txBody>
          <a:bodyPr wrap="square" lIns="0" tIns="0" rIns="0" bIns="0" rtlCol="0" anchor="ctr"/>
          <a:lstStyle/>
          <a:p>
            <a:pPr marL="0" indent="0">
              <a:buNone/>
            </a:pPr>
            <a:r>
              <a:rPr lang="en-US" sz="1450" b="1" dirty="0">
                <a:solidFill>
                  <a:srgbClr val="20303A"/>
                </a:solidFill>
                <a:latin typeface="Calibri" pitchFamily="34" charset="0"/>
                <a:ea typeface="Calibri" pitchFamily="34" charset="-122"/>
                <a:cs typeface="Calibri" pitchFamily="34" charset="-120"/>
              </a:rPr>
              <a:t>React.js Documentation</a:t>
            </a:r>
            <a:endParaRPr lang="en-US" sz="1450" dirty="0"/>
          </a:p>
        </p:txBody>
      </p:sp>
      <p:sp>
        <p:nvSpPr>
          <p:cNvPr id="9" name="Shape 5"/>
          <p:cNvSpPr/>
          <p:nvPr/>
        </p:nvSpPr>
        <p:spPr>
          <a:xfrm>
            <a:off x="6172200" y="1645920"/>
            <a:ext cx="5349240" cy="914400"/>
          </a:xfrm>
          <a:prstGeom prst="roundRect">
            <a:avLst>
              <a:gd name="adj" fmla="val 8000"/>
            </a:avLst>
          </a:prstGeom>
          <a:solidFill>
            <a:srgbClr val="F5F7F8"/>
          </a:solidFill>
          <a:ln/>
          <a:effectLst>
            <a:outerShdw blurRad="88900" dist="25400" dir="5400000" algn="bl" rotWithShape="0">
              <a:srgbClr val="1B3A4B">
                <a:alpha val="14000"/>
              </a:srgbClr>
            </a:outerShdw>
          </a:effectLst>
        </p:spPr>
      </p:sp>
      <p:sp>
        <p:nvSpPr>
          <p:cNvPr id="10" name="Shape 6"/>
          <p:cNvSpPr/>
          <p:nvPr/>
        </p:nvSpPr>
        <p:spPr>
          <a:xfrm>
            <a:off x="6400800" y="1847088"/>
            <a:ext cx="502920" cy="502920"/>
          </a:xfrm>
          <a:prstGeom prst="ellipse">
            <a:avLst/>
          </a:prstGeom>
          <a:solidFill>
            <a:srgbClr val="1B3A4B"/>
          </a:solidFill>
          <a:ln/>
        </p:spPr>
      </p:sp>
      <p:pic>
        <p:nvPicPr>
          <p:cNvPr id="11" name="Image 2" descr="/home/claude/canteen/icons/link.png"/>
          <p:cNvPicPr>
            <a:picLocks noChangeAspect="1"/>
          </p:cNvPicPr>
          <p:nvPr/>
        </p:nvPicPr>
        <p:blipFill>
          <a:blip r:embed="rId4"/>
          <a:stretch>
            <a:fillRect/>
          </a:stretch>
        </p:blipFill>
        <p:spPr>
          <a:xfrm>
            <a:off x="6481267" y="1927555"/>
            <a:ext cx="341986" cy="341986"/>
          </a:xfrm>
          <a:prstGeom prst="rect">
            <a:avLst/>
          </a:prstGeom>
        </p:spPr>
      </p:pic>
      <p:sp>
        <p:nvSpPr>
          <p:cNvPr id="12" name="Text 7"/>
          <p:cNvSpPr/>
          <p:nvPr/>
        </p:nvSpPr>
        <p:spPr>
          <a:xfrm>
            <a:off x="7086600" y="1645920"/>
            <a:ext cx="4251960" cy="914400"/>
          </a:xfrm>
          <a:prstGeom prst="rect">
            <a:avLst/>
          </a:prstGeom>
          <a:noFill/>
          <a:ln/>
        </p:spPr>
        <p:txBody>
          <a:bodyPr wrap="square" lIns="0" tIns="0" rIns="0" bIns="0" rtlCol="0" anchor="ctr"/>
          <a:lstStyle/>
          <a:p>
            <a:pPr marL="0" indent="0">
              <a:buNone/>
            </a:pPr>
            <a:r>
              <a:rPr lang="en-US" sz="1450" b="1" dirty="0">
                <a:solidFill>
                  <a:srgbClr val="20303A"/>
                </a:solidFill>
                <a:latin typeface="Calibri" pitchFamily="34" charset="0"/>
                <a:ea typeface="Calibri" pitchFamily="34" charset="-122"/>
                <a:cs typeface="Calibri" pitchFamily="34" charset="-120"/>
              </a:rPr>
              <a:t>Node.js Documentation</a:t>
            </a:r>
            <a:endParaRPr lang="en-US" sz="1450" dirty="0"/>
          </a:p>
        </p:txBody>
      </p:sp>
      <p:sp>
        <p:nvSpPr>
          <p:cNvPr id="13" name="Shape 8"/>
          <p:cNvSpPr/>
          <p:nvPr/>
        </p:nvSpPr>
        <p:spPr>
          <a:xfrm>
            <a:off x="548640" y="2788920"/>
            <a:ext cx="5349240" cy="914400"/>
          </a:xfrm>
          <a:prstGeom prst="roundRect">
            <a:avLst>
              <a:gd name="adj" fmla="val 8000"/>
            </a:avLst>
          </a:prstGeom>
          <a:solidFill>
            <a:srgbClr val="F5F7F8"/>
          </a:solidFill>
          <a:ln/>
          <a:effectLst>
            <a:outerShdw blurRad="88900" dist="25400" dir="5400000" algn="bl" rotWithShape="0">
              <a:srgbClr val="1B3A4B">
                <a:alpha val="14000"/>
              </a:srgbClr>
            </a:outerShdw>
          </a:effectLst>
        </p:spPr>
      </p:sp>
      <p:sp>
        <p:nvSpPr>
          <p:cNvPr id="14" name="Shape 9"/>
          <p:cNvSpPr/>
          <p:nvPr/>
        </p:nvSpPr>
        <p:spPr>
          <a:xfrm>
            <a:off x="777240" y="2990088"/>
            <a:ext cx="502920" cy="502920"/>
          </a:xfrm>
          <a:prstGeom prst="ellipse">
            <a:avLst/>
          </a:prstGeom>
          <a:solidFill>
            <a:srgbClr val="1B3A4B"/>
          </a:solidFill>
          <a:ln/>
        </p:spPr>
      </p:sp>
      <p:pic>
        <p:nvPicPr>
          <p:cNvPr id="15" name="Image 3" descr="/home/claude/canteen/icons/link.png"/>
          <p:cNvPicPr>
            <a:picLocks noChangeAspect="1"/>
          </p:cNvPicPr>
          <p:nvPr/>
        </p:nvPicPr>
        <p:blipFill>
          <a:blip r:embed="rId4"/>
          <a:stretch>
            <a:fillRect/>
          </a:stretch>
        </p:blipFill>
        <p:spPr>
          <a:xfrm>
            <a:off x="857707" y="3070555"/>
            <a:ext cx="341986" cy="341986"/>
          </a:xfrm>
          <a:prstGeom prst="rect">
            <a:avLst/>
          </a:prstGeom>
        </p:spPr>
      </p:pic>
      <p:sp>
        <p:nvSpPr>
          <p:cNvPr id="16" name="Text 10"/>
          <p:cNvSpPr/>
          <p:nvPr/>
        </p:nvSpPr>
        <p:spPr>
          <a:xfrm>
            <a:off x="1463040" y="2788920"/>
            <a:ext cx="4251960" cy="914400"/>
          </a:xfrm>
          <a:prstGeom prst="rect">
            <a:avLst/>
          </a:prstGeom>
          <a:noFill/>
          <a:ln/>
        </p:spPr>
        <p:txBody>
          <a:bodyPr wrap="square" lIns="0" tIns="0" rIns="0" bIns="0" rtlCol="0" anchor="ctr"/>
          <a:lstStyle/>
          <a:p>
            <a:pPr marL="0" indent="0">
              <a:buNone/>
            </a:pPr>
            <a:r>
              <a:rPr lang="en-US" sz="1450" b="1" dirty="0">
                <a:solidFill>
                  <a:srgbClr val="20303A"/>
                </a:solidFill>
                <a:latin typeface="Calibri" pitchFamily="34" charset="0"/>
                <a:ea typeface="Calibri" pitchFamily="34" charset="-122"/>
                <a:cs typeface="Calibri" pitchFamily="34" charset="-120"/>
              </a:rPr>
              <a:t>Express.js Documentation</a:t>
            </a:r>
            <a:endParaRPr lang="en-US" sz="1450" dirty="0"/>
          </a:p>
        </p:txBody>
      </p:sp>
      <p:sp>
        <p:nvSpPr>
          <p:cNvPr id="20" name="Text 13"/>
          <p:cNvSpPr/>
          <p:nvPr/>
        </p:nvSpPr>
        <p:spPr>
          <a:xfrm>
            <a:off x="7086600" y="2788920"/>
            <a:ext cx="4251960" cy="914400"/>
          </a:xfrm>
          <a:prstGeom prst="rect">
            <a:avLst/>
          </a:prstGeom>
          <a:noFill/>
          <a:ln/>
        </p:spPr>
        <p:txBody>
          <a:bodyPr wrap="square" lIns="0" tIns="0" rIns="0" bIns="0" rtlCol="0" anchor="ctr"/>
          <a:lstStyle/>
          <a:p>
            <a:pPr marL="0" indent="0">
              <a:buNone/>
            </a:pPr>
            <a:endParaRPr lang="en-US" sz="1450" dirty="0"/>
          </a:p>
        </p:txBody>
      </p:sp>
      <p:sp>
        <p:nvSpPr>
          <p:cNvPr id="24" name="Text 16"/>
          <p:cNvSpPr/>
          <p:nvPr/>
        </p:nvSpPr>
        <p:spPr>
          <a:xfrm>
            <a:off x="1463040" y="3931920"/>
            <a:ext cx="4251960" cy="914400"/>
          </a:xfrm>
          <a:prstGeom prst="rect">
            <a:avLst/>
          </a:prstGeom>
          <a:noFill/>
          <a:ln/>
        </p:spPr>
        <p:txBody>
          <a:bodyPr wrap="square" lIns="0" tIns="0" rIns="0" bIns="0" rtlCol="0" anchor="ctr"/>
          <a:lstStyle/>
          <a:p>
            <a:pPr marL="0" indent="0">
              <a:buNone/>
            </a:pPr>
            <a:endParaRPr lang="en-US" sz="1450" dirty="0"/>
          </a:p>
        </p:txBody>
      </p:sp>
      <p:sp>
        <p:nvSpPr>
          <p:cNvPr id="25" name="Text 17"/>
          <p:cNvSpPr/>
          <p:nvPr/>
        </p:nvSpPr>
        <p:spPr>
          <a:xfrm>
            <a:off x="548640" y="6473952"/>
            <a:ext cx="6400800" cy="274320"/>
          </a:xfrm>
          <a:prstGeom prst="rect">
            <a:avLst/>
          </a:prstGeom>
          <a:noFill/>
          <a:ln/>
        </p:spPr>
        <p:txBody>
          <a:bodyPr wrap="square" lIns="0" tIns="0" rIns="0" bIns="0" rtlCol="0" anchor="ctr"/>
          <a:lstStyle/>
          <a:p>
            <a:pPr marL="0" indent="0">
              <a:buNone/>
            </a:pPr>
            <a:r>
              <a:rPr lang="en-US" sz="900" kern="0" spc="100" dirty="0">
                <a:solidFill>
                  <a:srgbClr val="5C6F78"/>
                </a:solidFill>
                <a:latin typeface="Calibri" pitchFamily="34" charset="0"/>
                <a:ea typeface="Calibri" pitchFamily="34" charset="-122"/>
                <a:cs typeface="Calibri" pitchFamily="34" charset="-120"/>
              </a:rPr>
              <a:t>COLLEGE CANTEEN TOKEN SYSTEM</a:t>
            </a:r>
            <a:endParaRPr lang="en-US" sz="900" dirty="0"/>
          </a:p>
        </p:txBody>
      </p:sp>
      <p:sp>
        <p:nvSpPr>
          <p:cNvPr id="26" name="Text 18"/>
          <p:cNvSpPr/>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F7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A36"/>
        </a:solidFill>
        <a:effectLst/>
      </p:bgPr>
    </p:bg>
    <p:spTree>
      <p:nvGrpSpPr>
        <p:cNvPr id="1" name=""/>
        <p:cNvGrpSpPr/>
        <p:nvPr/>
      </p:nvGrpSpPr>
      <p:grpSpPr>
        <a:xfrm>
          <a:off x="0" y="0"/>
          <a:ext cx="0" cy="0"/>
          <a:chOff x="0" y="0"/>
          <a:chExt cx="0" cy="0"/>
        </a:xfrm>
      </p:grpSpPr>
      <p:sp>
        <p:nvSpPr>
          <p:cNvPr id="2" name="Shape 0"/>
          <p:cNvSpPr/>
          <p:nvPr/>
        </p:nvSpPr>
        <p:spPr>
          <a:xfrm>
            <a:off x="-1645920" y="-1828800"/>
            <a:ext cx="5029200" cy="5029200"/>
          </a:xfrm>
          <a:prstGeom prst="ellipse">
            <a:avLst/>
          </a:prstGeom>
          <a:solidFill>
            <a:srgbClr val="E2823D">
              <a:alpha val="12000"/>
            </a:srgbClr>
          </a:solidFill>
          <a:ln/>
        </p:spPr>
      </p:sp>
      <p:sp>
        <p:nvSpPr>
          <p:cNvPr id="3" name="Shape 1"/>
          <p:cNvSpPr/>
          <p:nvPr/>
        </p:nvSpPr>
        <p:spPr>
          <a:xfrm>
            <a:off x="9875520" y="3931920"/>
            <a:ext cx="3840480" cy="3840480"/>
          </a:xfrm>
          <a:prstGeom prst="ellipse">
            <a:avLst/>
          </a:prstGeom>
          <a:solidFill>
            <a:srgbClr val="F2B441">
              <a:alpha val="12000"/>
            </a:srgbClr>
          </a:solidFill>
          <a:ln/>
        </p:spPr>
      </p:sp>
      <p:sp>
        <p:nvSpPr>
          <p:cNvPr id="4" name="Shape 2"/>
          <p:cNvSpPr/>
          <p:nvPr/>
        </p:nvSpPr>
        <p:spPr>
          <a:xfrm>
            <a:off x="5638648" y="1828800"/>
            <a:ext cx="914400" cy="914400"/>
          </a:xfrm>
          <a:prstGeom prst="ellipse">
            <a:avLst/>
          </a:prstGeom>
          <a:solidFill>
            <a:srgbClr val="E2823D"/>
          </a:solidFill>
          <a:ln/>
        </p:spPr>
      </p:sp>
      <p:pic>
        <p:nvPicPr>
          <p:cNvPr id="5" name="Image 0" descr="/home/claude/canteen/icons/ticket.png"/>
          <p:cNvPicPr>
            <a:picLocks noChangeAspect="1"/>
          </p:cNvPicPr>
          <p:nvPr/>
        </p:nvPicPr>
        <p:blipFill>
          <a:blip r:embed="rId3"/>
          <a:stretch>
            <a:fillRect/>
          </a:stretch>
        </p:blipFill>
        <p:spPr>
          <a:xfrm>
            <a:off x="5784952" y="1975104"/>
            <a:ext cx="621792" cy="621792"/>
          </a:xfrm>
          <a:prstGeom prst="rect">
            <a:avLst/>
          </a:prstGeom>
        </p:spPr>
      </p:pic>
      <p:sp>
        <p:nvSpPr>
          <p:cNvPr id="6" name="Text 3"/>
          <p:cNvSpPr/>
          <p:nvPr/>
        </p:nvSpPr>
        <p:spPr>
          <a:xfrm>
            <a:off x="0" y="2926080"/>
            <a:ext cx="12191695"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7" name="Text 4"/>
          <p:cNvSpPr/>
          <p:nvPr/>
        </p:nvSpPr>
        <p:spPr>
          <a:xfrm>
            <a:off x="0" y="3886200"/>
            <a:ext cx="12191695" cy="457200"/>
          </a:xfrm>
          <a:prstGeom prst="rect">
            <a:avLst/>
          </a:prstGeom>
          <a:noFill/>
          <a:ln/>
        </p:spPr>
        <p:txBody>
          <a:bodyPr wrap="square" lIns="0" tIns="0" rIns="0" bIns="0" rtlCol="0" anchor="ctr"/>
          <a:lstStyle/>
          <a:p>
            <a:pPr marL="0" indent="0" algn="ctr">
              <a:buNone/>
            </a:pPr>
            <a:r>
              <a:rPr lang="en-US" sz="1500" i="1" dirty="0">
                <a:solidFill>
                  <a:srgbClr val="C9D6DC"/>
                </a:solidFill>
                <a:latin typeface="Calibri" pitchFamily="34" charset="0"/>
                <a:ea typeface="Calibri" pitchFamily="34" charset="-122"/>
                <a:cs typeface="Calibri" pitchFamily="34" charset="-120"/>
              </a:rPr>
              <a:t>College Canteen Token System  ·  Questions &amp; Discussion</a:t>
            </a:r>
            <a:endParaRPr lang="en-US" sz="1500" dirty="0"/>
          </a:p>
        </p:txBody>
      </p:sp>
      <p:sp>
        <p:nvSpPr>
          <p:cNvPr id="8" name="Text 5"/>
          <p:cNvSpPr/>
          <p:nvPr/>
        </p:nvSpPr>
        <p:spPr>
          <a:xfrm>
            <a:off x="0" y="6035040"/>
            <a:ext cx="12191695" cy="365760"/>
          </a:xfrm>
          <a:prstGeom prst="rect">
            <a:avLst/>
          </a:prstGeom>
          <a:noFill/>
          <a:ln/>
        </p:spPr>
        <p:txBody>
          <a:bodyPr wrap="square" lIns="0" tIns="0" rIns="0" bIns="0" rtlCol="0" anchor="ctr"/>
          <a:lstStyle/>
          <a:p>
            <a:pPr marL="0" indent="0" algn="ctr">
              <a:buNone/>
            </a:pPr>
            <a:r>
              <a:rPr lang="en-US" sz="1200" dirty="0">
                <a:solidFill>
                  <a:srgbClr val="8FA3AB"/>
                </a:solidFill>
                <a:latin typeface="Calibri" pitchFamily="34" charset="0"/>
                <a:ea typeface="Calibri" pitchFamily="34" charset="-122"/>
                <a:cs typeface="Calibri" pitchFamily="34" charset="-120"/>
              </a:rPr>
              <a:t>Dikshita Siripireddy   ·   Harshitha Bollineni   ·   Guide: Dr. Ashok Yemineni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1391</Words>
  <Application>Microsoft Office PowerPoint</Application>
  <PresentationFormat>Widescreen</PresentationFormat>
  <Paragraphs>203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Canteen Token System</dc:title>
  <dc:subject>PptxGenJS Presentation</dc:subject>
  <dc:creator>Dikshita Siripireddy &amp; Harshitha Bollineni</dc:creator>
  <cp:lastModifiedBy>Dikshita Siripireddy</cp:lastModifiedBy>
  <cp:revision>8</cp:revision>
  <dcterms:created xsi:type="dcterms:W3CDTF">2026-06-20T03:19:50Z</dcterms:created>
  <dcterms:modified xsi:type="dcterms:W3CDTF">2026-06-20T03:40:53Z</dcterms:modified>
</cp:coreProperties>
</file>